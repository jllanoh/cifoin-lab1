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2E_354CFDD7.xml" ContentType="application/vnd.ms-powerpoint.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6"/>
  </p:notesMasterIdLst>
  <p:handoutMasterIdLst>
    <p:handoutMasterId r:id="rId17"/>
  </p:handoutMasterIdLst>
  <p:sldIdLst>
    <p:sldId id="256" r:id="rId2"/>
    <p:sldId id="295" r:id="rId3"/>
    <p:sldId id="298" r:id="rId4"/>
    <p:sldId id="299" r:id="rId5"/>
    <p:sldId id="300" r:id="rId6"/>
    <p:sldId id="291" r:id="rId7"/>
    <p:sldId id="292" r:id="rId8"/>
    <p:sldId id="297" r:id="rId9"/>
    <p:sldId id="293" r:id="rId10"/>
    <p:sldId id="301" r:id="rId11"/>
    <p:sldId id="302" r:id="rId12"/>
    <p:sldId id="303" r:id="rId13"/>
    <p:sldId id="304" r:id="rId14"/>
    <p:sldId id="288" r:id="rId1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74DEC91-EE70-822B-0F23-319E662BA817}" name="Javier Llacer Noha" initials="JL" userId="S::JLLANOH@upv.edu.es::201d6fc8-240d-41eb-b5e8-7df2b4e8cd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6D9F66E-5EB9-4882-86FB-DCBF35E3C3E4}" styleName="Estilo medio 4 - Énfasis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033" autoAdjust="0"/>
  </p:normalViewPr>
  <p:slideViewPr>
    <p:cSldViewPr>
      <p:cViewPr varScale="1">
        <p:scale>
          <a:sx n="102" d="100"/>
          <a:sy n="102" d="100"/>
        </p:scale>
        <p:origin x="138" y="29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8/10/relationships/authors" Target="authors.xml"/></Relationships>
</file>

<file path=ppt/comments/modernComment_12E_354CFDD7.xml><?xml version="1.0" encoding="utf-8"?>
<p188:cmLst xmlns:a="http://schemas.openxmlformats.org/drawingml/2006/main" xmlns:r="http://schemas.openxmlformats.org/officeDocument/2006/relationships" xmlns:p188="http://schemas.microsoft.com/office/powerpoint/2018/8/main">
  <p188:cm id="{11B7B04A-F874-4819-87F0-EEA57F61C162}" authorId="{D74DEC91-EE70-822B-0F23-319E662BA817}" created="2026-03-08T17:07:03.207">
    <ac:txMkLst xmlns:ac="http://schemas.microsoft.com/office/drawing/2013/main/command">
      <pc:docMk xmlns:pc="http://schemas.microsoft.com/office/powerpoint/2013/main/command"/>
      <pc:sldMk xmlns:pc="http://schemas.microsoft.com/office/powerpoint/2013/main/command" cId="894238167" sldId="302"/>
      <ac:spMk id="2" creationId="{6A2291EA-A955-D9A9-3AA1-672467A8E219}"/>
      <ac:txMk cp="331" len="9">
        <ac:context len="341" hash="2103900974"/>
      </ac:txMk>
    </ac:txMkLst>
    <p188:pos x="8298889" y="635493"/>
    <p188:txBody>
      <a:bodyPr/>
      <a:lstStyle/>
      <a:p>
        <a:r>
          <a:rPr lang="es-ES"/>
          <a:t>Brujeria en 0.9um</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08/03/2026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08/03/2026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C5B3-0915-7A78-7FAC-C15D96CE165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CDAD810-8C16-5834-5A90-698B9E87F8E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61CC14A-BDC0-B607-9DF0-6DD39DE6952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72BBC2-8BCA-F6E7-CE66-D116438B1EFC}"/>
              </a:ext>
            </a:extLst>
          </p:cNvPr>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361424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D980-1208-E4A8-CCA6-A3A30DB952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B70B63-DB26-3C65-D2DC-37832B149D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344385-6CA9-AAE1-82C4-4CA008C44D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F4093E9-54CF-5F22-CAFB-3FA67D4846B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822486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49BFC-AC4D-984C-19F8-635271A11CA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5DDD09-3D26-A60C-41C3-EEBC7F4CA84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956AC0-CE8C-CFA4-59D3-6C8108D90A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312FED4-2F26-2267-9C84-B1241D8F624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4513775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372A6-6C95-E4D4-BF5C-B643A29942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CA5B3AE-FFEA-66C4-12E9-861082361B6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1FF9E9-532D-BE68-1E4F-4E86497D4B0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24E5AF-CFAF-AABF-8D97-2F2BE50E7C8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0066422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2C07F-E18C-9CA1-2FE6-7E5EB7B80A6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BA0930-6213-7538-A132-6A68027218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38A00DA-25FA-4704-3696-91386D80804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8998A66-5D98-A9ED-6975-5A39135A37B3}"/>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374306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2CC8-05DB-4691-975B-5CB4F6F7222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E0BA263-33B5-7053-6336-32E95591781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C1ACDD5-0C09-CF66-497D-1725738EE0D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9F05E02-6563-E17B-67B8-CBA0BE8A22D0}"/>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0720017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F883C-2214-83DE-A46F-0B4499EEAD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44840D-1C40-39C0-A29B-92A9DEDB14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E00F841-88B5-28D2-B8AD-7572489A856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20CB20-0871-B81E-C209-7CB477169152}"/>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9416259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microsoft.com/office/2018/10/relationships/comments" Target="../comments/modernComment_12E_354CFDD7.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Javier </a:t>
            </a:r>
            <a:r>
              <a:rPr lang="es-ES" spc="165" dirty="0" err="1">
                <a:latin typeface="Arial"/>
                <a:cs typeface="Arial"/>
              </a:rPr>
              <a:t>Llàcer</a:t>
            </a:r>
            <a:r>
              <a:rPr lang="es-ES" spc="165" dirty="0">
                <a:latin typeface="Arial"/>
                <a:cs typeface="Arial"/>
              </a:rPr>
              <a:t> Noha &amp; Miguel Ángel Descalzo Cuevas</a:t>
            </a:r>
          </a:p>
          <a:p>
            <a:pPr marL="12700">
              <a:lnSpc>
                <a:spcPct val="100000"/>
              </a:lnSpc>
              <a:spcBef>
                <a:spcPts val="100"/>
              </a:spcBef>
            </a:pP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5554B-67EA-B6F8-D48B-E89C530E7D1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95021D6-1F41-2F3A-9513-979856223ED9}"/>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#1.1 – Materials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689FD67-3625-76E0-B7F7-D6256B84693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85D4F2-EF90-6BC0-8E40-FBA6EE764B3B}"/>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C1B55A1-A9A5-C391-4071-7EA86EAF64C0}"/>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BEDD745-C961-8871-5B7A-53C72BAFDA1D}"/>
              </a:ext>
            </a:extLst>
          </p:cNvPr>
          <p:cNvSpPr txBox="1"/>
          <p:nvPr/>
        </p:nvSpPr>
        <p:spPr>
          <a:xfrm>
            <a:off x="381000" y="3746858"/>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Las gráficas muestran la variación del índice de refracción (n) en función de la longitud de onda para el silicio (Si), el nitruro de silicio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y el dióxido de silicio (SiO2). En los tres materiales se observa una ligera disminución de n a medida que aumenta la longitud de onda que puede dar lugar a dispersión cromática. Asimismo, se aprecia que cada material presenta un valor de índice de refracción distinto, lo que influye en el confinamiento y la propagación en la guía.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concreto, los materiales Si y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se van a usar como núcleo y el SiO2 como cubierta en esta práctica.</a:t>
            </a:r>
          </a:p>
        </p:txBody>
      </p:sp>
      <p:pic>
        <p:nvPicPr>
          <p:cNvPr id="7" name="Imagen 6" descr="Gráfico, Gráfico de líneas&#10;&#10;El contenido generado por IA puede ser incorrecto.">
            <a:extLst>
              <a:ext uri="{FF2B5EF4-FFF2-40B4-BE49-F238E27FC236}">
                <a16:creationId xmlns:a16="http://schemas.microsoft.com/office/drawing/2014/main" id="{59ADF897-2A4F-7AAC-55FA-E5B2C77E8011}"/>
              </a:ext>
            </a:extLst>
          </p:cNvPr>
          <p:cNvPicPr>
            <a:picLocks noChangeAspect="1"/>
          </p:cNvPicPr>
          <p:nvPr/>
        </p:nvPicPr>
        <p:blipFill>
          <a:blip r:embed="rId5"/>
          <a:stretch>
            <a:fillRect/>
          </a:stretch>
        </p:blipFill>
        <p:spPr>
          <a:xfrm>
            <a:off x="685800" y="926026"/>
            <a:ext cx="3460630" cy="2696210"/>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6664E989-F90C-4CE4-7096-A630A903C6F0}"/>
              </a:ext>
            </a:extLst>
          </p:cNvPr>
          <p:cNvPicPr>
            <a:picLocks noChangeAspect="1"/>
          </p:cNvPicPr>
          <p:nvPr/>
        </p:nvPicPr>
        <p:blipFill>
          <a:blip r:embed="rId6"/>
          <a:stretch>
            <a:fillRect/>
          </a:stretch>
        </p:blipFill>
        <p:spPr>
          <a:xfrm>
            <a:off x="4191000" y="926026"/>
            <a:ext cx="3584566" cy="2745753"/>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B1AA1D81-CF0C-4C1E-D83F-AA4C8C94DDB7}"/>
              </a:ext>
            </a:extLst>
          </p:cNvPr>
          <p:cNvPicPr>
            <a:picLocks noChangeAspect="1"/>
          </p:cNvPicPr>
          <p:nvPr/>
        </p:nvPicPr>
        <p:blipFill>
          <a:blip r:embed="rId7"/>
          <a:stretch>
            <a:fillRect/>
          </a:stretch>
        </p:blipFill>
        <p:spPr>
          <a:xfrm>
            <a:off x="7816849" y="910632"/>
            <a:ext cx="3689351" cy="2788464"/>
          </a:xfrm>
          <a:prstGeom prst="rect">
            <a:avLst/>
          </a:prstGeom>
        </p:spPr>
      </p:pic>
    </p:spTree>
    <p:extLst>
      <p:ext uri="{BB962C8B-B14F-4D97-AF65-F5344CB8AC3E}">
        <p14:creationId xmlns:p14="http://schemas.microsoft.com/office/powerpoint/2010/main" val="1116100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E8FC5-51A5-E519-FF3C-244192A6E3C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08153FC-6804-7F8E-265B-A5B63827D06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#1.2 – Cross - Section</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BAB1CD2-5C6D-6871-F421-A2B3FCDCEC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9F8AA0F-C575-D859-F0AD-B35A5C1F720C}"/>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B57B873-899A-BCBB-27B7-94F0F808235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358B08F-129E-A3BF-C711-7DFBD318626B}"/>
              </a:ext>
            </a:extLst>
          </p:cNvPr>
          <p:cNvSpPr txBox="1"/>
          <p:nvPr/>
        </p:nvSpPr>
        <p:spPr>
          <a:xfrm>
            <a:off x="381000" y="3746858"/>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sección cruzada de las guías Deep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respectivamente.</a:t>
            </a:r>
          </a:p>
          <a:p>
            <a:pPr algn="just"/>
            <a:endParaRPr lang="es-ES" sz="1200" dirty="0">
              <a:latin typeface="Arial" panose="020B0604020202020204" pitchFamily="34" charset="0"/>
              <a:cs typeface="Arial" panose="020B0604020202020204" pitchFamily="34" charset="0"/>
            </a:endParaRPr>
          </a:p>
          <a:p>
            <a:pPr marL="171450" indent="-171450" algn="just">
              <a:buFontTx/>
              <a:buChar char="-"/>
            </a:pPr>
            <a:r>
              <a:rPr lang="es-ES" sz="1200" dirty="0">
                <a:latin typeface="Arial" panose="020B0604020202020204" pitchFamily="34" charset="0"/>
                <a:cs typeface="Arial" panose="020B0604020202020204" pitchFamily="34" charset="0"/>
              </a:rPr>
              <a:t>Para la guía Deep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pPr marL="171450" indent="-171450" algn="just">
              <a:buFontTx/>
              <a:buChar char="-"/>
            </a:pPr>
            <a:r>
              <a:rPr lang="es-ES" sz="1200" dirty="0">
                <a:latin typeface="Arial" panose="020B0604020202020204" pitchFamily="34" charset="0"/>
                <a:cs typeface="Arial" panose="020B0604020202020204" pitchFamily="34" charset="0"/>
              </a:rPr>
              <a:t>Para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slab_height</a:t>
            </a:r>
            <a:r>
              <a:rPr lang="es-ES" sz="1200" dirty="0">
                <a:latin typeface="Arial" panose="020B0604020202020204" pitchFamily="34" charset="0"/>
                <a:cs typeface="Arial" panose="020B0604020202020204" pitchFamily="34" charset="0"/>
              </a:rPr>
              <a:t> = 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p>
        </p:txBody>
      </p:sp>
      <p:pic>
        <p:nvPicPr>
          <p:cNvPr id="4" name="Imagen 3" descr="Gráfico&#10;&#10;El contenido generado por IA puede ser incorrecto.">
            <a:extLst>
              <a:ext uri="{FF2B5EF4-FFF2-40B4-BE49-F238E27FC236}">
                <a16:creationId xmlns:a16="http://schemas.microsoft.com/office/drawing/2014/main" id="{351B7EC1-D5A0-8397-E0E2-C0AC026453F8}"/>
              </a:ext>
            </a:extLst>
          </p:cNvPr>
          <p:cNvPicPr>
            <a:picLocks noChangeAspect="1"/>
          </p:cNvPicPr>
          <p:nvPr/>
        </p:nvPicPr>
        <p:blipFill>
          <a:blip r:embed="rId5"/>
          <a:stretch>
            <a:fillRect/>
          </a:stretch>
        </p:blipFill>
        <p:spPr>
          <a:xfrm>
            <a:off x="1345288" y="765509"/>
            <a:ext cx="4015023" cy="2935170"/>
          </a:xfrm>
          <a:prstGeom prst="rect">
            <a:avLst/>
          </a:prstGeom>
        </p:spPr>
      </p:pic>
      <p:pic>
        <p:nvPicPr>
          <p:cNvPr id="8" name="Imagen 7" descr="Gráfico&#10;&#10;El contenido generado por IA puede ser incorrecto.">
            <a:extLst>
              <a:ext uri="{FF2B5EF4-FFF2-40B4-BE49-F238E27FC236}">
                <a16:creationId xmlns:a16="http://schemas.microsoft.com/office/drawing/2014/main" id="{B69B693A-6AFD-210D-F467-AB7C00CE7CB9}"/>
              </a:ext>
            </a:extLst>
          </p:cNvPr>
          <p:cNvPicPr>
            <a:picLocks noChangeAspect="1"/>
          </p:cNvPicPr>
          <p:nvPr/>
        </p:nvPicPr>
        <p:blipFill>
          <a:blip r:embed="rId6"/>
          <a:stretch>
            <a:fillRect/>
          </a:stretch>
        </p:blipFill>
        <p:spPr>
          <a:xfrm>
            <a:off x="6220648" y="726690"/>
            <a:ext cx="4058289" cy="2966800"/>
          </a:xfrm>
          <a:prstGeom prst="rect">
            <a:avLst/>
          </a:prstGeom>
        </p:spPr>
      </p:pic>
    </p:spTree>
    <p:extLst>
      <p:ext uri="{BB962C8B-B14F-4D97-AF65-F5344CB8AC3E}">
        <p14:creationId xmlns:p14="http://schemas.microsoft.com/office/powerpoint/2010/main" val="632762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CBC75-98C8-5092-E7A9-F3E53CF502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2CEE061-4B1B-A03F-2DAE-0F8E49FE715B}"/>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#1.3 – Simulations</a:t>
            </a:r>
            <a:endParaRPr sz="2500" b="0" dirty="0">
              <a:latin typeface="+mj-lt"/>
              <a:cs typeface="Lucida Sans"/>
            </a:endParaRPr>
          </a:p>
        </p:txBody>
      </p:sp>
      <p:pic>
        <p:nvPicPr>
          <p:cNvPr id="83" name="Gráfico 82">
            <a:extLst>
              <a:ext uri="{FF2B5EF4-FFF2-40B4-BE49-F238E27FC236}">
                <a16:creationId xmlns:a16="http://schemas.microsoft.com/office/drawing/2014/main" id="{F0E5E6A2-5834-3066-5ABD-53F9C3BACE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E29818-720B-4F4D-6653-64C8B4F263DE}"/>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6B52AF5-5352-3814-820A-67C2CB07F12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59FD84E3-2DC5-745A-C239-60F1257D78AC}"/>
              </a:ext>
            </a:extLst>
          </p:cNvPr>
          <p:cNvSpPr txBox="1"/>
          <p:nvPr/>
        </p:nvSpPr>
        <p:spPr>
          <a:xfrm>
            <a:off x="583019" y="32561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distribución del campo eléctrico a lo largo de la sección cruzada de una guía Deep para una longitud de onda de 1550 nm para los distintos modos que se propagan TE0, TM0, TE1 y TM1, respectivamente.</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Se observa como los modos TE se distribuyen en horizontal y los TM en vertical. De esta forma, el modo TE0 está confinado mayoritariamente en el núcleo, al igual que el modo TM0, aunque este está menos confinado. Además, los modos TE1 y TM1 apenas se propagan por el núcleo.</a:t>
            </a:r>
          </a:p>
        </p:txBody>
      </p:sp>
      <p:pic>
        <p:nvPicPr>
          <p:cNvPr id="6" name="Imagen 5">
            <a:extLst>
              <a:ext uri="{FF2B5EF4-FFF2-40B4-BE49-F238E27FC236}">
                <a16:creationId xmlns:a16="http://schemas.microsoft.com/office/drawing/2014/main" id="{E65A65A2-C103-8A2F-6C83-8FF92A8661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73745" y="1052230"/>
            <a:ext cx="2814909" cy="1894462"/>
          </a:xfrm>
          <a:prstGeom prst="rect">
            <a:avLst/>
          </a:prstGeom>
        </p:spPr>
      </p:pic>
      <p:pic>
        <p:nvPicPr>
          <p:cNvPr id="9" name="Imagen 8">
            <a:extLst>
              <a:ext uri="{FF2B5EF4-FFF2-40B4-BE49-F238E27FC236}">
                <a16:creationId xmlns:a16="http://schemas.microsoft.com/office/drawing/2014/main" id="{87646738-C4D6-330B-5385-717DD58775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505200" y="1052230"/>
            <a:ext cx="2814909" cy="1894462"/>
          </a:xfrm>
          <a:prstGeom prst="rect">
            <a:avLst/>
          </a:prstGeom>
        </p:spPr>
      </p:pic>
      <p:pic>
        <p:nvPicPr>
          <p:cNvPr id="11" name="Imagen 10">
            <a:extLst>
              <a:ext uri="{FF2B5EF4-FFF2-40B4-BE49-F238E27FC236}">
                <a16:creationId xmlns:a16="http://schemas.microsoft.com/office/drawing/2014/main" id="{62F9AE3D-8F9E-A4FB-5CE5-F94ADAFC2ED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94174" y="1018447"/>
            <a:ext cx="2956476" cy="2004391"/>
          </a:xfrm>
          <a:prstGeom prst="rect">
            <a:avLst/>
          </a:prstGeom>
        </p:spPr>
      </p:pic>
      <p:pic>
        <p:nvPicPr>
          <p:cNvPr id="13" name="Imagen 12">
            <a:extLst>
              <a:ext uri="{FF2B5EF4-FFF2-40B4-BE49-F238E27FC236}">
                <a16:creationId xmlns:a16="http://schemas.microsoft.com/office/drawing/2014/main" id="{7FFEB3A3-2CC6-A22D-9EF4-9CA22486E404}"/>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977354" y="1023402"/>
            <a:ext cx="2978817" cy="1963999"/>
          </a:xfrm>
          <a:prstGeom prst="rect">
            <a:avLst/>
          </a:prstGeom>
        </p:spPr>
      </p:pic>
    </p:spTree>
    <p:extLst>
      <p:ext uri="{BB962C8B-B14F-4D97-AF65-F5344CB8AC3E}">
        <p14:creationId xmlns:p14="http://schemas.microsoft.com/office/powerpoint/2010/main" val="17015774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00600"/>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ambas guías se observa que, a menor longitud de onda, mayor índice efectivo, por lo que el confinamiento de la energía en el núcleo es mayor. Por el contrario, a mayor longitud de onda, el índice efectivo disminuye, ya que el modo se extiende más hacia la cubierta y el índice efectivo se mantiene siempre entre ambos valores, siendo menor que el del núcleo y mayor que el de la cubierta. </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Teniendo esto en cuenta, se observa como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un comportamiento multimodo, ya que permite la propagación de los modos guiados 0, 1, 2 y 3, que corresponden a los TE0, TE1, TM0 y TE2, respectivamente. Mientras que la guía Deep, soporta la propagación de los modos guiados 0 y 1, que corresponden a los TE0 y TM0, lo que indica que se comporta como monomodo, ya que los modos 2 y 3 son no guiados porque se propagan por la cubierta.</a:t>
            </a: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3A5FCE10-F85E-E45E-E752-D26F646E54A6}"/>
              </a:ext>
            </a:extLst>
          </p:cNvPr>
          <p:cNvPicPr>
            <a:picLocks noChangeAspect="1"/>
          </p:cNvPicPr>
          <p:nvPr/>
        </p:nvPicPr>
        <p:blipFill>
          <a:blip r:embed="rId5"/>
          <a:stretch>
            <a:fillRect/>
          </a:stretch>
        </p:blipFill>
        <p:spPr>
          <a:xfrm>
            <a:off x="6878364" y="1600200"/>
            <a:ext cx="4801846" cy="2801077"/>
          </a:xfrm>
          <a:prstGeom prst="rect">
            <a:avLst/>
          </a:prstGeom>
        </p:spPr>
      </p:pic>
      <p:pic>
        <p:nvPicPr>
          <p:cNvPr id="10" name="Imagen 9">
            <a:extLst>
              <a:ext uri="{FF2B5EF4-FFF2-40B4-BE49-F238E27FC236}">
                <a16:creationId xmlns:a16="http://schemas.microsoft.com/office/drawing/2014/main" id="{BABF327B-1BF1-588E-49A6-E98509B487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85800" y="1600201"/>
            <a:ext cx="5186993" cy="2801076"/>
          </a:xfrm>
          <a:prstGeom prst="rect">
            <a:avLst/>
          </a:prstGeom>
        </p:spPr>
      </p:pic>
      <p:sp>
        <p:nvSpPr>
          <p:cNvPr id="11" name="CuadroTexto 10">
            <a:extLst>
              <a:ext uri="{FF2B5EF4-FFF2-40B4-BE49-F238E27FC236}">
                <a16:creationId xmlns:a16="http://schemas.microsoft.com/office/drawing/2014/main" id="{96A4DBF1-CE9B-9558-4A6B-24174CFFE9B4}"/>
              </a:ext>
            </a:extLst>
          </p:cNvPr>
          <p:cNvSpPr txBox="1"/>
          <p:nvPr/>
        </p:nvSpPr>
        <p:spPr>
          <a:xfrm>
            <a:off x="680049" y="4269479"/>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3712356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 mayor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Destacando</a:t>
            </a:r>
            <a:r>
              <a:rPr lang="en-US" sz="1200" dirty="0">
                <a:latin typeface="Arial" panose="020B0604020202020204" pitchFamily="34" charset="0"/>
                <a:cs typeface="Arial" panose="020B0604020202020204" pitchFamily="34" charset="0"/>
              </a:rPr>
              <a:t> un mayor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componente</a:t>
            </a:r>
            <a:r>
              <a:rPr lang="en-US" sz="1200" dirty="0">
                <a:latin typeface="Arial" panose="020B0604020202020204" pitchFamily="34" charset="0"/>
                <a:cs typeface="Arial" panose="020B0604020202020204" pitchFamily="34" charset="0"/>
              </a:rPr>
              <a:t> principal del campo </a:t>
            </a:r>
            <a:r>
              <a:rPr lang="en-US" sz="1200" dirty="0" err="1">
                <a:latin typeface="Arial" panose="020B0604020202020204" pitchFamily="34" charset="0"/>
                <a:cs typeface="Arial" panose="020B0604020202020204" pitchFamily="34" charset="0"/>
              </a:rPr>
              <a:t>eléctrico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x (Ex),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extiende</a:t>
            </a:r>
            <a:r>
              <a:rPr lang="en-US" sz="1200" dirty="0">
                <a:latin typeface="Arial" panose="020B0604020202020204" pitchFamily="34" charset="0"/>
                <a:cs typeface="Arial" panose="020B0604020202020204" pitchFamily="34" charset="0"/>
              </a:rPr>
              <a:t> a lo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horizontal).</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aumento</a:t>
            </a:r>
            <a:r>
              <a:rPr lang="en-US" sz="1200" dirty="0">
                <a:latin typeface="Arial" panose="020B0604020202020204" pitchFamily="34" charset="0"/>
                <a:cs typeface="Arial" panose="020B0604020202020204" pitchFamily="34" charset="0"/>
              </a:rPr>
              <a:t>, se produce un </a:t>
            </a:r>
            <a:r>
              <a:rPr lang="en-US" sz="1200" dirty="0" err="1">
                <a:latin typeface="Arial" panose="020B0604020202020204" pitchFamily="34" charset="0"/>
                <a:cs typeface="Arial" panose="020B0604020202020204" pitchFamily="34" charset="0"/>
              </a:rPr>
              <a:t>cambio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un ancho de 1.27 um,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multimodo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TE0, TM0 y TE1) y para </a:t>
            </a:r>
            <a:r>
              <a:rPr lang="en-US" sz="1200" dirty="0" err="1">
                <a:latin typeface="Arial" panose="020B0604020202020204" pitchFamily="34" charset="0"/>
                <a:cs typeface="Arial" panose="020B0604020202020204" pitchFamily="34" charset="0"/>
              </a:rPr>
              <a:t>menores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monomodo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TE0 y TM0).</a:t>
            </a: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descr="Gráfico, Gráfico de líneas&#10;&#10;El contenido generado por IA puede ser incorrecto.">
            <a:extLst>
              <a:ext uri="{FF2B5EF4-FFF2-40B4-BE49-F238E27FC236}">
                <a16:creationId xmlns:a16="http://schemas.microsoft.com/office/drawing/2014/main" id="{84A2167B-2F20-7988-627B-52805E9CA6AA}"/>
              </a:ext>
            </a:extLst>
          </p:cNvPr>
          <p:cNvPicPr>
            <a:picLocks noChangeAspect="1"/>
          </p:cNvPicPr>
          <p:nvPr/>
        </p:nvPicPr>
        <p:blipFill>
          <a:blip r:embed="rId5"/>
          <a:stretch>
            <a:fillRect/>
          </a:stretch>
        </p:blipFill>
        <p:spPr>
          <a:xfrm>
            <a:off x="3380321" y="1516121"/>
            <a:ext cx="5431357" cy="3161826"/>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440F587-93A3-E474-C0B0-883BB9DAFD85}"/>
              </a:ext>
            </a:extLst>
          </p:cNvPr>
          <p:cNvSpPr txBox="1"/>
          <p:nvPr/>
        </p:nvSpPr>
        <p:spPr>
          <a:xfrm>
            <a:off x="609441" y="3928489"/>
            <a:ext cx="5261137" cy="1169551"/>
          </a:xfrm>
          <a:prstGeom prst="rect">
            <a:avLst/>
          </a:prstGeom>
          <a:solidFill>
            <a:schemeClr val="bg1">
              <a:lumMod val="95000"/>
            </a:schemeClr>
          </a:solidFill>
          <a:ln w="28575">
            <a:solidFill>
              <a:srgbClr val="E0700D"/>
            </a:solidFill>
          </a:ln>
        </p:spPr>
        <p:txBody>
          <a:bodyPr wrap="square" rtlCol="0">
            <a:spAutoFit/>
          </a:bodyPr>
          <a:lstStyle/>
          <a:p>
            <a:pPr algn="just"/>
            <a:r>
              <a:rPr lang="es-ES" sz="1000" b="1" dirty="0">
                <a:latin typeface="Arial" panose="020B0604020202020204" pitchFamily="34" charset="0"/>
                <a:cs typeface="Arial" panose="020B0604020202020204" pitchFamily="34" charset="0"/>
              </a:rPr>
              <a:t>Deep </a:t>
            </a:r>
            <a:r>
              <a:rPr lang="es-ES" sz="1000" b="1" dirty="0" err="1">
                <a:latin typeface="Arial" panose="020B0604020202020204" pitchFamily="34" charset="0"/>
                <a:cs typeface="Arial" panose="020B0604020202020204" pitchFamily="34" charset="0"/>
              </a:rPr>
              <a:t>waveguide</a:t>
            </a:r>
            <a:r>
              <a:rPr lang="es-ES" sz="1000" b="1" dirty="0">
                <a:latin typeface="Arial" panose="020B0604020202020204" pitchFamily="34" charset="0"/>
                <a:cs typeface="Arial" panose="020B0604020202020204" pitchFamily="34" charset="0"/>
              </a:rPr>
              <a:t>:</a:t>
            </a:r>
          </a:p>
          <a:p>
            <a:pPr algn="just"/>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1.6049166291026744</a:t>
            </a:r>
          </a:p>
          <a:p>
            <a:pPr algn="just"/>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1.9399909008100613</a:t>
            </a:r>
          </a:p>
          <a:p>
            <a:pPr algn="just"/>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-1006.6987866611223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p>
          <a:p>
            <a:pPr algn="just"/>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1.5271892343288158</a:t>
            </a:r>
          </a:p>
          <a:p>
            <a:pPr algn="just"/>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1.772025347866792</a:t>
            </a:r>
          </a:p>
          <a:p>
            <a:pPr algn="just"/>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-1590.6948234078707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endParaRPr lang="en-US" sz="10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A6B92C76-6772-2E00-346F-532321092C04}"/>
              </a:ext>
            </a:extLst>
          </p:cNvPr>
          <p:cNvSpPr/>
          <p:nvPr/>
        </p:nvSpPr>
        <p:spPr>
          <a:xfrm>
            <a:off x="609442" y="1447800"/>
            <a:ext cx="5261136" cy="247907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245224" y="1447800"/>
            <a:ext cx="5209357" cy="247907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descr="Gráfico, Gráfico de líneas&#10;&#10;El contenido generado por IA puede ser incorrecto.">
            <a:extLst>
              <a:ext uri="{FF2B5EF4-FFF2-40B4-BE49-F238E27FC236}">
                <a16:creationId xmlns:a16="http://schemas.microsoft.com/office/drawing/2014/main" id="{3B53A3E9-3AD7-5990-85BC-58F21A532BA3}"/>
              </a:ext>
            </a:extLst>
          </p:cNvPr>
          <p:cNvPicPr>
            <a:picLocks noChangeAspect="1"/>
          </p:cNvPicPr>
          <p:nvPr/>
        </p:nvPicPr>
        <p:blipFill>
          <a:blip r:embed="rId5"/>
          <a:srcRect/>
          <a:stretch>
            <a:fillRect/>
          </a:stretch>
        </p:blipFill>
        <p:spPr>
          <a:xfrm>
            <a:off x="1703264" y="1507145"/>
            <a:ext cx="3050679" cy="2409826"/>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37B6F8FA-9C3C-702C-F051-432029EC98F0}"/>
              </a:ext>
            </a:extLst>
          </p:cNvPr>
          <p:cNvPicPr>
            <a:picLocks noChangeAspect="1"/>
          </p:cNvPicPr>
          <p:nvPr/>
        </p:nvPicPr>
        <p:blipFill>
          <a:blip r:embed="rId6"/>
          <a:stretch>
            <a:fillRect/>
          </a:stretch>
        </p:blipFill>
        <p:spPr>
          <a:xfrm>
            <a:off x="7493554" y="1507144"/>
            <a:ext cx="3050679" cy="2409825"/>
          </a:xfrm>
          <a:prstGeom prst="rect">
            <a:avLst/>
          </a:prstGeom>
        </p:spPr>
      </p:pic>
      <p:sp>
        <p:nvSpPr>
          <p:cNvPr id="13" name="CuadroTexto 12">
            <a:extLst>
              <a:ext uri="{FF2B5EF4-FFF2-40B4-BE49-F238E27FC236}">
                <a16:creationId xmlns:a16="http://schemas.microsoft.com/office/drawing/2014/main" id="{CC42190F-CE2B-55BE-B54C-B246857FD9A0}"/>
              </a:ext>
            </a:extLst>
          </p:cNvPr>
          <p:cNvSpPr txBox="1"/>
          <p:nvPr/>
        </p:nvSpPr>
        <p:spPr>
          <a:xfrm>
            <a:off x="6245224" y="3928488"/>
            <a:ext cx="5206181" cy="1169551"/>
          </a:xfrm>
          <a:prstGeom prst="rect">
            <a:avLst/>
          </a:prstGeom>
          <a:solidFill>
            <a:schemeClr val="bg1">
              <a:lumMod val="95000"/>
            </a:schemeClr>
          </a:solidFill>
          <a:ln w="28575">
            <a:solidFill>
              <a:srgbClr val="E0700D"/>
            </a:solidFill>
          </a:ln>
        </p:spPr>
        <p:txBody>
          <a:bodyPr wrap="square" rtlCol="0">
            <a:spAutoFit/>
          </a:bodyPr>
          <a:lstStyle/>
          <a:p>
            <a:r>
              <a:rPr lang="es-ES" sz="1000" b="1" dirty="0" err="1">
                <a:latin typeface="Arial" panose="020B0604020202020204" pitchFamily="34" charset="0"/>
                <a:cs typeface="Arial" panose="020B0604020202020204" pitchFamily="34" charset="0"/>
              </a:rPr>
              <a:t>Shallow</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waveguide</a:t>
            </a:r>
            <a:r>
              <a:rPr lang="es-ES" sz="1000" b="1" dirty="0">
                <a:latin typeface="Arial" panose="020B0604020202020204" pitchFamily="34" charset="0"/>
                <a:cs typeface="Arial" panose="020B0604020202020204" pitchFamily="34" charset="0"/>
              </a:rPr>
              <a:t>:</a:t>
            </a:r>
            <a:endParaRPr lang="es-ES" sz="1000" dirty="0">
              <a:latin typeface="Arial" panose="020B0604020202020204" pitchFamily="34" charset="0"/>
              <a:cs typeface="Arial" panose="020B0604020202020204" pitchFamily="34" charset="0"/>
            </a:endParaRPr>
          </a:p>
          <a:p>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1.6240906297465494</a:t>
            </a:r>
          </a:p>
          <a:p>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1.9157617116967773</a:t>
            </a:r>
          </a:p>
          <a:p>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-989.5411991927712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p>
          <a:p>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1.5361017569770001</a:t>
            </a:r>
          </a:p>
          <a:p>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1.751028636956494</a:t>
            </a:r>
          </a:p>
          <a:p>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=1550nm)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-1013.1548259425633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endParaRPr lang="en-US" sz="1000" dirty="0">
              <a:latin typeface="Arial" panose="020B0604020202020204" pitchFamily="34" charset="0"/>
              <a:cs typeface="Arial" panose="020B0604020202020204" pitchFamily="34" charset="0"/>
            </a:endParaRPr>
          </a:p>
        </p:txBody>
      </p:sp>
      <p:sp>
        <p:nvSpPr>
          <p:cNvPr id="14" name="CuadroTexto 13">
            <a:extLst>
              <a:ext uri="{FF2B5EF4-FFF2-40B4-BE49-F238E27FC236}">
                <a16:creationId xmlns:a16="http://schemas.microsoft.com/office/drawing/2014/main" id="{E7368598-976A-BC09-D873-88BA744122EA}"/>
              </a:ext>
            </a:extLst>
          </p:cNvPr>
          <p:cNvSpPr txBox="1"/>
          <p:nvPr/>
        </p:nvSpPr>
        <p:spPr>
          <a:xfrm>
            <a:off x="609441" y="5098039"/>
            <a:ext cx="1084514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Se ha ajustado un polinomio de segundo grado para modelar la respuesta del índice efectivo con la longitud de onda. Como se observa, este polinomio reproduce prácticamente los mismos valores que la simulación y permite calcular el índice efectivo para cualquier longitud de onda, así como obtener el índice de grupo y la dispersión.</a:t>
            </a:r>
          </a:p>
          <a:p>
            <a:r>
              <a:rPr lang="es-ES" sz="1200" dirty="0">
                <a:latin typeface="Arial" panose="020B0604020202020204" pitchFamily="34" charset="0"/>
                <a:cs typeface="Arial" panose="020B0604020202020204" pitchFamily="34" charset="0"/>
              </a:rPr>
              <a:t>Para ambas guías, el índice efectivo a 1550 nm coincide con el valor obtenido en la simulación. En cuanto al índice de grupo, este es mayor que el índice efectivo, lo que implica que la velocidad de grupo es menor que la velocidad de fase. Además, la dispersión es negativa, lo que indica que las longitudes de onda más cortas se propagan más lentamente que las más largas.</a:t>
            </a:r>
          </a:p>
        </p:txBody>
      </p:sp>
    </p:spTree>
    <p:extLst>
      <p:ext uri="{BB962C8B-B14F-4D97-AF65-F5344CB8AC3E}">
        <p14:creationId xmlns:p14="http://schemas.microsoft.com/office/powerpoint/2010/main" val="236054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r>
              <a:rPr lang="es-ES" sz="1200" dirty="0">
                <a:latin typeface="Arial" panose="020B0604020202020204" pitchFamily="34" charset="0"/>
                <a:cs typeface="Arial" panose="020B0604020202020204" pitchFamily="34" charset="0"/>
              </a:rPr>
              <a:t>Como se muestra en la gráfica de pérdidas en función del radio de curvatura (R), se obtiene un radio mínimo seguro de aproximadamente 35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al considerar seguras unas pérdidas de 0.1 dB/90°. A partir de este valor, las pérdidas por </a:t>
            </a:r>
            <a:r>
              <a:rPr lang="es-ES" sz="1200" dirty="0" err="1">
                <a:latin typeface="Arial" panose="020B0604020202020204" pitchFamily="34" charset="0"/>
                <a:cs typeface="Arial" panose="020B0604020202020204" pitchFamily="34" charset="0"/>
              </a:rPr>
              <a:t>mismatch</a:t>
            </a:r>
            <a:r>
              <a:rPr lang="es-ES" sz="1200" dirty="0">
                <a:latin typeface="Arial" panose="020B0604020202020204" pitchFamily="34" charset="0"/>
                <a:cs typeface="Arial" panose="020B0604020202020204" pitchFamily="34" charset="0"/>
              </a:rPr>
              <a:t> disminuyen a medida que aumenta R, mientras que las pérdidas de propagación aumentan, aunque las pérdidas totales se mantienen dentro del rango considerado seguro. Este comportamiento se debe a que, al incrementarse R, la guía se aproxima progresivamente a una guía recta.</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Por esta misma razón, al aumentar R, el índice efectivo tiende a 1.605, que es el valor correspondiente al de la guía recta.</a:t>
            </a: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F8D6361A-60D6-D762-4EEC-7D641561139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70647" y="1538730"/>
            <a:ext cx="3962400" cy="3130020"/>
          </a:xfrm>
          <a:prstGeom prst="rect">
            <a:avLst/>
          </a:prstGeom>
        </p:spPr>
      </p:pic>
      <p:pic>
        <p:nvPicPr>
          <p:cNvPr id="11" name="Imagen 10">
            <a:extLst>
              <a:ext uri="{FF2B5EF4-FFF2-40B4-BE49-F238E27FC236}">
                <a16:creationId xmlns:a16="http://schemas.microsoft.com/office/drawing/2014/main" id="{E06F18D7-4C12-4E46-4877-EE4E7B6B5983}"/>
              </a:ext>
            </a:extLst>
          </p:cNvPr>
          <p:cNvPicPr>
            <a:picLocks noChangeAspect="1"/>
          </p:cNvPicPr>
          <p:nvPr/>
        </p:nvPicPr>
        <p:blipFill>
          <a:blip r:embed="rId6"/>
          <a:stretch>
            <a:fillRect/>
          </a:stretch>
        </p:blipFill>
        <p:spPr>
          <a:xfrm>
            <a:off x="7084512" y="1582601"/>
            <a:ext cx="3964990" cy="3042277"/>
          </a:xfrm>
          <a:prstGeom prst="rect">
            <a:avLst/>
          </a:prstGeom>
        </p:spPr>
      </p:pic>
      <p:sp>
        <p:nvSpPr>
          <p:cNvPr id="6" name="Rectángulo 5">
            <a:extLst>
              <a:ext uri="{FF2B5EF4-FFF2-40B4-BE49-F238E27FC236}">
                <a16:creationId xmlns:a16="http://schemas.microsoft.com/office/drawing/2014/main" id="{3648DE4D-6003-93D7-5F17-295114C242BF}"/>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438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BBC3-5145-4705-5F65-216325E77B3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C15E1E5-7A56-2995-4D67-273F419F1269}"/>
              </a:ext>
            </a:extLst>
          </p:cNvPr>
          <p:cNvSpPr txBox="1">
            <a:spLocks noGrp="1"/>
          </p:cNvSpPr>
          <p:nvPr>
            <p:ph type="title"/>
          </p:nvPr>
        </p:nvSpPr>
        <p:spPr>
          <a:xfrm>
            <a:off x="685800" y="408883"/>
            <a:ext cx="10994410" cy="2398092"/>
          </a:xfrm>
          <a:prstGeom prst="rect">
            <a:avLst/>
          </a:prstGeom>
        </p:spPr>
        <p:txBody>
          <a:bodyPr vert="horz" wrap="square" lIns="0" tIns="12700" rIns="0" bIns="0" rtlCol="0">
            <a:spAutoFit/>
          </a:bodyPr>
          <a:lstStyle/>
          <a:p>
            <a:pPr marL="12700">
              <a:spcBef>
                <a:spcPts val="100"/>
              </a:spcBef>
            </a:pPr>
            <a:r>
              <a:rPr lang="en-US" sz="2500" dirty="0"/>
              <a:t># EXTRA.1 - Wavelength behavior</a:t>
            </a:r>
            <a:br>
              <a:rPr lang="en-US" sz="2500" dirty="0"/>
            </a:br>
            <a:r>
              <a:rPr lang="en-US" b="0" dirty="0"/>
              <a:t>Now, Simulate the Silicon-On-Insulator technology changing the core material to Silicon (Si). In this case, the dimensions will be 220 nm </a:t>
            </a:r>
            <a:r>
              <a:rPr lang="en-US" b="0" dirty="0" err="1"/>
              <a:t>heigth</a:t>
            </a:r>
            <a:r>
              <a:rPr lang="en-US" b="0" dirty="0"/>
              <a:t> and 500 nm width. </a:t>
            </a:r>
            <a:br>
              <a:rPr lang="en-US" b="0" dirty="0"/>
            </a:br>
            <a:r>
              <a:rPr lang="en-US" dirty="0"/>
              <a:t>1. </a:t>
            </a:r>
            <a:r>
              <a:rPr lang="en-US" b="0" dirty="0"/>
              <a:t>Repeat the LO.2. wavelength behavior simulations, considering the updated materials and dimensions.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402F5B0-BE89-6EC8-DE18-8C9902A625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BED5594-721A-740B-E9D0-284907D21043}"/>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E2C3C16A-8F1C-075F-485A-4A291213F56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F885DF2-D695-6C6F-F4F1-913A39EAE30C}"/>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Se observa un comportamiento similar al simulado en el apartado LO.2.</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Teniendo esto en cuenta, se observa como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un comportamiento multimodo, ya que permite la propagación de los modos guiados 0, 1, 2 y 3, que corresponden a los TE0, TE1, TE2 y TE3, respectivamente. Mientras que la guía Deep, soporta la propagación de los modos guiados 0, 1 y 2, que corresponden a los TE0, TM0 y TE1, lo que indica que se comporta como multimodo, quedando el modo 3 como no guiado porque se propaga por la cubierta.</a:t>
            </a:r>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2993ADF6-D21D-2668-6DDA-58105166CF68}"/>
              </a:ext>
            </a:extLst>
          </p:cNvPr>
          <p:cNvSpPr/>
          <p:nvPr/>
        </p:nvSpPr>
        <p:spPr>
          <a:xfrm>
            <a:off x="6094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BEF898AD-9255-52C1-491D-0B1979BEB031}"/>
              </a:ext>
            </a:extLst>
          </p:cNvPr>
          <p:cNvSpPr/>
          <p:nvPr/>
        </p:nvSpPr>
        <p:spPr>
          <a:xfrm>
            <a:off x="64768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Imagen 13">
            <a:extLst>
              <a:ext uri="{FF2B5EF4-FFF2-40B4-BE49-F238E27FC236}">
                <a16:creationId xmlns:a16="http://schemas.microsoft.com/office/drawing/2014/main" id="{EC53BC5F-BC37-D980-85A8-6605193EB660}"/>
              </a:ext>
            </a:extLst>
          </p:cNvPr>
          <p:cNvPicPr>
            <a:picLocks noChangeAspect="1"/>
          </p:cNvPicPr>
          <p:nvPr/>
        </p:nvPicPr>
        <p:blipFill>
          <a:blip r:embed="rId5"/>
          <a:stretch>
            <a:fillRect/>
          </a:stretch>
        </p:blipFill>
        <p:spPr>
          <a:xfrm>
            <a:off x="1213329" y="1846948"/>
            <a:ext cx="4659415" cy="2717992"/>
          </a:xfrm>
          <a:prstGeom prst="rect">
            <a:avLst/>
          </a:prstGeom>
        </p:spPr>
      </p:pic>
      <p:sp>
        <p:nvSpPr>
          <p:cNvPr id="12" name="CuadroTexto 11">
            <a:extLst>
              <a:ext uri="{FF2B5EF4-FFF2-40B4-BE49-F238E27FC236}">
                <a16:creationId xmlns:a16="http://schemas.microsoft.com/office/drawing/2014/main" id="{7CFC0A78-BE03-5EC6-463D-56F6288FB880}"/>
              </a:ext>
            </a:extLst>
          </p:cNvPr>
          <p:cNvSpPr txBox="1"/>
          <p:nvPr/>
        </p:nvSpPr>
        <p:spPr>
          <a:xfrm>
            <a:off x="665927" y="4277043"/>
            <a:ext cx="2269787" cy="338554"/>
          </a:xfrm>
          <a:prstGeom prst="rect">
            <a:avLst/>
          </a:prstGeom>
          <a:noFill/>
        </p:spPr>
        <p:txBody>
          <a:bodyPr wrap="square">
            <a:spAutoFit/>
          </a:bodyPr>
          <a:lstStyle/>
          <a:p>
            <a:r>
              <a:rPr lang="en-US" sz="1600" dirty="0"/>
              <a:t>slab = 150nm</a:t>
            </a:r>
            <a:endParaRPr lang="es-ES" sz="1600" dirty="0"/>
          </a:p>
        </p:txBody>
      </p:sp>
      <p:pic>
        <p:nvPicPr>
          <p:cNvPr id="17" name="Imagen 16">
            <a:extLst>
              <a:ext uri="{FF2B5EF4-FFF2-40B4-BE49-F238E27FC236}">
                <a16:creationId xmlns:a16="http://schemas.microsoft.com/office/drawing/2014/main" id="{7FAAAA22-83B2-4C31-47B6-D917F1DCDBB2}"/>
              </a:ext>
            </a:extLst>
          </p:cNvPr>
          <p:cNvPicPr>
            <a:picLocks noChangeAspect="1"/>
          </p:cNvPicPr>
          <p:nvPr/>
        </p:nvPicPr>
        <p:blipFill>
          <a:blip r:embed="rId6"/>
          <a:stretch>
            <a:fillRect/>
          </a:stretch>
        </p:blipFill>
        <p:spPr>
          <a:xfrm>
            <a:off x="6882881" y="1846948"/>
            <a:ext cx="4520490" cy="2636952"/>
          </a:xfrm>
          <a:prstGeom prst="rect">
            <a:avLst/>
          </a:prstGeom>
        </p:spPr>
      </p:pic>
    </p:spTree>
    <p:extLst>
      <p:ext uri="{BB962C8B-B14F-4D97-AF65-F5344CB8AC3E}">
        <p14:creationId xmlns:p14="http://schemas.microsoft.com/office/powerpoint/2010/main" val="3626364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43A31-2DA9-8AED-9052-D527F9CE58F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F8C5194-75E5-7874-4FFE-C6C0FC4070AC}"/>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 EXTRA.2 - Width dependence</a:t>
            </a:r>
            <a:br>
              <a:rPr lang="en-US" sz="2500" dirty="0"/>
            </a:br>
            <a:r>
              <a:rPr lang="en-US" dirty="0"/>
              <a:t>2.</a:t>
            </a:r>
            <a:r>
              <a:rPr lang="en-US" b="0" dirty="0"/>
              <a:t> Repeat the LO.3. width dependence analysis, now sweeping in a 300nm - 1um range.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174BD2-88A1-56BC-6299-366D2C911E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CA7CA9E-67A5-1004-15C0-E24A5FCE8CD4}"/>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3BB2435A-FA03-213C-050A-106A34FB237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A2291EA-A955-D9A9-3AA1-672467A8E219}"/>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r>
              <a:rPr lang="es-ES" sz="1200" dirty="0">
                <a:latin typeface="Arial" panose="020B0604020202020204" pitchFamily="34" charset="0"/>
                <a:cs typeface="Arial" panose="020B0604020202020204" pitchFamily="34" charset="0"/>
              </a:rPr>
              <a:t>Se observa un comportamiento similar al simulado en el apartado LO.3.</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este caso, para anchuras inferiores a 0.45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la guía es monomodo, propagándose únicamente los modos TE0 y TM0. A partir de este valor la guía pasa a ser multimodo, comenzando a propagarse el modo TE1, y para anchuras superiores a 0.6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aparece también el modo TE2.</a:t>
            </a:r>
          </a:p>
        </p:txBody>
      </p:sp>
      <p:sp>
        <p:nvSpPr>
          <p:cNvPr id="5" name="Rectángulo 4">
            <a:extLst>
              <a:ext uri="{FF2B5EF4-FFF2-40B4-BE49-F238E27FC236}">
                <a16:creationId xmlns:a16="http://schemas.microsoft.com/office/drawing/2014/main" id="{99C7BC53-FCEA-315B-8AAF-9470C09E243B}"/>
              </a:ext>
            </a:extLst>
          </p:cNvPr>
          <p:cNvSpPr/>
          <p:nvPr/>
        </p:nvSpPr>
        <p:spPr>
          <a:xfrm>
            <a:off x="609441" y="1219200"/>
            <a:ext cx="11199971" cy="3403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61B0329E-6D40-5235-A888-35A3376E9B5D}"/>
              </a:ext>
            </a:extLst>
          </p:cNvPr>
          <p:cNvPicPr>
            <a:picLocks noChangeAspect="1"/>
          </p:cNvPicPr>
          <p:nvPr/>
        </p:nvPicPr>
        <p:blipFill>
          <a:blip r:embed="rId6"/>
          <a:stretch>
            <a:fillRect/>
          </a:stretch>
        </p:blipFill>
        <p:spPr>
          <a:xfrm>
            <a:off x="3442163" y="1309891"/>
            <a:ext cx="5535099" cy="3222218"/>
          </a:xfrm>
          <a:prstGeom prst="rect">
            <a:avLst/>
          </a:prstGeom>
        </p:spPr>
      </p:pic>
    </p:spTree>
    <p:extLst>
      <p:ext uri="{BB962C8B-B14F-4D97-AF65-F5344CB8AC3E}">
        <p14:creationId xmlns:p14="http://schemas.microsoft.com/office/powerpoint/2010/main" val="894238167"/>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B253-D366-6AC7-6EC6-3467BBA4AC5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EACF51-6C0D-AAF0-97A2-1D61E1878E7C}"/>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EXTRA.3 - Bend waveguide radius </a:t>
            </a:r>
            <a:br>
              <a:rPr lang="en-US" sz="2500" dirty="0"/>
            </a:br>
            <a:r>
              <a:rPr lang="en-US" dirty="0"/>
              <a:t>3. </a:t>
            </a:r>
            <a:r>
              <a:rPr lang="en-US" b="0" dirty="0"/>
              <a:t>Find the safe radius for this technology. Consider sweeping the radius in a 5um to 30um range. </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4F58A6F-E893-C84B-50ED-50E27C4DC6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D0AC85-066A-E825-DB4B-6104E5DCF634}"/>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C5A2601-310F-D2C2-25AE-E7A5F5E9E55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2DCB6B3-3A3C-1858-E0E7-10CB3195D67C}"/>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r>
              <a:rPr lang="es-ES" sz="1200" dirty="0">
                <a:latin typeface="Arial" panose="020B0604020202020204" pitchFamily="34" charset="0"/>
                <a:cs typeface="Arial" panose="020B0604020202020204" pitchFamily="34" charset="0"/>
              </a:rPr>
              <a:t>En este caso, al realizar un barrido del radio de curvatura (R) entre 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30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no se observan pérdidas totales superiores a 0.1 dB/90°, por lo que se puede considerar un radio seguro a partir de 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cuanto al índice efectivo, este tiende a 2.511 a medida que aumenta R, valor correspondiente al de la guía recta, ya que la guía a medida que se aumenta R se aproxima progresivamente a esta.</a:t>
            </a:r>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C9D037FD-73B4-43A9-F104-658A35532598}"/>
              </a:ext>
            </a:extLst>
          </p:cNvPr>
          <p:cNvPicPr>
            <a:picLocks noChangeAspect="1"/>
          </p:cNvPicPr>
          <p:nvPr/>
        </p:nvPicPr>
        <p:blipFill>
          <a:blip r:embed="rId5"/>
          <a:stretch>
            <a:fillRect/>
          </a:stretch>
        </p:blipFill>
        <p:spPr>
          <a:xfrm>
            <a:off x="1389697" y="1571670"/>
            <a:ext cx="3924300" cy="3057460"/>
          </a:xfrm>
          <a:prstGeom prst="rect">
            <a:avLst/>
          </a:prstGeom>
        </p:spPr>
      </p:pic>
      <p:pic>
        <p:nvPicPr>
          <p:cNvPr id="8" name="Imagen 7">
            <a:extLst>
              <a:ext uri="{FF2B5EF4-FFF2-40B4-BE49-F238E27FC236}">
                <a16:creationId xmlns:a16="http://schemas.microsoft.com/office/drawing/2014/main" id="{12023A00-8315-8679-AF53-7F0834878E82}"/>
              </a:ext>
            </a:extLst>
          </p:cNvPr>
          <p:cNvPicPr>
            <a:picLocks noChangeAspect="1"/>
          </p:cNvPicPr>
          <p:nvPr/>
        </p:nvPicPr>
        <p:blipFill>
          <a:blip r:embed="rId6"/>
          <a:stretch>
            <a:fillRect/>
          </a:stretch>
        </p:blipFill>
        <p:spPr>
          <a:xfrm>
            <a:off x="6969447" y="1520808"/>
            <a:ext cx="4195120" cy="3218852"/>
          </a:xfrm>
          <a:prstGeom prst="rect">
            <a:avLst/>
          </a:prstGeom>
        </p:spPr>
      </p:pic>
      <p:sp>
        <p:nvSpPr>
          <p:cNvPr id="9" name="Rectángulo 8">
            <a:extLst>
              <a:ext uri="{FF2B5EF4-FFF2-40B4-BE49-F238E27FC236}">
                <a16:creationId xmlns:a16="http://schemas.microsoft.com/office/drawing/2014/main" id="{BF1B392D-339F-B2E5-3746-0D3EC9259B0D}"/>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ángulo 9">
            <a:extLst>
              <a:ext uri="{FF2B5EF4-FFF2-40B4-BE49-F238E27FC236}">
                <a16:creationId xmlns:a16="http://schemas.microsoft.com/office/drawing/2014/main" id="{23BA1AB5-759C-50A0-873A-DF0F65647685}"/>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04989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93372-9B7F-3F8B-66BA-A27873B241D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5E49F78-BF77-6C19-547B-D0618B73E68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 - Comparative</a:t>
            </a:r>
            <a:br>
              <a:rPr lang="en-US" sz="2500" dirty="0"/>
            </a:br>
            <a:r>
              <a:rPr lang="es-ES" dirty="0"/>
              <a:t>4. </a:t>
            </a:r>
            <a:r>
              <a:rPr lang="es-ES" b="0" dirty="0"/>
              <a:t>Compare </a:t>
            </a:r>
            <a:r>
              <a:rPr lang="es-ES" b="0" dirty="0" err="1"/>
              <a:t>the</a:t>
            </a:r>
            <a:r>
              <a:rPr lang="es-ES" b="0" dirty="0"/>
              <a:t> </a:t>
            </a:r>
            <a:r>
              <a:rPr lang="es-ES" b="0" dirty="0" err="1"/>
              <a:t>SiNx</a:t>
            </a:r>
            <a:r>
              <a:rPr lang="es-ES" b="0" dirty="0"/>
              <a:t> and SOI </a:t>
            </a:r>
            <a:r>
              <a:rPr lang="es-ES" b="0" dirty="0" err="1"/>
              <a:t>technologies</a:t>
            </a:r>
            <a:br>
              <a:rPr lang="es-E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BF27F03-405A-B058-6A48-6D09BA87FA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C77210-3168-5AE1-488E-E190BB6C0E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9BAA289B-80F5-66DC-E4D9-D509FB485D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1E77402-20CB-B5B9-6221-36355FD8F679}"/>
              </a:ext>
            </a:extLst>
          </p:cNvPr>
          <p:cNvSpPr txBox="1"/>
          <p:nvPr/>
        </p:nvSpPr>
        <p:spPr>
          <a:xfrm>
            <a:off x="583019" y="3763089"/>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Se ha observado que para el silicio (Si) el índice efectivo es mayor que para el nitruro de silicio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debido a que el índice de refracción del material también es más alto. Esto provoca un mayor confinamiento del modo en el núcleo de la guía, lo que favorece que aparezcan más modos guiados. Como se ha visto en los apartados correspondientes, esto hace que las guías en Si tiendan a comportarse como multimodo con mayor facilidad, tanto al aumentar la anchura como la longitud de onda, en comparación con las guías de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otro lado, en el análisis del radio de curvatura se observa que las guías de Si presentan menores pérdidas por curvatura que las de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En concreto, el radio mínimo seguro es aproximadamente 5 µm para Si y 35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para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para mantener pérdidas inferiores a 0.1 dB/90°.</a:t>
            </a:r>
          </a:p>
          <a:p>
            <a:pPr algn="just"/>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Finalmente, se puede concluir que la tecnología Si permite circuitos más compactos y con mayor confinamiento modal, mientras que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presenta un confinamiento menor, pero permite el diseño de guías monomodo más anchas.</a:t>
            </a:r>
            <a:endParaRPr lang="en-US" sz="1200" dirty="0">
              <a:latin typeface="Arial" panose="020B0604020202020204" pitchFamily="34" charset="0"/>
              <a:cs typeface="Arial" panose="020B0604020202020204" pitchFamily="34" charset="0"/>
            </a:endParaRPr>
          </a:p>
        </p:txBody>
      </p:sp>
      <p:graphicFrame>
        <p:nvGraphicFramePr>
          <p:cNvPr id="4" name="Tabla 3">
            <a:extLst>
              <a:ext uri="{FF2B5EF4-FFF2-40B4-BE49-F238E27FC236}">
                <a16:creationId xmlns:a16="http://schemas.microsoft.com/office/drawing/2014/main" id="{2E1D3247-5AC5-EAF7-01C0-DF30A28971F0}"/>
              </a:ext>
            </a:extLst>
          </p:cNvPr>
          <p:cNvGraphicFramePr>
            <a:graphicFrameLocks noGrp="1"/>
          </p:cNvGraphicFramePr>
          <p:nvPr>
            <p:extLst>
              <p:ext uri="{D42A27DB-BD31-4B8C-83A1-F6EECF244321}">
                <p14:modId xmlns:p14="http://schemas.microsoft.com/office/powerpoint/2010/main" val="492976935"/>
              </p:ext>
            </p:extLst>
          </p:nvPr>
        </p:nvGraphicFramePr>
        <p:xfrm>
          <a:off x="1066801" y="1398032"/>
          <a:ext cx="9790905" cy="2164080"/>
        </p:xfrm>
        <a:graphic>
          <a:graphicData uri="http://schemas.openxmlformats.org/drawingml/2006/table">
            <a:tbl>
              <a:tblPr>
                <a:tableStyleId>{5940675A-B579-460E-94D1-54222C63F5DA}</a:tableStyleId>
              </a:tblPr>
              <a:tblGrid>
                <a:gridCol w="3263635">
                  <a:extLst>
                    <a:ext uri="{9D8B030D-6E8A-4147-A177-3AD203B41FA5}">
                      <a16:colId xmlns:a16="http://schemas.microsoft.com/office/drawing/2014/main" val="677883450"/>
                    </a:ext>
                  </a:extLst>
                </a:gridCol>
                <a:gridCol w="3263635">
                  <a:extLst>
                    <a:ext uri="{9D8B030D-6E8A-4147-A177-3AD203B41FA5}">
                      <a16:colId xmlns:a16="http://schemas.microsoft.com/office/drawing/2014/main" val="1732767699"/>
                    </a:ext>
                  </a:extLst>
                </a:gridCol>
                <a:gridCol w="3263635">
                  <a:extLst>
                    <a:ext uri="{9D8B030D-6E8A-4147-A177-3AD203B41FA5}">
                      <a16:colId xmlns:a16="http://schemas.microsoft.com/office/drawing/2014/main" val="1168453895"/>
                    </a:ext>
                  </a:extLst>
                </a:gridCol>
              </a:tblGrid>
              <a:tr h="290276">
                <a:tc>
                  <a:txBody>
                    <a:bodyPr/>
                    <a:lstStyle/>
                    <a:p>
                      <a:pPr algn="ctr">
                        <a:buNone/>
                      </a:pPr>
                      <a:r>
                        <a:rPr lang="es-ES" sz="1600" b="1" dirty="0"/>
                        <a:t>Característica</a:t>
                      </a:r>
                    </a:p>
                  </a:txBody>
                  <a:tcPr anchor="ctr">
                    <a:solidFill>
                      <a:schemeClr val="accent6"/>
                    </a:solidFill>
                  </a:tcPr>
                </a:tc>
                <a:tc>
                  <a:txBody>
                    <a:bodyPr/>
                    <a:lstStyle/>
                    <a:p>
                      <a:pPr algn="ctr">
                        <a:buNone/>
                      </a:pPr>
                      <a:r>
                        <a:rPr lang="es-ES" sz="1600" b="1" dirty="0" err="1"/>
                        <a:t>SiNx</a:t>
                      </a:r>
                      <a:endParaRPr lang="es-ES" sz="1600" b="1" dirty="0"/>
                    </a:p>
                  </a:txBody>
                  <a:tcPr anchor="ctr">
                    <a:solidFill>
                      <a:schemeClr val="accent6"/>
                    </a:solidFill>
                  </a:tcPr>
                </a:tc>
                <a:tc>
                  <a:txBody>
                    <a:bodyPr/>
                    <a:lstStyle/>
                    <a:p>
                      <a:pPr algn="ctr">
                        <a:buNone/>
                      </a:pPr>
                      <a:r>
                        <a:rPr lang="es-ES" sz="1600" b="1" dirty="0"/>
                        <a:t>Si</a:t>
                      </a:r>
                    </a:p>
                  </a:txBody>
                  <a:tcPr anchor="ctr">
                    <a:solidFill>
                      <a:schemeClr val="accent6"/>
                    </a:solidFill>
                  </a:tcPr>
                </a:tc>
                <a:extLst>
                  <a:ext uri="{0D108BD9-81ED-4DB2-BD59-A6C34878D82A}">
                    <a16:rowId xmlns:a16="http://schemas.microsoft.com/office/drawing/2014/main" val="2849035508"/>
                  </a:ext>
                </a:extLst>
              </a:tr>
              <a:tr h="280245">
                <a:tc>
                  <a:txBody>
                    <a:bodyPr/>
                    <a:lstStyle/>
                    <a:p>
                      <a:pPr>
                        <a:buNone/>
                      </a:pPr>
                      <a:r>
                        <a:rPr lang="es-ES" sz="1400" b="1" dirty="0"/>
                        <a:t>Comportamiento </a:t>
                      </a:r>
                      <a:r>
                        <a:rPr lang="es-ES" sz="1400" b="1" dirty="0" err="1"/>
                        <a:t>Shallow</a:t>
                      </a:r>
                      <a:endParaRPr lang="es-ES" sz="1400" dirty="0"/>
                    </a:p>
                  </a:txBody>
                  <a:tcPr anchor="ctr"/>
                </a:tc>
                <a:tc>
                  <a:txBody>
                    <a:bodyPr/>
                    <a:lstStyle/>
                    <a:p>
                      <a:pPr>
                        <a:buNone/>
                      </a:pPr>
                      <a:r>
                        <a:rPr lang="es-ES" sz="1400" dirty="0"/>
                        <a:t>Multimodo (TE0, TE1, TM0, TE2)</a:t>
                      </a:r>
                    </a:p>
                  </a:txBody>
                  <a:tcPr anchor="ctr"/>
                </a:tc>
                <a:tc>
                  <a:txBody>
                    <a:bodyPr/>
                    <a:lstStyle/>
                    <a:p>
                      <a:pPr>
                        <a:buNone/>
                      </a:pPr>
                      <a:r>
                        <a:rPr lang="nl-NL" sz="1400" dirty="0"/>
                        <a:t>Multimodo (TE0, TE1, TE2, TE3)</a:t>
                      </a:r>
                    </a:p>
                  </a:txBody>
                  <a:tcPr anchor="ctr"/>
                </a:tc>
                <a:extLst>
                  <a:ext uri="{0D108BD9-81ED-4DB2-BD59-A6C34878D82A}">
                    <a16:rowId xmlns:a16="http://schemas.microsoft.com/office/drawing/2014/main" val="711482399"/>
                  </a:ext>
                </a:extLst>
              </a:tr>
              <a:tr h="280245">
                <a:tc>
                  <a:txBody>
                    <a:bodyPr/>
                    <a:lstStyle/>
                    <a:p>
                      <a:pPr>
                        <a:buNone/>
                      </a:pPr>
                      <a:r>
                        <a:rPr lang="es-ES" sz="1400" b="1" dirty="0"/>
                        <a:t>Comportamiento Deep</a:t>
                      </a:r>
                      <a:endParaRPr lang="es-ES" sz="1400" dirty="0"/>
                    </a:p>
                  </a:txBody>
                  <a:tcPr anchor="ctr"/>
                </a:tc>
                <a:tc>
                  <a:txBody>
                    <a:bodyPr/>
                    <a:lstStyle/>
                    <a:p>
                      <a:pPr>
                        <a:buNone/>
                      </a:pPr>
                      <a:r>
                        <a:rPr lang="es-ES" sz="1400" dirty="0"/>
                        <a:t>Monomodo (TE0, TM0)</a:t>
                      </a:r>
                    </a:p>
                  </a:txBody>
                  <a:tcPr anchor="ctr"/>
                </a:tc>
                <a:tc>
                  <a:txBody>
                    <a:bodyPr/>
                    <a:lstStyle/>
                    <a:p>
                      <a:pPr>
                        <a:buNone/>
                      </a:pPr>
                      <a:r>
                        <a:rPr lang="es-ES" sz="1400" dirty="0"/>
                        <a:t>Multimodo (TE0, TM0, TE1)</a:t>
                      </a:r>
                    </a:p>
                  </a:txBody>
                  <a:tcPr anchor="ctr"/>
                </a:tc>
                <a:extLst>
                  <a:ext uri="{0D108BD9-81ED-4DB2-BD59-A6C34878D82A}">
                    <a16:rowId xmlns:a16="http://schemas.microsoft.com/office/drawing/2014/main" val="2796370370"/>
                  </a:ext>
                </a:extLst>
              </a:tr>
              <a:tr h="280245">
                <a:tc>
                  <a:txBody>
                    <a:bodyPr/>
                    <a:lstStyle/>
                    <a:p>
                      <a:pPr>
                        <a:buNone/>
                      </a:pPr>
                      <a:r>
                        <a:rPr lang="es-ES" sz="1400" b="1" dirty="0"/>
                        <a:t>Anchura límite monomodo (</a:t>
                      </a:r>
                      <a:r>
                        <a:rPr lang="el-GR" sz="1400" b="1" dirty="0"/>
                        <a:t>λ</a:t>
                      </a:r>
                      <a:r>
                        <a:rPr lang="es-ES" sz="1400" b="1" dirty="0"/>
                        <a:t> = 1550 nm)</a:t>
                      </a:r>
                      <a:endParaRPr lang="es-ES" sz="1400" dirty="0"/>
                    </a:p>
                  </a:txBody>
                  <a:tcPr anchor="ctr"/>
                </a:tc>
                <a:tc>
                  <a:txBody>
                    <a:bodyPr/>
                    <a:lstStyle/>
                    <a:p>
                      <a:pPr>
                        <a:buNone/>
                      </a:pPr>
                      <a:r>
                        <a:rPr lang="es-ES" sz="1400" dirty="0"/>
                        <a:t>≈ 1.27 </a:t>
                      </a:r>
                      <a:r>
                        <a:rPr lang="es-ES" sz="1400" dirty="0" err="1"/>
                        <a:t>um</a:t>
                      </a:r>
                      <a:endParaRPr lang="es-ES" sz="1400" dirty="0"/>
                    </a:p>
                  </a:txBody>
                  <a:tcPr anchor="ctr"/>
                </a:tc>
                <a:tc>
                  <a:txBody>
                    <a:bodyPr/>
                    <a:lstStyle/>
                    <a:p>
                      <a:pPr>
                        <a:buNone/>
                      </a:pPr>
                      <a:r>
                        <a:rPr lang="es-ES" sz="1400" dirty="0"/>
                        <a:t>≈ 0.45 </a:t>
                      </a:r>
                      <a:r>
                        <a:rPr lang="es-ES" sz="1400" dirty="0" err="1"/>
                        <a:t>um</a:t>
                      </a:r>
                      <a:r>
                        <a:rPr lang="es-ES" sz="1400" dirty="0"/>
                        <a:t> </a:t>
                      </a:r>
                    </a:p>
                  </a:txBody>
                  <a:tcPr anchor="ctr"/>
                </a:tc>
                <a:extLst>
                  <a:ext uri="{0D108BD9-81ED-4DB2-BD59-A6C34878D82A}">
                    <a16:rowId xmlns:a16="http://schemas.microsoft.com/office/drawing/2014/main" val="3035251470"/>
                  </a:ext>
                </a:extLst>
              </a:tr>
              <a:tr h="280245">
                <a:tc>
                  <a:txBody>
                    <a:bodyPr/>
                    <a:lstStyle/>
                    <a:p>
                      <a:pPr>
                        <a:buNone/>
                      </a:pPr>
                      <a:r>
                        <a:rPr lang="es-ES" sz="1400" b="1" dirty="0"/>
                        <a:t>Radio mínimo seguro (</a:t>
                      </a:r>
                      <a:r>
                        <a:rPr lang="el-GR" sz="1400" b="1" dirty="0"/>
                        <a:t>λ</a:t>
                      </a:r>
                      <a:r>
                        <a:rPr lang="es-ES" sz="1400" b="1" dirty="0"/>
                        <a:t> = 1550 nm)</a:t>
                      </a:r>
                      <a:endParaRPr lang="es-ES" sz="1400" dirty="0"/>
                    </a:p>
                  </a:txBody>
                  <a:tcPr anchor="ctr"/>
                </a:tc>
                <a:tc>
                  <a:txBody>
                    <a:bodyPr/>
                    <a:lstStyle/>
                    <a:p>
                      <a:pPr>
                        <a:buNone/>
                      </a:pPr>
                      <a:r>
                        <a:rPr lang="es-ES" sz="1400" dirty="0"/>
                        <a:t>≈ 35 </a:t>
                      </a:r>
                      <a:r>
                        <a:rPr lang="es-ES" sz="1400" dirty="0" err="1"/>
                        <a:t>um</a:t>
                      </a:r>
                      <a:endParaRPr lang="es-ES" sz="1400" dirty="0"/>
                    </a:p>
                  </a:txBody>
                  <a:tcPr anchor="ctr"/>
                </a:tc>
                <a:tc>
                  <a:txBody>
                    <a:bodyPr/>
                    <a:lstStyle/>
                    <a:p>
                      <a:pPr>
                        <a:buNone/>
                      </a:pPr>
                      <a:r>
                        <a:rPr lang="es-ES" sz="1400" dirty="0"/>
                        <a:t>≈ 5 </a:t>
                      </a:r>
                      <a:r>
                        <a:rPr lang="es-ES" sz="1400" dirty="0" err="1"/>
                        <a:t>um</a:t>
                      </a:r>
                      <a:endParaRPr lang="es-ES" sz="1400" dirty="0"/>
                    </a:p>
                  </a:txBody>
                  <a:tcPr anchor="ctr"/>
                </a:tc>
                <a:extLst>
                  <a:ext uri="{0D108BD9-81ED-4DB2-BD59-A6C34878D82A}">
                    <a16:rowId xmlns:a16="http://schemas.microsoft.com/office/drawing/2014/main" val="1792469843"/>
                  </a:ext>
                </a:extLst>
              </a:tr>
              <a:tr h="280245">
                <a:tc>
                  <a:txBody>
                    <a:bodyPr/>
                    <a:lstStyle/>
                    <a:p>
                      <a:pPr>
                        <a:buNone/>
                      </a:pPr>
                      <a:r>
                        <a:rPr lang="es-ES" sz="1400" b="1" dirty="0"/>
                        <a:t>Índice efectivo (guía recta, </a:t>
                      </a:r>
                      <a:r>
                        <a:rPr lang="el-GR" sz="1400" b="1" dirty="0"/>
                        <a:t>λ</a:t>
                      </a:r>
                      <a:r>
                        <a:rPr lang="es-ES" sz="1400" b="1" dirty="0"/>
                        <a:t> = 1550 nm)</a:t>
                      </a:r>
                      <a:endParaRPr lang="es-ES" sz="1400" dirty="0"/>
                    </a:p>
                  </a:txBody>
                  <a:tcPr anchor="ctr"/>
                </a:tc>
                <a:tc>
                  <a:txBody>
                    <a:bodyPr/>
                    <a:lstStyle/>
                    <a:p>
                      <a:pPr>
                        <a:buNone/>
                      </a:pPr>
                      <a:r>
                        <a:rPr lang="es-ES" sz="1400"/>
                        <a:t>≈ 1.605</a:t>
                      </a:r>
                    </a:p>
                  </a:txBody>
                  <a:tcPr anchor="ctr"/>
                </a:tc>
                <a:tc>
                  <a:txBody>
                    <a:bodyPr/>
                    <a:lstStyle/>
                    <a:p>
                      <a:pPr>
                        <a:buNone/>
                      </a:pPr>
                      <a:r>
                        <a:rPr lang="es-ES" sz="1400" dirty="0"/>
                        <a:t>≈ 2.511</a:t>
                      </a:r>
                    </a:p>
                  </a:txBody>
                  <a:tcPr anchor="ctr"/>
                </a:tc>
                <a:extLst>
                  <a:ext uri="{0D108BD9-81ED-4DB2-BD59-A6C34878D82A}">
                    <a16:rowId xmlns:a16="http://schemas.microsoft.com/office/drawing/2014/main" val="876476467"/>
                  </a:ext>
                </a:extLst>
              </a:tr>
              <a:tr h="280245">
                <a:tc>
                  <a:txBody>
                    <a:bodyPr/>
                    <a:lstStyle/>
                    <a:p>
                      <a:pPr>
                        <a:buNone/>
                      </a:pPr>
                      <a:r>
                        <a:rPr lang="es-ES" sz="1400" b="1" dirty="0"/>
                        <a:t>Confinamiento del modo</a:t>
                      </a:r>
                      <a:endParaRPr lang="es-ES" sz="1400" dirty="0"/>
                    </a:p>
                  </a:txBody>
                  <a:tcPr anchor="ctr"/>
                </a:tc>
                <a:tc>
                  <a:txBody>
                    <a:bodyPr/>
                    <a:lstStyle/>
                    <a:p>
                      <a:pPr>
                        <a:buNone/>
                      </a:pPr>
                      <a:r>
                        <a:rPr lang="es-ES" sz="1400"/>
                        <a:t>Menor</a:t>
                      </a:r>
                    </a:p>
                  </a:txBody>
                  <a:tcPr anchor="ctr"/>
                </a:tc>
                <a:tc>
                  <a:txBody>
                    <a:bodyPr/>
                    <a:lstStyle/>
                    <a:p>
                      <a:pPr>
                        <a:buNone/>
                      </a:pPr>
                      <a:r>
                        <a:rPr lang="es-ES" sz="1400" dirty="0"/>
                        <a:t>Mayor</a:t>
                      </a:r>
                    </a:p>
                  </a:txBody>
                  <a:tcPr anchor="ctr"/>
                </a:tc>
                <a:extLst>
                  <a:ext uri="{0D108BD9-81ED-4DB2-BD59-A6C34878D82A}">
                    <a16:rowId xmlns:a16="http://schemas.microsoft.com/office/drawing/2014/main" val="1705402037"/>
                  </a:ext>
                </a:extLst>
              </a:tr>
            </a:tbl>
          </a:graphicData>
        </a:graphic>
      </p:graphicFrame>
    </p:spTree>
    <p:extLst>
      <p:ext uri="{BB962C8B-B14F-4D97-AF65-F5344CB8AC3E}">
        <p14:creationId xmlns:p14="http://schemas.microsoft.com/office/powerpoint/2010/main" val="3164561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3025</TotalTime>
  <Words>2000</Words>
  <Application>Microsoft Office PowerPoint</Application>
  <PresentationFormat>Panorámica</PresentationFormat>
  <Paragraphs>147</Paragraphs>
  <Slides>14</Slides>
  <Notes>11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14</vt:i4>
      </vt:variant>
    </vt:vector>
  </HeadingPairs>
  <TitlesOfParts>
    <vt:vector size="21"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#1.1 – Materials </vt:lpstr>
      <vt:lpstr>Learning outcome #1.2 – Cross - Section </vt:lpstr>
      <vt:lpstr>Learning outcome #1.3 – Simulations</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 EXTRA.1 - Wavelength behavior Now, Simulate the Silicon-On-Insulator technology changing the core material to Silicon (Si). In this case, the dimensions will be 220 nm heigth and 500 nm width.  1. Repeat the LO.2. wavelength behavior simulations, considering the updated materials and dimensions.    </vt:lpstr>
      <vt:lpstr># EXTRA.2 - Width dependence 2. Repeat the LO.3. width dependence analysis, now sweeping in a 300nm - 1um range.    </vt:lpstr>
      <vt:lpstr># EXTRA.3 - Bend waveguide radius  3. Find the safe radius for this technology. Consider sweeping the radius in a 5um to 30um range.  </vt:lpstr>
      <vt:lpstr># EXTRA - Comparative 4. Compare the SiNx and SOI technologies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Javier Llacer Noha</cp:lastModifiedBy>
  <cp:revision>29</cp:revision>
  <dcterms:created xsi:type="dcterms:W3CDTF">2025-01-27T02:46:57Z</dcterms:created>
  <dcterms:modified xsi:type="dcterms:W3CDTF">2026-03-08T18:14:16Z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
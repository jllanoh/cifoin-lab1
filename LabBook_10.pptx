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16"/>
  </p:notesMasterIdLst>
  <p:handoutMasterIdLst>
    <p:handoutMasterId r:id="rId17"/>
  </p:handoutMasterIdLst>
  <p:sldIdLst>
    <p:sldId id="256" r:id="rId2"/>
    <p:sldId id="295" r:id="rId3"/>
    <p:sldId id="298" r:id="rId4"/>
    <p:sldId id="299" r:id="rId5"/>
    <p:sldId id="300" r:id="rId6"/>
    <p:sldId id="291" r:id="rId7"/>
    <p:sldId id="292" r:id="rId8"/>
    <p:sldId id="297" r:id="rId9"/>
    <p:sldId id="293" r:id="rId10"/>
    <p:sldId id="301" r:id="rId11"/>
    <p:sldId id="302" r:id="rId12"/>
    <p:sldId id="303" r:id="rId13"/>
    <p:sldId id="304" r:id="rId14"/>
    <p:sldId id="288" r:id="rId15"/>
  </p:sldIdLst>
  <p:sldSz cx="12192000" cy="6858000"/>
  <p:notesSz cx="12192000" cy="6858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74DEC91-EE70-822B-0F23-319E662BA817}" name="Javier Llacer Noha" initials="JL" userId="S::JLLANOH@upv.edu.es::201d6fc8-240d-41eb-b5e8-7df2b4e8cdc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16D9F66E-5EB9-4882-86FB-DCBF35E3C3E4}" styleName="Estilo medio 4 - Énfasis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5940675A-B579-460E-94D1-54222C63F5DA}" styleName="Sin estilo, cuadrícula de la tab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5033" autoAdjust="0"/>
  </p:normalViewPr>
  <p:slideViewPr>
    <p:cSldViewPr>
      <p:cViewPr varScale="1">
        <p:scale>
          <a:sx n="74" d="100"/>
          <a:sy n="74" d="100"/>
        </p:scale>
        <p:origin x="376" y="56"/>
      </p:cViewPr>
      <p:guideLst>
        <p:guide orient="horz" pos="2880"/>
        <p:guide pos="2160"/>
      </p:guideLst>
    </p:cSldViewPr>
  </p:slideViewPr>
  <p:notesTextViewPr>
    <p:cViewPr>
      <p:scale>
        <a:sx n="100" d="100"/>
        <a:sy n="100" d="100"/>
      </p:scale>
      <p:origin x="0" y="0"/>
    </p:cViewPr>
  </p:notesTextViewPr>
  <p:notesViewPr>
    <p:cSldViewPr>
      <p:cViewPr varScale="1">
        <p:scale>
          <a:sx n="83" d="100"/>
          <a:sy n="83" d="100"/>
        </p:scale>
        <p:origin x="1392" y="6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ADD96E76-517F-B468-04D8-38EFA44947EB}"/>
              </a:ext>
            </a:extLst>
          </p:cNvPr>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a:extLst>
              <a:ext uri="{FF2B5EF4-FFF2-40B4-BE49-F238E27FC236}">
                <a16:creationId xmlns:a16="http://schemas.microsoft.com/office/drawing/2014/main" id="{8678D0B9-782A-7C16-D731-EEB7F991FA76}"/>
              </a:ext>
            </a:extLst>
          </p:cNvPr>
          <p:cNvSpPr>
            <a:spLocks noGrp="1"/>
          </p:cNvSpPr>
          <p:nvPr>
            <p:ph type="dt" sz="quarter" idx="1"/>
          </p:nvPr>
        </p:nvSpPr>
        <p:spPr>
          <a:xfrm>
            <a:off x="6905625" y="0"/>
            <a:ext cx="5283200" cy="344488"/>
          </a:xfrm>
          <a:prstGeom prst="rect">
            <a:avLst/>
          </a:prstGeom>
        </p:spPr>
        <p:txBody>
          <a:bodyPr vert="horz" lIns="91440" tIns="45720" rIns="91440" bIns="45720" rtlCol="0"/>
          <a:lstStyle>
            <a:lvl1pPr algn="r">
              <a:defRPr sz="1200"/>
            </a:lvl1pPr>
          </a:lstStyle>
          <a:p>
            <a:fld id="{8438F8DC-35B0-48E6-A86E-42F1F08DD00F}" type="datetimeFigureOut">
              <a:rPr lang="es-ES" smtClean="0"/>
              <a:t>12/03/2026</a:t>
            </a:fld>
            <a:endParaRPr lang="es-ES"/>
          </a:p>
        </p:txBody>
      </p:sp>
      <p:sp>
        <p:nvSpPr>
          <p:cNvPr id="4" name="Marcador de pie de página 3">
            <a:extLst>
              <a:ext uri="{FF2B5EF4-FFF2-40B4-BE49-F238E27FC236}">
                <a16:creationId xmlns:a16="http://schemas.microsoft.com/office/drawing/2014/main" id="{2F2E7B1C-60E2-8A48-EEE0-6715FC30A8B7}"/>
              </a:ext>
            </a:extLst>
          </p:cNvPr>
          <p:cNvSpPr>
            <a:spLocks noGrp="1"/>
          </p:cNvSpPr>
          <p:nvPr>
            <p:ph type="ftr" sz="quarter" idx="2"/>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a:extLst>
              <a:ext uri="{FF2B5EF4-FFF2-40B4-BE49-F238E27FC236}">
                <a16:creationId xmlns:a16="http://schemas.microsoft.com/office/drawing/2014/main" id="{C428D795-4EA2-62F0-B78A-5F215C828C50}"/>
              </a:ext>
            </a:extLst>
          </p:cNvPr>
          <p:cNvSpPr>
            <a:spLocks noGrp="1"/>
          </p:cNvSpPr>
          <p:nvPr>
            <p:ph type="sldNum" sz="quarter" idx="3"/>
          </p:nvPr>
        </p:nvSpPr>
        <p:spPr>
          <a:xfrm>
            <a:off x="6905625" y="6513513"/>
            <a:ext cx="5283200" cy="344487"/>
          </a:xfrm>
          <a:prstGeom prst="rect">
            <a:avLst/>
          </a:prstGeom>
        </p:spPr>
        <p:txBody>
          <a:bodyPr vert="horz" lIns="91440" tIns="45720" rIns="91440" bIns="45720" rtlCol="0" anchor="b"/>
          <a:lstStyle>
            <a:lvl1pPr algn="r">
              <a:defRPr sz="1200"/>
            </a:lvl1pPr>
          </a:lstStyle>
          <a:p>
            <a:fld id="{4116A549-763A-4A89-A454-A94BAF51395E}" type="slidenum">
              <a:rPr lang="es-ES" smtClean="0"/>
              <a:t>‹Nº›</a:t>
            </a:fld>
            <a:endParaRPr lang="es-ES"/>
          </a:p>
        </p:txBody>
      </p:sp>
    </p:spTree>
    <p:extLst>
      <p:ext uri="{BB962C8B-B14F-4D97-AF65-F5344CB8AC3E}">
        <p14:creationId xmlns:p14="http://schemas.microsoft.com/office/powerpoint/2010/main" val="14034777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FACBDC12-F39B-4B97-8F4D-6734F9D366FF}" type="datetimeFigureOut">
              <a:rPr lang="es-ES" smtClean="0"/>
              <a:t>12/03/2026</a:t>
            </a:fld>
            <a:endParaRPr lang="es-ES"/>
          </a:p>
        </p:txBody>
      </p:sp>
      <p:sp>
        <p:nvSpPr>
          <p:cNvPr id="4" name="Marcador de imagen de diapositiva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676223B9-C868-4436-87D9-1A3152E1157A}" type="slidenum">
              <a:rPr lang="es-ES" smtClean="0"/>
              <a:t>‹Nº›</a:t>
            </a:fld>
            <a:endParaRPr lang="es-ES"/>
          </a:p>
        </p:txBody>
      </p:sp>
    </p:spTree>
    <p:extLst>
      <p:ext uri="{BB962C8B-B14F-4D97-AF65-F5344CB8AC3E}">
        <p14:creationId xmlns:p14="http://schemas.microsoft.com/office/powerpoint/2010/main" val="28342111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A9C5B3-0915-7A78-7FAC-C15D96CE165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CDAD810-8C16-5834-5A90-698B9E87F8E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61CC14A-BDC0-B607-9DF0-6DD39DE6952F}"/>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D972BBC2-8BCA-F6E7-CE66-D116438B1EFC}"/>
              </a:ext>
            </a:extLst>
          </p:cNvPr>
          <p:cNvSpPr>
            <a:spLocks noGrp="1"/>
          </p:cNvSpPr>
          <p:nvPr>
            <p:ph type="sldNum" sz="quarter" idx="5"/>
          </p:nvPr>
        </p:nvSpPr>
        <p:spPr/>
        <p:txBody>
          <a:bodyPr/>
          <a:lstStyle/>
          <a:p>
            <a:fld id="{676223B9-C868-4436-87D9-1A3152E1157A}" type="slidenum">
              <a:rPr lang="es-ES" smtClean="0"/>
              <a:t>3</a:t>
            </a:fld>
            <a:endParaRPr lang="es-ES"/>
          </a:p>
        </p:txBody>
      </p:sp>
    </p:spTree>
    <p:extLst>
      <p:ext uri="{BB962C8B-B14F-4D97-AF65-F5344CB8AC3E}">
        <p14:creationId xmlns:p14="http://schemas.microsoft.com/office/powerpoint/2010/main" val="36142408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92D980-1208-E4A8-CCA6-A3A30DB9521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9B70B63-DB26-3C65-D2DC-37832B149D5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5344385-6CA9-AAE1-82C4-4CA008C44DAF}"/>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BF4093E9-54CF-5F22-CAFB-3FA67D4846B4}"/>
              </a:ext>
            </a:extLst>
          </p:cNvPr>
          <p:cNvSpPr>
            <a:spLocks noGrp="1"/>
          </p:cNvSpPr>
          <p:nvPr>
            <p:ph type="sldNum" sz="quarter" idx="5"/>
          </p:nvPr>
        </p:nvSpPr>
        <p:spPr/>
        <p:txBody>
          <a:bodyPr/>
          <a:lstStyle/>
          <a:p>
            <a:fld id="{676223B9-C868-4436-87D9-1A3152E1157A}" type="slidenum">
              <a:rPr lang="es-ES" smtClean="0"/>
              <a:t>4</a:t>
            </a:fld>
            <a:endParaRPr lang="es-ES"/>
          </a:p>
        </p:txBody>
      </p:sp>
    </p:spTree>
    <p:extLst>
      <p:ext uri="{BB962C8B-B14F-4D97-AF65-F5344CB8AC3E}">
        <p14:creationId xmlns:p14="http://schemas.microsoft.com/office/powerpoint/2010/main" val="28224860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F49BFC-AC4D-984C-19F8-635271A11CA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85DDD09-3D26-A60C-41C3-EEBC7F4CA84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C956AC0-CE8C-CFA4-59D3-6C8108D90A3D}"/>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F312FED4-2F26-2267-9C84-B1241D8F624F}"/>
              </a:ext>
            </a:extLst>
          </p:cNvPr>
          <p:cNvSpPr>
            <a:spLocks noGrp="1"/>
          </p:cNvSpPr>
          <p:nvPr>
            <p:ph type="sldNum" sz="quarter" idx="5"/>
          </p:nvPr>
        </p:nvSpPr>
        <p:spPr/>
        <p:txBody>
          <a:bodyPr/>
          <a:lstStyle/>
          <a:p>
            <a:fld id="{676223B9-C868-4436-87D9-1A3152E1157A}" type="slidenum">
              <a:rPr lang="es-ES" smtClean="0"/>
              <a:t>5</a:t>
            </a:fld>
            <a:endParaRPr lang="es-ES"/>
          </a:p>
        </p:txBody>
      </p:sp>
    </p:spTree>
    <p:extLst>
      <p:ext uri="{BB962C8B-B14F-4D97-AF65-F5344CB8AC3E}">
        <p14:creationId xmlns:p14="http://schemas.microsoft.com/office/powerpoint/2010/main" val="24513775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C5711-C157-AA5E-1EA1-9F4C3F40B90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FA117F6-F66D-FFD4-422F-EBD94B31F3F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2B512FE-9F6C-4ABD-23FA-CA518B458D1F}"/>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9624E7A5-CBFC-658B-8E88-8AF8084D5BC4}"/>
              </a:ext>
            </a:extLst>
          </p:cNvPr>
          <p:cNvSpPr>
            <a:spLocks noGrp="1"/>
          </p:cNvSpPr>
          <p:nvPr>
            <p:ph type="sldNum" sz="quarter" idx="5"/>
          </p:nvPr>
        </p:nvSpPr>
        <p:spPr/>
        <p:txBody>
          <a:bodyPr/>
          <a:lstStyle/>
          <a:p>
            <a:fld id="{676223B9-C868-4436-87D9-1A3152E1157A}" type="slidenum">
              <a:rPr lang="es-ES" smtClean="0"/>
              <a:t>6</a:t>
            </a:fld>
            <a:endParaRPr lang="es-ES"/>
          </a:p>
        </p:txBody>
      </p:sp>
    </p:spTree>
    <p:extLst>
      <p:ext uri="{BB962C8B-B14F-4D97-AF65-F5344CB8AC3E}">
        <p14:creationId xmlns:p14="http://schemas.microsoft.com/office/powerpoint/2010/main" val="18329614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93BBE-3704-D894-1C10-5488EE611F0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9BB04E2-F70F-42F7-9964-3D274C49FB9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664AEC-7D1D-9DDC-3B94-3AE8450C7E5E}"/>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E8F62EEB-2D30-2026-D252-4267AF688251}"/>
              </a:ext>
            </a:extLst>
          </p:cNvPr>
          <p:cNvSpPr>
            <a:spLocks noGrp="1"/>
          </p:cNvSpPr>
          <p:nvPr>
            <p:ph type="sldNum" sz="quarter" idx="5"/>
          </p:nvPr>
        </p:nvSpPr>
        <p:spPr/>
        <p:txBody>
          <a:bodyPr/>
          <a:lstStyle/>
          <a:p>
            <a:fld id="{676223B9-C868-4436-87D9-1A3152E1157A}" type="slidenum">
              <a:rPr lang="es-ES" smtClean="0"/>
              <a:t>7</a:t>
            </a:fld>
            <a:endParaRPr lang="es-ES"/>
          </a:p>
        </p:txBody>
      </p:sp>
    </p:spTree>
    <p:extLst>
      <p:ext uri="{BB962C8B-B14F-4D97-AF65-F5344CB8AC3E}">
        <p14:creationId xmlns:p14="http://schemas.microsoft.com/office/powerpoint/2010/main" val="41160790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9AA65-166B-474B-A6C9-9858D86A944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8158223-A8BA-05F6-464C-EC03A9FB8C5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ECB4DF-C329-8F47-9ECE-661B5B2BF9AC}"/>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041B2276-A4E2-DFBF-0088-6997E86C9FE1}"/>
              </a:ext>
            </a:extLst>
          </p:cNvPr>
          <p:cNvSpPr>
            <a:spLocks noGrp="1"/>
          </p:cNvSpPr>
          <p:nvPr>
            <p:ph type="sldNum" sz="quarter" idx="5"/>
          </p:nvPr>
        </p:nvSpPr>
        <p:spPr/>
        <p:txBody>
          <a:bodyPr/>
          <a:lstStyle/>
          <a:p>
            <a:fld id="{676223B9-C868-4436-87D9-1A3152E1157A}" type="slidenum">
              <a:rPr lang="es-ES" smtClean="0"/>
              <a:t>8</a:t>
            </a:fld>
            <a:endParaRPr lang="es-ES"/>
          </a:p>
        </p:txBody>
      </p:sp>
    </p:spTree>
    <p:extLst>
      <p:ext uri="{BB962C8B-B14F-4D97-AF65-F5344CB8AC3E}">
        <p14:creationId xmlns:p14="http://schemas.microsoft.com/office/powerpoint/2010/main" val="23623159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023B86-D15F-9CD8-C5EA-3EAAD8BACCF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C73881A-26A5-ECF9-C6F2-3DEFA77AEFC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B7AFC79-4973-3930-959B-AEF8810CFE6A}"/>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8345D0F3-6273-0338-FCDA-175B73D7C9EB}"/>
              </a:ext>
            </a:extLst>
          </p:cNvPr>
          <p:cNvSpPr>
            <a:spLocks noGrp="1"/>
          </p:cNvSpPr>
          <p:nvPr>
            <p:ph type="sldNum" sz="quarter" idx="5"/>
          </p:nvPr>
        </p:nvSpPr>
        <p:spPr/>
        <p:txBody>
          <a:bodyPr/>
          <a:lstStyle/>
          <a:p>
            <a:fld id="{676223B9-C868-4436-87D9-1A3152E1157A}" type="slidenum">
              <a:rPr lang="es-ES" smtClean="0"/>
              <a:t>9</a:t>
            </a:fld>
            <a:endParaRPr lang="es-ES"/>
          </a:p>
        </p:txBody>
      </p:sp>
    </p:spTree>
    <p:extLst>
      <p:ext uri="{BB962C8B-B14F-4D97-AF65-F5344CB8AC3E}">
        <p14:creationId xmlns:p14="http://schemas.microsoft.com/office/powerpoint/2010/main" val="29173827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F372A6-6C95-E4D4-BF5C-B643A29942B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CA5B3AE-FFEA-66C4-12E9-861082361B6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71FF9E9-532D-BE68-1E4F-4E86497D4B08}"/>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D024E5AF-CFAF-AABF-8D97-2F2BE50E7C80}"/>
              </a:ext>
            </a:extLst>
          </p:cNvPr>
          <p:cNvSpPr>
            <a:spLocks noGrp="1"/>
          </p:cNvSpPr>
          <p:nvPr>
            <p:ph type="sldNum" sz="quarter" idx="5"/>
          </p:nvPr>
        </p:nvSpPr>
        <p:spPr/>
        <p:txBody>
          <a:bodyPr/>
          <a:lstStyle/>
          <a:p>
            <a:fld id="{676223B9-C868-4436-87D9-1A3152E1157A}" type="slidenum">
              <a:rPr lang="es-ES" smtClean="0"/>
              <a:t>10</a:t>
            </a:fld>
            <a:endParaRPr lang="es-ES"/>
          </a:p>
        </p:txBody>
      </p:sp>
    </p:spTree>
    <p:extLst>
      <p:ext uri="{BB962C8B-B14F-4D97-AF65-F5344CB8AC3E}">
        <p14:creationId xmlns:p14="http://schemas.microsoft.com/office/powerpoint/2010/main" val="20066422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C2C07F-E18C-9CA1-2FE6-7E5EB7B80A6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7BA0930-6213-7538-A132-6A680272188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38A00DA-25FA-4704-3696-91386D808040}"/>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78998A66-5D98-A9ED-6975-5A39135A37B3}"/>
              </a:ext>
            </a:extLst>
          </p:cNvPr>
          <p:cNvSpPr>
            <a:spLocks noGrp="1"/>
          </p:cNvSpPr>
          <p:nvPr>
            <p:ph type="sldNum" sz="quarter" idx="5"/>
          </p:nvPr>
        </p:nvSpPr>
        <p:spPr/>
        <p:txBody>
          <a:bodyPr/>
          <a:lstStyle/>
          <a:p>
            <a:fld id="{676223B9-C868-4436-87D9-1A3152E1157A}" type="slidenum">
              <a:rPr lang="es-ES" smtClean="0"/>
              <a:t>11</a:t>
            </a:fld>
            <a:endParaRPr lang="es-ES"/>
          </a:p>
        </p:txBody>
      </p:sp>
    </p:spTree>
    <p:extLst>
      <p:ext uri="{BB962C8B-B14F-4D97-AF65-F5344CB8AC3E}">
        <p14:creationId xmlns:p14="http://schemas.microsoft.com/office/powerpoint/2010/main" val="7374306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FF2CC8-05DB-4691-975B-5CB4F6F7222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E0BA263-33B5-7053-6336-32E95591781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C1ACDD5-0C09-CF66-497D-1725738EE0DF}"/>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89F05E02-6563-E17B-67B8-CBA0BE8A22D0}"/>
              </a:ext>
            </a:extLst>
          </p:cNvPr>
          <p:cNvSpPr>
            <a:spLocks noGrp="1"/>
          </p:cNvSpPr>
          <p:nvPr>
            <p:ph type="sldNum" sz="quarter" idx="5"/>
          </p:nvPr>
        </p:nvSpPr>
        <p:spPr/>
        <p:txBody>
          <a:bodyPr/>
          <a:lstStyle/>
          <a:p>
            <a:fld id="{676223B9-C868-4436-87D9-1A3152E1157A}" type="slidenum">
              <a:rPr lang="es-ES" smtClean="0"/>
              <a:t>12</a:t>
            </a:fld>
            <a:endParaRPr lang="es-ES"/>
          </a:p>
        </p:txBody>
      </p:sp>
    </p:spTree>
    <p:extLst>
      <p:ext uri="{BB962C8B-B14F-4D97-AF65-F5344CB8AC3E}">
        <p14:creationId xmlns:p14="http://schemas.microsoft.com/office/powerpoint/2010/main" val="30720017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8F883C-2214-83DE-A46F-0B4499EEAD7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644840D-1C40-39C0-A29B-92A9DEDB14B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E00F841-88B5-28D2-B8AD-7572489A8563}"/>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CD20CB20-0871-B81E-C209-7CB477169152}"/>
              </a:ext>
            </a:extLst>
          </p:cNvPr>
          <p:cNvSpPr>
            <a:spLocks noGrp="1"/>
          </p:cNvSpPr>
          <p:nvPr>
            <p:ph type="sldNum" sz="quarter" idx="5"/>
          </p:nvPr>
        </p:nvSpPr>
        <p:spPr/>
        <p:txBody>
          <a:bodyPr/>
          <a:lstStyle/>
          <a:p>
            <a:fld id="{676223B9-C868-4436-87D9-1A3152E1157A}" type="slidenum">
              <a:rPr lang="es-ES" smtClean="0"/>
              <a:t>13</a:t>
            </a:fld>
            <a:endParaRPr lang="es-ES"/>
          </a:p>
        </p:txBody>
      </p:sp>
    </p:spTree>
    <p:extLst>
      <p:ext uri="{BB962C8B-B14F-4D97-AF65-F5344CB8AC3E}">
        <p14:creationId xmlns:p14="http://schemas.microsoft.com/office/powerpoint/2010/main" val="29416259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1.0 WAVEGUIDES</a:t>
            </a:r>
            <a:endParaRPr spc="-5"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590550" y="206752"/>
            <a:ext cx="10991850" cy="307777"/>
          </a:xfrm>
        </p:spPr>
        <p:txBody>
          <a:bodyPr lIns="0" tIns="0" rIns="0" bIns="0"/>
          <a:lstStyle>
            <a:lvl1pPr>
              <a:defRPr sz="2000" b="1" i="0">
                <a:solidFill>
                  <a:schemeClr val="tx1"/>
                </a:solidFill>
                <a:latin typeface="Calibri"/>
                <a:cs typeface="Calibri"/>
              </a:defRPr>
            </a:lvl1pPr>
          </a:lstStyle>
          <a:p>
            <a:endParaRPr dirty="0"/>
          </a:p>
        </p:txBody>
      </p:sp>
      <p:sp>
        <p:nvSpPr>
          <p:cNvPr id="3" name="Holder 3"/>
          <p:cNvSpPr>
            <a:spLocks noGrp="1"/>
          </p:cNvSpPr>
          <p:nvPr>
            <p:ph type="body" idx="1"/>
          </p:nvPr>
        </p:nvSpPr>
        <p:spPr>
          <a:xfrm>
            <a:off x="609600" y="2152910"/>
            <a:ext cx="10972800" cy="3950710"/>
          </a:xfrm>
        </p:spPr>
        <p:txBody>
          <a:bodyPr lIns="0" tIns="0" rIns="0" bIns="0"/>
          <a:lstStyle>
            <a:lvl1pPr>
              <a:defRPr/>
            </a:lvl1pPr>
          </a:lstStyle>
          <a:p>
            <a:endParaRPr dirty="0"/>
          </a:p>
        </p:txBody>
      </p:sp>
      <p:sp>
        <p:nvSpPr>
          <p:cNvPr id="4" name="Holder 4"/>
          <p:cNvSpPr>
            <a:spLocks noGrp="1"/>
          </p:cNvSpPr>
          <p:nvPr>
            <p:ph type="ftr" sz="quarter" idx="5"/>
          </p:nvPr>
        </p:nvSpPr>
        <p:spPr>
          <a:xfrm>
            <a:off x="609600" y="6457057"/>
            <a:ext cx="2743200" cy="184666"/>
          </a:xfrm>
        </p:spPr>
        <p:txBody>
          <a:bodyPr lIns="0" tIns="0" rIns="0" bIns="0" anchor="ctr"/>
          <a:lstStyle>
            <a:lvl1pPr>
              <a:defRPr sz="1200" b="0" i="0">
                <a:solidFill>
                  <a:srgbClr val="585858"/>
                </a:solidFill>
                <a:latin typeface="Arial"/>
                <a:cs typeface="Arial"/>
              </a:defRPr>
            </a:lvl1pPr>
          </a:lstStyle>
          <a:p>
            <a:pPr marL="12700">
              <a:spcBef>
                <a:spcPts val="15"/>
              </a:spcBef>
            </a:pPr>
            <a:r>
              <a:rPr lang="es-ES" spc="-5"/>
              <a:t>LAB 1.0 WAVEGUIDES</a:t>
            </a:r>
            <a:endParaRPr lang="es-ES" spc="-5" dirty="0"/>
          </a:p>
        </p:txBody>
      </p:sp>
      <p:sp>
        <p:nvSpPr>
          <p:cNvPr id="6" name="Holder 6"/>
          <p:cNvSpPr>
            <a:spLocks noGrp="1"/>
          </p:cNvSpPr>
          <p:nvPr>
            <p:ph type="sldNum" sz="quarter" idx="7"/>
          </p:nvPr>
        </p:nvSpPr>
        <p:spPr>
          <a:xfrm>
            <a:off x="931164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1.0 WAVEGUIDES</a:t>
            </a:r>
            <a:endParaRPr spc="-5" dirty="0"/>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2636520"/>
            <a:ext cx="3944620" cy="1584960"/>
          </a:xfrm>
          <a:custGeom>
            <a:avLst/>
            <a:gdLst/>
            <a:ahLst/>
            <a:cxnLst/>
            <a:rect l="l" t="t" r="r" b="b"/>
            <a:pathLst>
              <a:path w="3944620" h="1584960">
                <a:moveTo>
                  <a:pt x="0" y="1584959"/>
                </a:moveTo>
                <a:lnTo>
                  <a:pt x="3944112" y="1584959"/>
                </a:lnTo>
                <a:lnTo>
                  <a:pt x="3944112" y="0"/>
                </a:lnTo>
                <a:lnTo>
                  <a:pt x="0" y="0"/>
                </a:lnTo>
                <a:lnTo>
                  <a:pt x="0" y="1584959"/>
                </a:lnTo>
                <a:close/>
              </a:path>
            </a:pathLst>
          </a:custGeom>
          <a:solidFill>
            <a:srgbClr val="000000"/>
          </a:solidFill>
        </p:spPr>
        <p:txBody>
          <a:bodyPr wrap="square" lIns="0" tIns="0" rIns="0" bIns="0" rtlCol="0"/>
          <a:lstStyle/>
          <a:p>
            <a:endParaRPr/>
          </a:p>
        </p:txBody>
      </p:sp>
      <p:sp>
        <p:nvSpPr>
          <p:cNvPr id="17" name="bk object 17"/>
          <p:cNvSpPr/>
          <p:nvPr/>
        </p:nvSpPr>
        <p:spPr>
          <a:xfrm>
            <a:off x="771144" y="2951988"/>
            <a:ext cx="2403348" cy="954024"/>
          </a:xfrm>
          <a:prstGeom prst="rect">
            <a:avLst/>
          </a:prstGeom>
          <a:blipFill>
            <a:blip r:embed="rId2" cstate="print"/>
            <a:stretch>
              <a:fillRect/>
            </a:stretch>
          </a:blip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5" name="Holder 5"/>
          <p:cNvSpPr>
            <a:spLocks noGrp="1"/>
          </p:cNvSpPr>
          <p:nvPr>
            <p:ph type="sldNum" sz="quarter" idx="7"/>
          </p:nvPr>
        </p:nvSpPr>
        <p:spPr>
          <a:xfrm>
            <a:off x="92964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6" name="Gráfico 5">
            <a:extLst>
              <a:ext uri="{FF2B5EF4-FFF2-40B4-BE49-F238E27FC236}">
                <a16:creationId xmlns:a16="http://schemas.microsoft.com/office/drawing/2014/main" id="{F5CB4B75-CC85-5F87-B13B-97FD63FFBC56}"/>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2891213" y="6357666"/>
            <a:ext cx="6409575" cy="363174"/>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594327" y="4722313"/>
            <a:ext cx="1521016" cy="1253853"/>
          </a:xfrm>
          <a:prstGeom prst="rect">
            <a:avLst/>
          </a:prstGeom>
          <a:blipFill>
            <a:blip r:embed="rId2" cstate="print"/>
            <a:stretch>
              <a:fillRect/>
            </a:stretch>
          </a:blipFill>
        </p:spPr>
        <p:txBody>
          <a:bodyPr wrap="square" lIns="0" tIns="0" rIns="0" bIns="0" rtlCol="0"/>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4" name="Holder 4"/>
          <p:cNvSpPr>
            <a:spLocks noGrp="1"/>
          </p:cNvSpPr>
          <p:nvPr>
            <p:ph type="sldNum" sz="quarter" idx="7"/>
          </p:nvPr>
        </p:nvSpPr>
        <p:spPr>
          <a:xfrm>
            <a:off x="93726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5" name="Gráfico 4">
            <a:extLst>
              <a:ext uri="{FF2B5EF4-FFF2-40B4-BE49-F238E27FC236}">
                <a16:creationId xmlns:a16="http://schemas.microsoft.com/office/drawing/2014/main" id="{9F3DE434-B07E-429D-5547-0D42DA9B05A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891539" y="5283707"/>
            <a:ext cx="2624328" cy="1574289"/>
          </a:xfrm>
          <a:prstGeom prst="rect">
            <a:avLst/>
          </a:prstGeom>
          <a:blipFill>
            <a:blip r:embed="rId7" cstate="print"/>
            <a:stretch>
              <a:fillRect/>
            </a:stretch>
          </a:blipFill>
        </p:spPr>
        <p:txBody>
          <a:bodyPr wrap="square" lIns="0" tIns="0" rIns="0" bIns="0" rtlCol="0"/>
          <a:lstStyle/>
          <a:p>
            <a:endParaRPr/>
          </a:p>
        </p:txBody>
      </p:sp>
      <p:sp>
        <p:nvSpPr>
          <p:cNvPr id="2" name="Holder 2"/>
          <p:cNvSpPr>
            <a:spLocks noGrp="1"/>
          </p:cNvSpPr>
          <p:nvPr>
            <p:ph type="title"/>
          </p:nvPr>
        </p:nvSpPr>
        <p:spPr>
          <a:xfrm>
            <a:off x="3986910" y="1699005"/>
            <a:ext cx="2599054" cy="269239"/>
          </a:xfrm>
          <a:prstGeom prst="rect">
            <a:avLst/>
          </a:prstGeom>
        </p:spPr>
        <p:txBody>
          <a:bodyPr wrap="square" lIns="0" tIns="0" rIns="0" bIns="0">
            <a:spAutoFit/>
          </a:bodyPr>
          <a:lstStyle>
            <a:lvl1pPr>
              <a:defRPr sz="1600" b="0" i="0">
                <a:solidFill>
                  <a:schemeClr val="tx1"/>
                </a:solidFill>
                <a:latin typeface="Calibri"/>
                <a:cs typeface="Calibri"/>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5695950" y="6465068"/>
            <a:ext cx="1210945" cy="153670"/>
          </a:xfrm>
          <a:prstGeom prst="rect">
            <a:avLst/>
          </a:prstGeom>
        </p:spPr>
        <p:txBody>
          <a:bodyPr wrap="square" lIns="0" tIns="0" rIns="0" bIns="0">
            <a:spAutoFit/>
          </a:bodyPr>
          <a:lstStyle>
            <a:lvl1pPr>
              <a:defRPr sz="900" b="0" i="0">
                <a:solidFill>
                  <a:srgbClr val="585858"/>
                </a:solidFill>
                <a:latin typeface="Arial"/>
                <a:cs typeface="Arial"/>
              </a:defRPr>
            </a:lvl1pPr>
          </a:lstStyle>
          <a:p>
            <a:pPr marL="12700">
              <a:lnSpc>
                <a:spcPct val="100000"/>
              </a:lnSpc>
              <a:spcBef>
                <a:spcPts val="15"/>
              </a:spcBef>
            </a:pPr>
            <a:r>
              <a:rPr lang="es-ES" spc="-5"/>
              <a:t>LAB 1.0 WAVEGUIDES</a:t>
            </a:r>
            <a:endParaRPr spc="-5" dirty="0"/>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a:xfrm>
            <a:off x="93116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‹Nº›</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4.sv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4.svg"/></Relationships>
</file>

<file path=ppt/slides/_rels/slide5.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3.png"/><Relationship Id="rId7"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4.sv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4.sv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4.sv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4.sv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4.sv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4.sv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4.sv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4.sv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1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749676" y="4919853"/>
            <a:ext cx="6106795" cy="513715"/>
          </a:xfrm>
          <a:prstGeom prst="rect">
            <a:avLst/>
          </a:prstGeom>
        </p:spPr>
        <p:txBody>
          <a:bodyPr vert="horz" wrap="square" lIns="0" tIns="12700" rIns="0" bIns="0" rtlCol="0">
            <a:spAutoFit/>
          </a:bodyPr>
          <a:lstStyle/>
          <a:p>
            <a:pPr marL="12700">
              <a:lnSpc>
                <a:spcPct val="100000"/>
              </a:lnSpc>
              <a:spcBef>
                <a:spcPts val="100"/>
              </a:spcBef>
            </a:pPr>
            <a:r>
              <a:rPr lang="es-ES" sz="3200" b="1" dirty="0" err="1">
                <a:latin typeface="Lucida Sans"/>
                <a:cs typeface="Lucida Sans"/>
              </a:rPr>
              <a:t>Lab</a:t>
            </a:r>
            <a:r>
              <a:rPr lang="es-ES" sz="3200" b="1" dirty="0">
                <a:latin typeface="Lucida Sans"/>
                <a:cs typeface="Lucida Sans"/>
              </a:rPr>
              <a:t> Book 1.0. </a:t>
            </a:r>
            <a:r>
              <a:rPr lang="es-ES" sz="3200" b="1" dirty="0" err="1">
                <a:latin typeface="Lucida Sans"/>
                <a:cs typeface="Lucida Sans"/>
              </a:rPr>
              <a:t>Waveguides</a:t>
            </a:r>
            <a:endParaRPr sz="3200" dirty="0">
              <a:latin typeface="Lucida Sans"/>
              <a:cs typeface="Lucida Sans"/>
            </a:endParaRPr>
          </a:p>
        </p:txBody>
      </p:sp>
      <p:sp>
        <p:nvSpPr>
          <p:cNvPr id="4" name="object 4"/>
          <p:cNvSpPr txBox="1"/>
          <p:nvPr/>
        </p:nvSpPr>
        <p:spPr>
          <a:xfrm>
            <a:off x="2749676" y="5610250"/>
            <a:ext cx="8223124" cy="579646"/>
          </a:xfrm>
          <a:prstGeom prst="rect">
            <a:avLst/>
          </a:prstGeom>
        </p:spPr>
        <p:txBody>
          <a:bodyPr vert="horz" wrap="square" lIns="0" tIns="12700" rIns="0" bIns="0" rtlCol="0">
            <a:spAutoFit/>
          </a:bodyPr>
          <a:lstStyle/>
          <a:p>
            <a:pPr marL="12700">
              <a:lnSpc>
                <a:spcPct val="100000"/>
              </a:lnSpc>
              <a:spcBef>
                <a:spcPts val="100"/>
              </a:spcBef>
            </a:pPr>
            <a:r>
              <a:rPr lang="es-ES" spc="165" dirty="0" err="1">
                <a:latin typeface="Arial"/>
                <a:cs typeface="Arial"/>
              </a:rPr>
              <a:t>Student</a:t>
            </a:r>
            <a:r>
              <a:rPr lang="es-ES" spc="165" dirty="0">
                <a:latin typeface="Arial"/>
                <a:cs typeface="Arial"/>
              </a:rPr>
              <a:t>: Javier </a:t>
            </a:r>
            <a:r>
              <a:rPr lang="es-ES" spc="165" dirty="0" err="1">
                <a:latin typeface="Arial"/>
                <a:cs typeface="Arial"/>
              </a:rPr>
              <a:t>Llàcer</a:t>
            </a:r>
            <a:r>
              <a:rPr lang="es-ES" spc="165" dirty="0">
                <a:latin typeface="Arial"/>
                <a:cs typeface="Arial"/>
              </a:rPr>
              <a:t> Noha &amp; Miguel Ángel Descalzo Cuevas</a:t>
            </a:r>
          </a:p>
          <a:p>
            <a:pPr marL="12700">
              <a:lnSpc>
                <a:spcPct val="100000"/>
              </a:lnSpc>
              <a:spcBef>
                <a:spcPts val="100"/>
              </a:spcBef>
            </a:pPr>
            <a:r>
              <a:rPr lang="es-ES" spc="165" dirty="0">
                <a:latin typeface="Arial"/>
                <a:cs typeface="Arial"/>
              </a:rPr>
              <a:t> </a:t>
            </a:r>
            <a:endParaRPr sz="1800" dirty="0">
              <a:latin typeface="Arial"/>
              <a:cs typeface="Arial"/>
            </a:endParaRPr>
          </a:p>
        </p:txBody>
      </p:sp>
      <p:sp>
        <p:nvSpPr>
          <p:cNvPr id="5" name="object 5"/>
          <p:cNvSpPr/>
          <p:nvPr/>
        </p:nvSpPr>
        <p:spPr>
          <a:xfrm>
            <a:off x="0" y="0"/>
            <a:ext cx="12192000" cy="4189476"/>
          </a:xfrm>
          <a:prstGeom prst="rect">
            <a:avLst/>
          </a:prstGeom>
          <a:blipFill>
            <a:blip r:embed="rId2" cstate="print"/>
            <a:stretch>
              <a:fillRect/>
            </a:stretch>
          </a:blipFill>
        </p:spPr>
        <p:txBody>
          <a:bodyPr wrap="square" lIns="0" tIns="0" rIns="0" bIns="0" rtlCol="0"/>
          <a:lstStyle/>
          <a:p>
            <a:endParaRPr/>
          </a:p>
        </p:txBody>
      </p:sp>
      <p:sp>
        <p:nvSpPr>
          <p:cNvPr id="7" name="Marcador de número de diapositiva 6">
            <a:extLst>
              <a:ext uri="{FF2B5EF4-FFF2-40B4-BE49-F238E27FC236}">
                <a16:creationId xmlns:a16="http://schemas.microsoft.com/office/drawing/2014/main" id="{F6F66F51-9238-50FE-85C2-BAC3DA79D767}"/>
              </a:ext>
            </a:extLst>
          </p:cNvPr>
          <p:cNvSpPr>
            <a:spLocks noGrp="1"/>
          </p:cNvSpPr>
          <p:nvPr>
            <p:ph type="sldNum" sz="quarter" idx="7"/>
          </p:nvPr>
        </p:nvSpPr>
        <p:spPr/>
        <p:txBody>
          <a:bodyPr/>
          <a:lstStyle/>
          <a:p>
            <a:fld id="{B6F15528-21DE-4FAA-801E-634DDDAF4B2B}" type="slidenum">
              <a:rPr lang="es-ES" smtClean="0"/>
              <a:t>1</a:t>
            </a:fld>
            <a:endParaRPr lang="es-E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8A4D4-C3C4-085B-A7AD-EA04D83F48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B7433F1-7A0E-D925-6140-7305139D053A}"/>
              </a:ext>
            </a:extLst>
          </p:cNvPr>
          <p:cNvSpPr txBox="1">
            <a:spLocks noGrp="1"/>
          </p:cNvSpPr>
          <p:nvPr>
            <p:ph type="title"/>
          </p:nvPr>
        </p:nvSpPr>
        <p:spPr>
          <a:xfrm>
            <a:off x="685800" y="408883"/>
            <a:ext cx="6153785" cy="705321"/>
          </a:xfrm>
          <a:prstGeom prst="rect">
            <a:avLst/>
          </a:prstGeom>
        </p:spPr>
        <p:txBody>
          <a:bodyPr vert="horz" wrap="square" lIns="0" tIns="12700" rIns="0" bIns="0" rtlCol="0">
            <a:spAutoFit/>
          </a:bodyPr>
          <a:lstStyle/>
          <a:p>
            <a:pPr marL="12700">
              <a:lnSpc>
                <a:spcPct val="100000"/>
              </a:lnSpc>
              <a:spcBef>
                <a:spcPts val="100"/>
              </a:spcBef>
            </a:pPr>
            <a:r>
              <a:rPr lang="es-ES" sz="2500" u="sng" spc="-5" dirty="0" err="1">
                <a:latin typeface="+mj-lt"/>
                <a:cs typeface="Lucida Sans"/>
              </a:rPr>
              <a:t>Instructions</a:t>
            </a:r>
            <a:br>
              <a:rPr lang="es-ES" sz="2400" spc="-5" dirty="0">
                <a:latin typeface="+mj-lt"/>
                <a:cs typeface="Lucida Sans"/>
              </a:rPr>
            </a:br>
            <a:r>
              <a:rPr lang="es-ES" b="0" spc="-5" dirty="0">
                <a:latin typeface="+mj-lt"/>
                <a:cs typeface="Lucida Sans"/>
              </a:rPr>
              <a:t>General</a:t>
            </a:r>
            <a:endParaRPr sz="2400" b="0" dirty="0">
              <a:latin typeface="+mj-lt"/>
              <a:cs typeface="Lucida Sans"/>
            </a:endParaRPr>
          </a:p>
        </p:txBody>
      </p:sp>
      <p:pic>
        <p:nvPicPr>
          <p:cNvPr id="83" name="Gráfico 82">
            <a:extLst>
              <a:ext uri="{FF2B5EF4-FFF2-40B4-BE49-F238E27FC236}">
                <a16:creationId xmlns:a16="http://schemas.microsoft.com/office/drawing/2014/main" id="{E518E73B-CE22-A00C-9C86-634FB762EE6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1E163A6B-DFE4-C67D-5F3E-A56ACEF2EA4C}"/>
              </a:ext>
            </a:extLst>
          </p:cNvPr>
          <p:cNvSpPr>
            <a:spLocks noGrp="1"/>
          </p:cNvSpPr>
          <p:nvPr>
            <p:ph type="sldNum" sz="quarter" idx="7"/>
          </p:nvPr>
        </p:nvSpPr>
        <p:spPr/>
        <p:txBody>
          <a:bodyPr/>
          <a:lstStyle/>
          <a:p>
            <a:fld id="{B6F15528-21DE-4FAA-801E-634DDDAF4B2B}" type="slidenum">
              <a:rPr lang="es-ES" smtClean="0"/>
              <a:t>2</a:t>
            </a:fld>
            <a:endParaRPr lang="es-ES"/>
          </a:p>
        </p:txBody>
      </p:sp>
      <p:sp>
        <p:nvSpPr>
          <p:cNvPr id="3" name="Marcador de pie de página 2">
            <a:extLst>
              <a:ext uri="{FF2B5EF4-FFF2-40B4-BE49-F238E27FC236}">
                <a16:creationId xmlns:a16="http://schemas.microsoft.com/office/drawing/2014/main" id="{95FC84FF-30D3-FDAB-0A5A-0F07F8EE1161}"/>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4" name="Marcador de texto 2">
            <a:extLst>
              <a:ext uri="{FF2B5EF4-FFF2-40B4-BE49-F238E27FC236}">
                <a16:creationId xmlns:a16="http://schemas.microsoft.com/office/drawing/2014/main" id="{9F7BC140-B3D8-C3CB-55AD-9064C7CDE9CA}"/>
              </a:ext>
            </a:extLst>
          </p:cNvPr>
          <p:cNvSpPr txBox="1">
            <a:spLocks/>
          </p:cNvSpPr>
          <p:nvPr/>
        </p:nvSpPr>
        <p:spPr>
          <a:xfrm>
            <a:off x="608011" y="1163263"/>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just"/>
            <a:r>
              <a:rPr lang="en-US" sz="2000" b="1" kern="0" dirty="0">
                <a:solidFill>
                  <a:sysClr val="windowText" lastClr="000000"/>
                </a:solidFill>
                <a:sym typeface="Wingdings" pitchFamily="2" charset="2"/>
              </a:rPr>
              <a:t>SCRIPTS</a:t>
            </a:r>
          </a:p>
          <a:p>
            <a:pPr marL="342900" indent="-342900" algn="just">
              <a:buFont typeface="Arial" panose="020B0604020202020204" pitchFamily="34" charset="0"/>
              <a:buChar char="•"/>
            </a:pPr>
            <a:r>
              <a:rPr lang="en-US" kern="0" dirty="0">
                <a:solidFill>
                  <a:sysClr val="windowText" lastClr="000000"/>
                </a:solidFill>
                <a:sym typeface="Wingdings" pitchFamily="2" charset="2"/>
              </a:rPr>
              <a:t>From 	GitHub  </a:t>
            </a:r>
          </a:p>
          <a:p>
            <a:pPr marL="800100" lvl="1" indent="-342900" algn="just">
              <a:buFont typeface="Arial" panose="020B0604020202020204" pitchFamily="34" charset="0"/>
              <a:buChar char="•"/>
            </a:pPr>
            <a:r>
              <a:rPr lang="en-US" kern="0" dirty="0">
                <a:solidFill>
                  <a:sysClr val="windowText" lastClr="000000"/>
                </a:solidFill>
                <a:sym typeface="Wingdings" pitchFamily="2" charset="2"/>
              </a:rPr>
              <a:t>Fork the repo: https://github.com/cccanvas-upv/cifoin-lab1.git</a:t>
            </a:r>
          </a:p>
          <a:p>
            <a:pPr marL="800100" lvl="1" indent="-342900" algn="just">
              <a:buFont typeface="Arial" panose="020B0604020202020204" pitchFamily="34" charset="0"/>
              <a:buChar char="•"/>
            </a:pPr>
            <a:r>
              <a:rPr lang="en-US" kern="0" dirty="0">
                <a:solidFill>
                  <a:sysClr val="windowText" lastClr="000000"/>
                </a:solidFill>
                <a:sym typeface="Wingdings" pitchFamily="2" charset="2"/>
              </a:rPr>
              <a:t>Clone the repo using </a:t>
            </a:r>
            <a:r>
              <a:rPr lang="en-US" kern="0" dirty="0" err="1">
                <a:solidFill>
                  <a:sysClr val="windowText" lastClr="000000"/>
                </a:solidFill>
                <a:sym typeface="Wingdings" pitchFamily="2" charset="2"/>
              </a:rPr>
              <a:t>VSCode</a:t>
            </a:r>
            <a:endParaRPr lang="en-US" kern="0" dirty="0">
              <a:solidFill>
                <a:sysClr val="windowText" lastClr="000000"/>
              </a:solidFill>
              <a:sym typeface="Wingdings" pitchFamily="2" charset="2"/>
            </a:endParaRPr>
          </a:p>
          <a:p>
            <a:pPr marL="342900" indent="-342900" algn="just">
              <a:buFont typeface="Arial" panose="020B0604020202020204" pitchFamily="34" charset="0"/>
              <a:buChar char="•"/>
            </a:pPr>
            <a:r>
              <a:rPr lang="en-US" kern="0" dirty="0">
                <a:solidFill>
                  <a:sysClr val="windowText" lastClr="000000"/>
                </a:solidFill>
              </a:rPr>
              <a:t>Run the </a:t>
            </a:r>
            <a:r>
              <a:rPr lang="en-US" kern="0" dirty="0" err="1">
                <a:solidFill>
                  <a:sysClr val="windowText" lastClr="000000"/>
                </a:solidFill>
              </a:rPr>
              <a:t>Jupyter</a:t>
            </a:r>
            <a:r>
              <a:rPr lang="en-US" kern="0" dirty="0">
                <a:solidFill>
                  <a:sysClr val="windowText" lastClr="000000"/>
                </a:solidFill>
              </a:rPr>
              <a:t> Notebook: </a:t>
            </a:r>
          </a:p>
          <a:p>
            <a:pPr marL="800100" lvl="1" indent="-342900" algn="just">
              <a:buFont typeface="Arial" panose="020B0604020202020204" pitchFamily="34" charset="0"/>
              <a:buChar char="•"/>
            </a:pPr>
            <a:r>
              <a:rPr lang="en-US" kern="0" dirty="0" err="1">
                <a:solidFill>
                  <a:sysClr val="windowText" lastClr="000000"/>
                </a:solidFill>
              </a:rPr>
              <a:t>WAVEGUIDES_Student.ipynb</a:t>
            </a:r>
            <a:r>
              <a:rPr lang="en-US" kern="0" dirty="0">
                <a:solidFill>
                  <a:sysClr val="windowText" lastClr="000000"/>
                </a:solidFill>
              </a:rPr>
              <a:t> </a:t>
            </a:r>
          </a:p>
          <a:p>
            <a:pPr algn="just"/>
            <a:endParaRPr lang="en-US" sz="2000" b="1" i="1" u="sng" dirty="0"/>
          </a:p>
          <a:p>
            <a:pPr algn="just"/>
            <a:endParaRPr lang="en-US" sz="2000" kern="0" dirty="0">
              <a:solidFill>
                <a:sysClr val="windowText" lastClr="000000"/>
              </a:solidFill>
            </a:endParaRPr>
          </a:p>
        </p:txBody>
      </p:sp>
      <p:sp>
        <p:nvSpPr>
          <p:cNvPr id="96" name="object 7">
            <a:extLst>
              <a:ext uri="{FF2B5EF4-FFF2-40B4-BE49-F238E27FC236}">
                <a16:creationId xmlns:a16="http://schemas.microsoft.com/office/drawing/2014/main" id="{BB459788-0671-D4BA-B6DB-A3544D24EA92}"/>
              </a:ext>
            </a:extLst>
          </p:cNvPr>
          <p:cNvSpPr/>
          <p:nvPr/>
        </p:nvSpPr>
        <p:spPr>
          <a:xfrm>
            <a:off x="902765" y="3422925"/>
            <a:ext cx="3929379" cy="1902460"/>
          </a:xfrm>
          <a:custGeom>
            <a:avLst/>
            <a:gdLst/>
            <a:ahLst/>
            <a:cxnLst/>
            <a:rect l="l" t="t" r="r" b="b"/>
            <a:pathLst>
              <a:path w="3929379" h="1902460">
                <a:moveTo>
                  <a:pt x="0" y="1901952"/>
                </a:moveTo>
                <a:lnTo>
                  <a:pt x="3928872" y="1901952"/>
                </a:lnTo>
                <a:lnTo>
                  <a:pt x="3928872" y="0"/>
                </a:lnTo>
                <a:lnTo>
                  <a:pt x="0" y="0"/>
                </a:lnTo>
                <a:lnTo>
                  <a:pt x="0" y="1901952"/>
                </a:lnTo>
                <a:close/>
              </a:path>
            </a:pathLst>
          </a:custGeom>
          <a:solidFill>
            <a:srgbClr val="F1F1F1"/>
          </a:solidFill>
        </p:spPr>
        <p:txBody>
          <a:bodyPr wrap="square" lIns="0" tIns="0" rIns="0" bIns="0" rtlCol="0"/>
          <a:lstStyle/>
          <a:p>
            <a:endParaRPr/>
          </a:p>
        </p:txBody>
      </p:sp>
      <p:sp>
        <p:nvSpPr>
          <p:cNvPr id="97" name="object 62">
            <a:extLst>
              <a:ext uri="{FF2B5EF4-FFF2-40B4-BE49-F238E27FC236}">
                <a16:creationId xmlns:a16="http://schemas.microsoft.com/office/drawing/2014/main" id="{13E0425E-CEDF-CBC4-B34B-0CC3951920EA}"/>
              </a:ext>
            </a:extLst>
          </p:cNvPr>
          <p:cNvSpPr/>
          <p:nvPr/>
        </p:nvSpPr>
        <p:spPr>
          <a:xfrm>
            <a:off x="1747061" y="3983757"/>
            <a:ext cx="76200" cy="986155"/>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98" name="object 63">
            <a:extLst>
              <a:ext uri="{FF2B5EF4-FFF2-40B4-BE49-F238E27FC236}">
                <a16:creationId xmlns:a16="http://schemas.microsoft.com/office/drawing/2014/main" id="{FDE45797-C0E3-ACE0-F66B-057BDEDB9070}"/>
              </a:ext>
            </a:extLst>
          </p:cNvPr>
          <p:cNvSpPr txBox="1"/>
          <p:nvPr/>
        </p:nvSpPr>
        <p:spPr>
          <a:xfrm>
            <a:off x="1091131" y="4210910"/>
            <a:ext cx="577850" cy="454025"/>
          </a:xfrm>
          <a:prstGeom prst="rect">
            <a:avLst/>
          </a:prstGeom>
        </p:spPr>
        <p:txBody>
          <a:bodyPr vert="horz" wrap="square" lIns="0" tIns="13335" rIns="0" bIns="0" rtlCol="0">
            <a:spAutoFit/>
          </a:bodyPr>
          <a:lstStyle/>
          <a:p>
            <a:pPr marR="3175" algn="ctr">
              <a:lnSpc>
                <a:spcPct val="100000"/>
              </a:lnSpc>
              <a:spcBef>
                <a:spcPts val="105"/>
              </a:spcBef>
            </a:pPr>
            <a:r>
              <a:rPr sz="1400" dirty="0">
                <a:latin typeface="Calibri"/>
                <a:cs typeface="Calibri"/>
              </a:rPr>
              <a:t>h</a:t>
            </a:r>
            <a:endParaRPr sz="1400">
              <a:latin typeface="Calibri"/>
              <a:cs typeface="Calibri"/>
            </a:endParaRPr>
          </a:p>
          <a:p>
            <a:pPr marR="5080" algn="ctr">
              <a:lnSpc>
                <a:spcPct val="100000"/>
              </a:lnSpc>
              <a:spcBef>
                <a:spcPts val="5"/>
              </a:spcBef>
            </a:pPr>
            <a:r>
              <a:rPr sz="1400" spc="-10" dirty="0">
                <a:latin typeface="Calibri"/>
                <a:cs typeface="Calibri"/>
              </a:rPr>
              <a:t>(h</a:t>
            </a:r>
            <a:r>
              <a:rPr sz="1400" dirty="0">
                <a:latin typeface="Calibri"/>
                <a:cs typeface="Calibri"/>
              </a:rPr>
              <a:t>eig</a:t>
            </a:r>
            <a:r>
              <a:rPr sz="1400" spc="-25" dirty="0">
                <a:latin typeface="Calibri"/>
                <a:cs typeface="Calibri"/>
              </a:rPr>
              <a:t>h</a:t>
            </a:r>
            <a:r>
              <a:rPr sz="1400" spc="-5" dirty="0">
                <a:latin typeface="Calibri"/>
                <a:cs typeface="Calibri"/>
              </a:rPr>
              <a:t>t</a:t>
            </a:r>
            <a:r>
              <a:rPr sz="1400" dirty="0">
                <a:latin typeface="Calibri"/>
                <a:cs typeface="Calibri"/>
              </a:rPr>
              <a:t>)</a:t>
            </a:r>
            <a:endParaRPr sz="1400">
              <a:latin typeface="Calibri"/>
              <a:cs typeface="Calibri"/>
            </a:endParaRPr>
          </a:p>
        </p:txBody>
      </p:sp>
      <p:sp>
        <p:nvSpPr>
          <p:cNvPr id="99" name="object 64">
            <a:extLst>
              <a:ext uri="{FF2B5EF4-FFF2-40B4-BE49-F238E27FC236}">
                <a16:creationId xmlns:a16="http://schemas.microsoft.com/office/drawing/2014/main" id="{ABAAA5DD-56CA-BF94-2180-F0866658B6B3}"/>
              </a:ext>
            </a:extLst>
          </p:cNvPr>
          <p:cNvSpPr/>
          <p:nvPr/>
        </p:nvSpPr>
        <p:spPr>
          <a:xfrm>
            <a:off x="1984805" y="3773445"/>
            <a:ext cx="1758314" cy="76200"/>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a:p>
        </p:txBody>
      </p:sp>
      <p:sp>
        <p:nvSpPr>
          <p:cNvPr id="100" name="object 65">
            <a:extLst>
              <a:ext uri="{FF2B5EF4-FFF2-40B4-BE49-F238E27FC236}">
                <a16:creationId xmlns:a16="http://schemas.microsoft.com/office/drawing/2014/main" id="{A1EF013C-5123-D9A7-DC76-FEFD731E96E2}"/>
              </a:ext>
            </a:extLst>
          </p:cNvPr>
          <p:cNvSpPr txBox="1"/>
          <p:nvPr/>
        </p:nvSpPr>
        <p:spPr>
          <a:xfrm>
            <a:off x="2504743" y="3532730"/>
            <a:ext cx="733425" cy="240029"/>
          </a:xfrm>
          <a:prstGeom prst="rect">
            <a:avLst/>
          </a:prstGeom>
        </p:spPr>
        <p:txBody>
          <a:bodyPr vert="horz" wrap="square" lIns="0" tIns="13335" rIns="0" bIns="0" rtlCol="0">
            <a:spAutoFit/>
          </a:bodyPr>
          <a:lstStyle/>
          <a:p>
            <a:pPr>
              <a:lnSpc>
                <a:spcPct val="100000"/>
              </a:lnSpc>
              <a:spcBef>
                <a:spcPts val="105"/>
              </a:spcBef>
            </a:pPr>
            <a:r>
              <a:rPr sz="1400" spc="5" dirty="0">
                <a:latin typeface="Calibri"/>
                <a:cs typeface="Calibri"/>
              </a:rPr>
              <a:t>W</a:t>
            </a:r>
            <a:r>
              <a:rPr sz="1400" spc="-65" dirty="0">
                <a:latin typeface="Calibri"/>
                <a:cs typeface="Calibri"/>
              </a:rPr>
              <a:t> </a:t>
            </a:r>
            <a:r>
              <a:rPr sz="1400" spc="-5" dirty="0">
                <a:latin typeface="Calibri"/>
                <a:cs typeface="Calibri"/>
              </a:rPr>
              <a:t>(width)</a:t>
            </a:r>
            <a:endParaRPr sz="1400" dirty="0">
              <a:latin typeface="Calibri"/>
              <a:cs typeface="Calibri"/>
            </a:endParaRPr>
          </a:p>
        </p:txBody>
      </p:sp>
      <p:sp>
        <p:nvSpPr>
          <p:cNvPr id="101" name="object 73">
            <a:extLst>
              <a:ext uri="{FF2B5EF4-FFF2-40B4-BE49-F238E27FC236}">
                <a16:creationId xmlns:a16="http://schemas.microsoft.com/office/drawing/2014/main" id="{4C5C0871-D9B5-E642-7661-FFBCAD75720B}"/>
              </a:ext>
            </a:extLst>
          </p:cNvPr>
          <p:cNvSpPr txBox="1"/>
          <p:nvPr/>
        </p:nvSpPr>
        <p:spPr>
          <a:xfrm>
            <a:off x="1984805" y="3983757"/>
            <a:ext cx="1758950" cy="986155"/>
          </a:xfrm>
          <a:prstGeom prst="rect">
            <a:avLst/>
          </a:prstGeom>
          <a:solidFill>
            <a:srgbClr val="CCB657"/>
          </a:solidFill>
        </p:spPr>
        <p:txBody>
          <a:bodyPr vert="horz" wrap="square" lIns="0" tIns="2540" rIns="0" bIns="0" rtlCol="0">
            <a:spAutoFit/>
          </a:bodyPr>
          <a:lstStyle/>
          <a:p>
            <a:pPr>
              <a:lnSpc>
                <a:spcPct val="100000"/>
              </a:lnSpc>
              <a:spcBef>
                <a:spcPts val="20"/>
              </a:spcBef>
            </a:pPr>
            <a:endParaRPr sz="2350" dirty="0">
              <a:latin typeface="Times New Roman"/>
              <a:cs typeface="Times New Roman"/>
            </a:endParaRPr>
          </a:p>
          <a:p>
            <a:pPr marL="18415" algn="ctr">
              <a:lnSpc>
                <a:spcPct val="100000"/>
              </a:lnSpc>
            </a:pPr>
            <a:r>
              <a:rPr sz="1600" b="1" spc="-10" dirty="0">
                <a:latin typeface="Calibri"/>
                <a:cs typeface="Calibri"/>
              </a:rPr>
              <a:t>Core</a:t>
            </a:r>
            <a:endParaRPr sz="1600" dirty="0">
              <a:latin typeface="Calibri"/>
              <a:cs typeface="Calibri"/>
            </a:endParaRPr>
          </a:p>
        </p:txBody>
      </p:sp>
      <p:sp>
        <p:nvSpPr>
          <p:cNvPr id="102" name="object 74">
            <a:extLst>
              <a:ext uri="{FF2B5EF4-FFF2-40B4-BE49-F238E27FC236}">
                <a16:creationId xmlns:a16="http://schemas.microsoft.com/office/drawing/2014/main" id="{10CC4DBA-05F4-4CDC-BA0E-6200AF622CA9}"/>
              </a:ext>
            </a:extLst>
          </p:cNvPr>
          <p:cNvSpPr txBox="1"/>
          <p:nvPr/>
        </p:nvSpPr>
        <p:spPr>
          <a:xfrm>
            <a:off x="3983988" y="4338253"/>
            <a:ext cx="741045" cy="269240"/>
          </a:xfrm>
          <a:prstGeom prst="rect">
            <a:avLst/>
          </a:prstGeom>
        </p:spPr>
        <p:txBody>
          <a:bodyPr vert="horz" wrap="square" lIns="0" tIns="12065" rIns="0" bIns="0" rtlCol="0">
            <a:spAutoFit/>
          </a:bodyPr>
          <a:lstStyle/>
          <a:p>
            <a:pPr>
              <a:lnSpc>
                <a:spcPct val="100000"/>
              </a:lnSpc>
              <a:spcBef>
                <a:spcPts val="95"/>
              </a:spcBef>
            </a:pPr>
            <a:r>
              <a:rPr sz="1600" b="1" spc="-10" dirty="0">
                <a:latin typeface="Calibri"/>
                <a:cs typeface="Calibri"/>
              </a:rPr>
              <a:t>Cladding</a:t>
            </a:r>
            <a:endParaRPr sz="1600" dirty="0">
              <a:latin typeface="Calibri"/>
              <a:cs typeface="Calibri"/>
            </a:endParaRPr>
          </a:p>
        </p:txBody>
      </p:sp>
      <p:sp>
        <p:nvSpPr>
          <p:cNvPr id="111" name="object 7">
            <a:extLst>
              <a:ext uri="{FF2B5EF4-FFF2-40B4-BE49-F238E27FC236}">
                <a16:creationId xmlns:a16="http://schemas.microsoft.com/office/drawing/2014/main" id="{06801468-6F27-A16A-64E3-D7AD4B6B6B96}"/>
              </a:ext>
            </a:extLst>
          </p:cNvPr>
          <p:cNvSpPr/>
          <p:nvPr/>
        </p:nvSpPr>
        <p:spPr>
          <a:xfrm>
            <a:off x="7391400" y="3422925"/>
            <a:ext cx="3929379" cy="1902460"/>
          </a:xfrm>
          <a:custGeom>
            <a:avLst/>
            <a:gdLst/>
            <a:ahLst/>
            <a:cxnLst/>
            <a:rect l="l" t="t" r="r" b="b"/>
            <a:pathLst>
              <a:path w="3929379" h="1902460">
                <a:moveTo>
                  <a:pt x="0" y="1901952"/>
                </a:moveTo>
                <a:lnTo>
                  <a:pt x="3928872" y="1901952"/>
                </a:lnTo>
                <a:lnTo>
                  <a:pt x="3928872" y="0"/>
                </a:lnTo>
                <a:lnTo>
                  <a:pt x="0" y="0"/>
                </a:lnTo>
                <a:lnTo>
                  <a:pt x="0" y="1901952"/>
                </a:lnTo>
                <a:close/>
              </a:path>
            </a:pathLst>
          </a:custGeom>
          <a:solidFill>
            <a:srgbClr val="F1F1F1"/>
          </a:solidFill>
        </p:spPr>
        <p:txBody>
          <a:bodyPr wrap="square" lIns="0" tIns="0" rIns="0" bIns="0" rtlCol="0"/>
          <a:lstStyle/>
          <a:p>
            <a:endParaRPr/>
          </a:p>
        </p:txBody>
      </p:sp>
      <p:sp>
        <p:nvSpPr>
          <p:cNvPr id="114" name="object 64">
            <a:extLst>
              <a:ext uri="{FF2B5EF4-FFF2-40B4-BE49-F238E27FC236}">
                <a16:creationId xmlns:a16="http://schemas.microsoft.com/office/drawing/2014/main" id="{D9E5D738-CA47-1898-E0D8-DFBC514F5A50}"/>
              </a:ext>
            </a:extLst>
          </p:cNvPr>
          <p:cNvSpPr/>
          <p:nvPr/>
        </p:nvSpPr>
        <p:spPr>
          <a:xfrm>
            <a:off x="8473440" y="3773445"/>
            <a:ext cx="1758314" cy="76200"/>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a:p>
        </p:txBody>
      </p:sp>
      <p:sp>
        <p:nvSpPr>
          <p:cNvPr id="115" name="object 65">
            <a:extLst>
              <a:ext uri="{FF2B5EF4-FFF2-40B4-BE49-F238E27FC236}">
                <a16:creationId xmlns:a16="http://schemas.microsoft.com/office/drawing/2014/main" id="{74A4CAE1-BC33-1BCD-6F24-54F1DFA8AEDB}"/>
              </a:ext>
            </a:extLst>
          </p:cNvPr>
          <p:cNvSpPr txBox="1"/>
          <p:nvPr/>
        </p:nvSpPr>
        <p:spPr>
          <a:xfrm>
            <a:off x="8993378" y="3532730"/>
            <a:ext cx="733425" cy="240029"/>
          </a:xfrm>
          <a:prstGeom prst="rect">
            <a:avLst/>
          </a:prstGeom>
        </p:spPr>
        <p:txBody>
          <a:bodyPr vert="horz" wrap="square" lIns="0" tIns="13335" rIns="0" bIns="0" rtlCol="0">
            <a:spAutoFit/>
          </a:bodyPr>
          <a:lstStyle/>
          <a:p>
            <a:pPr>
              <a:lnSpc>
                <a:spcPct val="100000"/>
              </a:lnSpc>
              <a:spcBef>
                <a:spcPts val="105"/>
              </a:spcBef>
            </a:pPr>
            <a:r>
              <a:rPr sz="1400" spc="5" dirty="0">
                <a:latin typeface="Calibri"/>
                <a:cs typeface="Calibri"/>
              </a:rPr>
              <a:t>W</a:t>
            </a:r>
            <a:r>
              <a:rPr sz="1400" spc="-65" dirty="0">
                <a:latin typeface="Calibri"/>
                <a:cs typeface="Calibri"/>
              </a:rPr>
              <a:t> </a:t>
            </a:r>
            <a:r>
              <a:rPr sz="1400" spc="-5" dirty="0">
                <a:latin typeface="Calibri"/>
                <a:cs typeface="Calibri"/>
              </a:rPr>
              <a:t>(width)</a:t>
            </a:r>
            <a:endParaRPr sz="1400" dirty="0">
              <a:latin typeface="Calibri"/>
              <a:cs typeface="Calibri"/>
            </a:endParaRPr>
          </a:p>
        </p:txBody>
      </p:sp>
      <p:sp>
        <p:nvSpPr>
          <p:cNvPr id="116" name="object 73">
            <a:extLst>
              <a:ext uri="{FF2B5EF4-FFF2-40B4-BE49-F238E27FC236}">
                <a16:creationId xmlns:a16="http://schemas.microsoft.com/office/drawing/2014/main" id="{CC9D2269-0CA8-143F-4E45-F3AF594A2ED3}"/>
              </a:ext>
            </a:extLst>
          </p:cNvPr>
          <p:cNvSpPr txBox="1"/>
          <p:nvPr/>
        </p:nvSpPr>
        <p:spPr>
          <a:xfrm>
            <a:off x="8473440" y="3983757"/>
            <a:ext cx="1758950" cy="986155"/>
          </a:xfrm>
          <a:prstGeom prst="rect">
            <a:avLst/>
          </a:prstGeom>
          <a:solidFill>
            <a:srgbClr val="CCB657"/>
          </a:solidFill>
        </p:spPr>
        <p:txBody>
          <a:bodyPr vert="horz" wrap="square" lIns="0" tIns="2540" rIns="0" bIns="0" rtlCol="0">
            <a:spAutoFit/>
          </a:bodyPr>
          <a:lstStyle/>
          <a:p>
            <a:pPr>
              <a:lnSpc>
                <a:spcPct val="100000"/>
              </a:lnSpc>
              <a:spcBef>
                <a:spcPts val="20"/>
              </a:spcBef>
            </a:pPr>
            <a:endParaRPr sz="2350" dirty="0">
              <a:latin typeface="Times New Roman"/>
              <a:cs typeface="Times New Roman"/>
            </a:endParaRPr>
          </a:p>
          <a:p>
            <a:pPr marL="18415" algn="ctr">
              <a:lnSpc>
                <a:spcPct val="100000"/>
              </a:lnSpc>
            </a:pPr>
            <a:r>
              <a:rPr sz="1600" b="1" spc="-10" dirty="0">
                <a:latin typeface="Calibri"/>
                <a:cs typeface="Calibri"/>
              </a:rPr>
              <a:t>Core</a:t>
            </a:r>
            <a:endParaRPr sz="1600" dirty="0">
              <a:latin typeface="Calibri"/>
              <a:cs typeface="Calibri"/>
            </a:endParaRPr>
          </a:p>
        </p:txBody>
      </p:sp>
      <p:sp>
        <p:nvSpPr>
          <p:cNvPr id="117" name="object 74">
            <a:extLst>
              <a:ext uri="{FF2B5EF4-FFF2-40B4-BE49-F238E27FC236}">
                <a16:creationId xmlns:a16="http://schemas.microsoft.com/office/drawing/2014/main" id="{8A3332FF-25D4-1955-323F-BBD1D30324AC}"/>
              </a:ext>
            </a:extLst>
          </p:cNvPr>
          <p:cNvSpPr txBox="1"/>
          <p:nvPr/>
        </p:nvSpPr>
        <p:spPr>
          <a:xfrm>
            <a:off x="10472623" y="4338253"/>
            <a:ext cx="741045" cy="269240"/>
          </a:xfrm>
          <a:prstGeom prst="rect">
            <a:avLst/>
          </a:prstGeom>
        </p:spPr>
        <p:txBody>
          <a:bodyPr vert="horz" wrap="square" lIns="0" tIns="12065" rIns="0" bIns="0" rtlCol="0">
            <a:spAutoFit/>
          </a:bodyPr>
          <a:lstStyle/>
          <a:p>
            <a:pPr>
              <a:lnSpc>
                <a:spcPct val="100000"/>
              </a:lnSpc>
              <a:spcBef>
                <a:spcPts val="95"/>
              </a:spcBef>
            </a:pPr>
            <a:r>
              <a:rPr sz="1600" b="1" spc="-10" dirty="0">
                <a:latin typeface="Calibri"/>
                <a:cs typeface="Calibri"/>
              </a:rPr>
              <a:t>Cladding</a:t>
            </a:r>
            <a:endParaRPr sz="1600" dirty="0">
              <a:latin typeface="Calibri"/>
              <a:cs typeface="Calibri"/>
            </a:endParaRPr>
          </a:p>
        </p:txBody>
      </p:sp>
      <p:sp>
        <p:nvSpPr>
          <p:cNvPr id="120" name="object 73">
            <a:extLst>
              <a:ext uri="{FF2B5EF4-FFF2-40B4-BE49-F238E27FC236}">
                <a16:creationId xmlns:a16="http://schemas.microsoft.com/office/drawing/2014/main" id="{C699977C-9138-F9B9-E43D-0CCB01AEB75F}"/>
              </a:ext>
            </a:extLst>
          </p:cNvPr>
          <p:cNvSpPr txBox="1"/>
          <p:nvPr/>
        </p:nvSpPr>
        <p:spPr>
          <a:xfrm>
            <a:off x="7391400" y="4690819"/>
            <a:ext cx="3906179" cy="610424"/>
          </a:xfrm>
          <a:prstGeom prst="rect">
            <a:avLst/>
          </a:prstGeom>
          <a:solidFill>
            <a:srgbClr val="CCB657"/>
          </a:solidFill>
        </p:spPr>
        <p:txBody>
          <a:bodyPr vert="horz" wrap="square" lIns="0" tIns="2540" rIns="0" bIns="0" rtlCol="0">
            <a:spAutoFit/>
          </a:bodyPr>
          <a:lstStyle/>
          <a:p>
            <a:pPr>
              <a:lnSpc>
                <a:spcPct val="100000"/>
              </a:lnSpc>
              <a:spcBef>
                <a:spcPts val="20"/>
              </a:spcBef>
            </a:pPr>
            <a:endParaRPr lang="es-ES" sz="2350" dirty="0">
              <a:latin typeface="Times New Roman"/>
              <a:cs typeface="Times New Roman"/>
            </a:endParaRPr>
          </a:p>
          <a:p>
            <a:pPr marL="18415">
              <a:lnSpc>
                <a:spcPct val="100000"/>
              </a:lnSpc>
            </a:pPr>
            <a:r>
              <a:rPr lang="es-ES" sz="1600" b="1" spc="-10" dirty="0" err="1">
                <a:latin typeface="Calibri"/>
                <a:cs typeface="Calibri"/>
              </a:rPr>
              <a:t>Slab</a:t>
            </a:r>
            <a:endParaRPr sz="1600" dirty="0">
              <a:latin typeface="Calibri"/>
              <a:cs typeface="Calibri"/>
            </a:endParaRPr>
          </a:p>
        </p:txBody>
      </p:sp>
      <p:sp>
        <p:nvSpPr>
          <p:cNvPr id="112" name="object 62">
            <a:extLst>
              <a:ext uri="{FF2B5EF4-FFF2-40B4-BE49-F238E27FC236}">
                <a16:creationId xmlns:a16="http://schemas.microsoft.com/office/drawing/2014/main" id="{04561701-4B4F-F208-98F6-2DAB5C1138D3}"/>
              </a:ext>
            </a:extLst>
          </p:cNvPr>
          <p:cNvSpPr/>
          <p:nvPr/>
        </p:nvSpPr>
        <p:spPr>
          <a:xfrm>
            <a:off x="8575910" y="3994221"/>
            <a:ext cx="56259" cy="694989"/>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121" name="object 62">
            <a:extLst>
              <a:ext uri="{FF2B5EF4-FFF2-40B4-BE49-F238E27FC236}">
                <a16:creationId xmlns:a16="http://schemas.microsoft.com/office/drawing/2014/main" id="{CCA3B0D6-0C9E-B4A6-FA43-1AB5F1821674}"/>
              </a:ext>
            </a:extLst>
          </p:cNvPr>
          <p:cNvSpPr/>
          <p:nvPr/>
        </p:nvSpPr>
        <p:spPr>
          <a:xfrm>
            <a:off x="8233207" y="4689210"/>
            <a:ext cx="55008" cy="613272"/>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113" name="object 63">
            <a:extLst>
              <a:ext uri="{FF2B5EF4-FFF2-40B4-BE49-F238E27FC236}">
                <a16:creationId xmlns:a16="http://schemas.microsoft.com/office/drawing/2014/main" id="{6394166D-0522-24AD-E666-39FE8A3FDC24}"/>
              </a:ext>
            </a:extLst>
          </p:cNvPr>
          <p:cNvSpPr txBox="1"/>
          <p:nvPr/>
        </p:nvSpPr>
        <p:spPr>
          <a:xfrm>
            <a:off x="8351994" y="4887127"/>
            <a:ext cx="674053" cy="228909"/>
          </a:xfrm>
          <a:prstGeom prst="rect">
            <a:avLst/>
          </a:prstGeom>
        </p:spPr>
        <p:txBody>
          <a:bodyPr vert="horz" wrap="square" lIns="0" tIns="13335" rIns="0" bIns="0" rtlCol="0">
            <a:spAutoFit/>
          </a:bodyPr>
          <a:lstStyle/>
          <a:p>
            <a:pPr marR="3175">
              <a:lnSpc>
                <a:spcPct val="100000"/>
              </a:lnSpc>
              <a:spcBef>
                <a:spcPts val="105"/>
              </a:spcBef>
            </a:pPr>
            <a:r>
              <a:rPr lang="es-ES" sz="1400" dirty="0" err="1">
                <a:latin typeface="Calibri"/>
                <a:cs typeface="Calibri"/>
              </a:rPr>
              <a:t>h_slab</a:t>
            </a:r>
            <a:endParaRPr sz="1400" dirty="0">
              <a:latin typeface="Calibri"/>
              <a:cs typeface="Calibri"/>
            </a:endParaRPr>
          </a:p>
        </p:txBody>
      </p:sp>
      <p:sp>
        <p:nvSpPr>
          <p:cNvPr id="122" name="object 63">
            <a:extLst>
              <a:ext uri="{FF2B5EF4-FFF2-40B4-BE49-F238E27FC236}">
                <a16:creationId xmlns:a16="http://schemas.microsoft.com/office/drawing/2014/main" id="{B589EB7D-B26E-4239-A5C2-F96DBBE82162}"/>
              </a:ext>
            </a:extLst>
          </p:cNvPr>
          <p:cNvSpPr txBox="1"/>
          <p:nvPr/>
        </p:nvSpPr>
        <p:spPr>
          <a:xfrm>
            <a:off x="8706378" y="3990085"/>
            <a:ext cx="1380175" cy="228909"/>
          </a:xfrm>
          <a:prstGeom prst="rect">
            <a:avLst/>
          </a:prstGeom>
        </p:spPr>
        <p:txBody>
          <a:bodyPr vert="horz" wrap="square" lIns="0" tIns="13335" rIns="0" bIns="0" rtlCol="0">
            <a:spAutoFit/>
          </a:bodyPr>
          <a:lstStyle/>
          <a:p>
            <a:pPr marR="3175">
              <a:lnSpc>
                <a:spcPct val="100000"/>
              </a:lnSpc>
              <a:spcBef>
                <a:spcPts val="105"/>
              </a:spcBef>
            </a:pPr>
            <a:r>
              <a:rPr lang="es-ES" sz="1400" spc="-10" dirty="0" err="1">
                <a:latin typeface="Calibri"/>
                <a:cs typeface="Calibri"/>
              </a:rPr>
              <a:t>h_core</a:t>
            </a:r>
            <a:r>
              <a:rPr lang="es-ES" sz="1400" spc="-10" dirty="0">
                <a:latin typeface="Calibri"/>
                <a:cs typeface="Calibri"/>
              </a:rPr>
              <a:t> </a:t>
            </a:r>
            <a:endParaRPr sz="1400" dirty="0">
              <a:latin typeface="Calibri"/>
              <a:cs typeface="Calibri"/>
            </a:endParaRPr>
          </a:p>
        </p:txBody>
      </p:sp>
      <p:sp>
        <p:nvSpPr>
          <p:cNvPr id="2" name="CuadroTexto 1">
            <a:extLst>
              <a:ext uri="{FF2B5EF4-FFF2-40B4-BE49-F238E27FC236}">
                <a16:creationId xmlns:a16="http://schemas.microsoft.com/office/drawing/2014/main" id="{57D9AFBE-EF33-9078-9CE3-5C8B079B0C36}"/>
              </a:ext>
            </a:extLst>
          </p:cNvPr>
          <p:cNvSpPr txBox="1"/>
          <p:nvPr/>
        </p:nvSpPr>
        <p:spPr>
          <a:xfrm>
            <a:off x="9306491" y="5257071"/>
            <a:ext cx="1980542" cy="369332"/>
          </a:xfrm>
          <a:prstGeom prst="rect">
            <a:avLst/>
          </a:prstGeom>
          <a:noFill/>
        </p:spPr>
        <p:txBody>
          <a:bodyPr wrap="none" rtlCol="0">
            <a:spAutoFit/>
          </a:bodyPr>
          <a:lstStyle/>
          <a:p>
            <a:pPr algn="ctr"/>
            <a:r>
              <a:rPr lang="en-US" b="1" dirty="0"/>
              <a:t>shallow</a:t>
            </a:r>
            <a:r>
              <a:rPr lang="en-US" dirty="0"/>
              <a:t> waveguide</a:t>
            </a:r>
          </a:p>
        </p:txBody>
      </p:sp>
      <p:sp>
        <p:nvSpPr>
          <p:cNvPr id="8" name="CuadroTexto 7">
            <a:extLst>
              <a:ext uri="{FF2B5EF4-FFF2-40B4-BE49-F238E27FC236}">
                <a16:creationId xmlns:a16="http://schemas.microsoft.com/office/drawing/2014/main" id="{7336B5D8-2D70-3E7A-336D-AF55EC49DEB8}"/>
              </a:ext>
            </a:extLst>
          </p:cNvPr>
          <p:cNvSpPr txBox="1"/>
          <p:nvPr/>
        </p:nvSpPr>
        <p:spPr>
          <a:xfrm>
            <a:off x="2969899" y="5257071"/>
            <a:ext cx="2157554" cy="369332"/>
          </a:xfrm>
          <a:prstGeom prst="rect">
            <a:avLst/>
          </a:prstGeom>
          <a:noFill/>
        </p:spPr>
        <p:txBody>
          <a:bodyPr wrap="square">
            <a:spAutoFit/>
          </a:bodyPr>
          <a:lstStyle/>
          <a:p>
            <a:pPr algn="ctr"/>
            <a:r>
              <a:rPr lang="en-US" b="1" dirty="0"/>
              <a:t>deep</a:t>
            </a:r>
            <a:r>
              <a:rPr lang="en-US" dirty="0"/>
              <a:t> waveguide</a:t>
            </a:r>
          </a:p>
        </p:txBody>
      </p:sp>
    </p:spTree>
    <p:extLst>
      <p:ext uri="{BB962C8B-B14F-4D97-AF65-F5344CB8AC3E}">
        <p14:creationId xmlns:p14="http://schemas.microsoft.com/office/powerpoint/2010/main" val="4739228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95554B-67EA-B6F8-D48B-E89C530E7D1C}"/>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895021D6-1F41-2F3A-9513-979856223ED9}"/>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#1.1 – Materials</a:t>
            </a: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0689FD67-3625-76E0-B7F7-D6256B84693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DF85D4F2-EF90-6BC0-8E40-FBA6EE764B3B}"/>
              </a:ext>
            </a:extLst>
          </p:cNvPr>
          <p:cNvSpPr>
            <a:spLocks noGrp="1"/>
          </p:cNvSpPr>
          <p:nvPr>
            <p:ph type="sldNum" sz="quarter" idx="7"/>
          </p:nvPr>
        </p:nvSpPr>
        <p:spPr/>
        <p:txBody>
          <a:bodyPr/>
          <a:lstStyle/>
          <a:p>
            <a:fld id="{B6F15528-21DE-4FAA-801E-634DDDAF4B2B}" type="slidenum">
              <a:rPr lang="es-ES" smtClean="0"/>
              <a:t>3</a:t>
            </a:fld>
            <a:endParaRPr lang="es-ES"/>
          </a:p>
        </p:txBody>
      </p:sp>
      <p:sp>
        <p:nvSpPr>
          <p:cNvPr id="3" name="Marcador de pie de página 2">
            <a:extLst>
              <a:ext uri="{FF2B5EF4-FFF2-40B4-BE49-F238E27FC236}">
                <a16:creationId xmlns:a16="http://schemas.microsoft.com/office/drawing/2014/main" id="{3C1B55A1-A9A5-C391-4071-7EA86EAF64C0}"/>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5" name="CuadroTexto 4">
            <a:extLst>
              <a:ext uri="{FF2B5EF4-FFF2-40B4-BE49-F238E27FC236}">
                <a16:creationId xmlns:a16="http://schemas.microsoft.com/office/drawing/2014/main" id="{9BEDD745-C961-8871-5B7A-53C72BAFDA1D}"/>
              </a:ext>
            </a:extLst>
          </p:cNvPr>
          <p:cNvSpPr txBox="1"/>
          <p:nvPr/>
        </p:nvSpPr>
        <p:spPr>
          <a:xfrm>
            <a:off x="381000" y="3746858"/>
            <a:ext cx="11199971" cy="1015663"/>
          </a:xfrm>
          <a:prstGeom prst="rect">
            <a:avLst/>
          </a:prstGeom>
          <a:solidFill>
            <a:schemeClr val="bg1">
              <a:lumMod val="95000"/>
            </a:schemeClr>
          </a:solidFill>
          <a:ln w="28575">
            <a:solidFill>
              <a:srgbClr val="E0700D"/>
            </a:solidFill>
          </a:ln>
        </p:spPr>
        <p:txBody>
          <a:bodyPr wrap="square" rtlCol="0">
            <a:spAutoFit/>
          </a:bodyPr>
          <a:lstStyle/>
          <a:p>
            <a:pPr algn="just"/>
            <a:r>
              <a:rPr lang="es-ES" sz="1200" dirty="0">
                <a:latin typeface="Arial" panose="020B0604020202020204" pitchFamily="34" charset="0"/>
                <a:cs typeface="Arial" panose="020B0604020202020204" pitchFamily="34" charset="0"/>
              </a:rPr>
              <a:t>Las gráficas muestran la variación del índice de refracción (n) en función de la longitud de onda para el silicio (Si), el nitruro de silicio (</a:t>
            </a:r>
            <a:r>
              <a:rPr lang="es-ES" sz="1200" dirty="0" err="1">
                <a:latin typeface="Arial" panose="020B0604020202020204" pitchFamily="34" charset="0"/>
                <a:cs typeface="Arial" panose="020B0604020202020204" pitchFamily="34" charset="0"/>
              </a:rPr>
              <a:t>SiNx</a:t>
            </a:r>
            <a:r>
              <a:rPr lang="es-ES" sz="1200" dirty="0">
                <a:latin typeface="Arial" panose="020B0604020202020204" pitchFamily="34" charset="0"/>
                <a:cs typeface="Arial" panose="020B0604020202020204" pitchFamily="34" charset="0"/>
              </a:rPr>
              <a:t>) y el dióxido de silicio (SiO2). En los tres materiales se observa una ligera disminución de n a medida que aumenta la longitud de onda que puede dar lugar a dispersión cromática. Asimismo, se aprecia que cada material presenta un valor de índice de refracción distinto, lo que influye en el confinamiento y la propagación en la guía.</a:t>
            </a:r>
          </a:p>
          <a:p>
            <a:pPr algn="just"/>
            <a:endParaRPr lang="es-ES" sz="1200" dirty="0">
              <a:latin typeface="Arial" panose="020B0604020202020204" pitchFamily="34" charset="0"/>
              <a:cs typeface="Arial" panose="020B0604020202020204" pitchFamily="34" charset="0"/>
            </a:endParaRPr>
          </a:p>
          <a:p>
            <a:pPr algn="just"/>
            <a:r>
              <a:rPr lang="es-ES" sz="1200" dirty="0">
                <a:latin typeface="Arial" panose="020B0604020202020204" pitchFamily="34" charset="0"/>
                <a:cs typeface="Arial" panose="020B0604020202020204" pitchFamily="34" charset="0"/>
              </a:rPr>
              <a:t>En concreto, los materiales Si y </a:t>
            </a:r>
            <a:r>
              <a:rPr lang="es-ES" sz="1200" dirty="0" err="1">
                <a:latin typeface="Arial" panose="020B0604020202020204" pitchFamily="34" charset="0"/>
                <a:cs typeface="Arial" panose="020B0604020202020204" pitchFamily="34" charset="0"/>
              </a:rPr>
              <a:t>SiNx</a:t>
            </a:r>
            <a:r>
              <a:rPr lang="es-ES" sz="1200" dirty="0">
                <a:latin typeface="Arial" panose="020B0604020202020204" pitchFamily="34" charset="0"/>
                <a:cs typeface="Arial" panose="020B0604020202020204" pitchFamily="34" charset="0"/>
              </a:rPr>
              <a:t> se van a usar como núcleo y el SiO2 como cubierta en esta práctica.</a:t>
            </a:r>
          </a:p>
        </p:txBody>
      </p:sp>
      <p:pic>
        <p:nvPicPr>
          <p:cNvPr id="7" name="Imagen 6" descr="Gráfico, Gráfico de líneas&#10;&#10;El contenido generado por IA puede ser incorrecto.">
            <a:extLst>
              <a:ext uri="{FF2B5EF4-FFF2-40B4-BE49-F238E27FC236}">
                <a16:creationId xmlns:a16="http://schemas.microsoft.com/office/drawing/2014/main" id="{59ADF897-2A4F-7AAC-55FA-E5B2C77E8011}"/>
              </a:ext>
            </a:extLst>
          </p:cNvPr>
          <p:cNvPicPr>
            <a:picLocks noChangeAspect="1"/>
          </p:cNvPicPr>
          <p:nvPr/>
        </p:nvPicPr>
        <p:blipFill>
          <a:blip r:embed="rId5"/>
          <a:stretch>
            <a:fillRect/>
          </a:stretch>
        </p:blipFill>
        <p:spPr>
          <a:xfrm>
            <a:off x="685800" y="926026"/>
            <a:ext cx="3460630" cy="2696210"/>
          </a:xfrm>
          <a:prstGeom prst="rect">
            <a:avLst/>
          </a:prstGeom>
        </p:spPr>
      </p:pic>
      <p:pic>
        <p:nvPicPr>
          <p:cNvPr id="9" name="Imagen 8" descr="Gráfico, Gráfico de líneas&#10;&#10;El contenido generado por IA puede ser incorrecto.">
            <a:extLst>
              <a:ext uri="{FF2B5EF4-FFF2-40B4-BE49-F238E27FC236}">
                <a16:creationId xmlns:a16="http://schemas.microsoft.com/office/drawing/2014/main" id="{6664E989-F90C-4CE4-7096-A630A903C6F0}"/>
              </a:ext>
            </a:extLst>
          </p:cNvPr>
          <p:cNvPicPr>
            <a:picLocks noChangeAspect="1"/>
          </p:cNvPicPr>
          <p:nvPr/>
        </p:nvPicPr>
        <p:blipFill>
          <a:blip r:embed="rId6"/>
          <a:stretch>
            <a:fillRect/>
          </a:stretch>
        </p:blipFill>
        <p:spPr>
          <a:xfrm>
            <a:off x="4191000" y="926026"/>
            <a:ext cx="3584566" cy="2745753"/>
          </a:xfrm>
          <a:prstGeom prst="rect">
            <a:avLst/>
          </a:prstGeom>
        </p:spPr>
      </p:pic>
      <p:pic>
        <p:nvPicPr>
          <p:cNvPr id="11" name="Imagen 10" descr="Gráfico, Gráfico de líneas&#10;&#10;El contenido generado por IA puede ser incorrecto.">
            <a:extLst>
              <a:ext uri="{FF2B5EF4-FFF2-40B4-BE49-F238E27FC236}">
                <a16:creationId xmlns:a16="http://schemas.microsoft.com/office/drawing/2014/main" id="{B1AA1D81-CF0C-4C1E-D83F-AA4C8C94DDB7}"/>
              </a:ext>
            </a:extLst>
          </p:cNvPr>
          <p:cNvPicPr>
            <a:picLocks noChangeAspect="1"/>
          </p:cNvPicPr>
          <p:nvPr/>
        </p:nvPicPr>
        <p:blipFill>
          <a:blip r:embed="rId7"/>
          <a:stretch>
            <a:fillRect/>
          </a:stretch>
        </p:blipFill>
        <p:spPr>
          <a:xfrm>
            <a:off x="7816849" y="910632"/>
            <a:ext cx="3689351" cy="2788464"/>
          </a:xfrm>
          <a:prstGeom prst="rect">
            <a:avLst/>
          </a:prstGeom>
        </p:spPr>
      </p:pic>
    </p:spTree>
    <p:extLst>
      <p:ext uri="{BB962C8B-B14F-4D97-AF65-F5344CB8AC3E}">
        <p14:creationId xmlns:p14="http://schemas.microsoft.com/office/powerpoint/2010/main" val="11161003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DE8FC5-51A5-E519-FF3C-244192A6E3C7}"/>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A08153FC-6804-7F8E-265B-A5B63827D06D}"/>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#1.2 – Cross - Section</a:t>
            </a: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2BAB1CD2-5C6D-6871-F421-A2B3FCDCECE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E9F8AA0F-C575-D859-F0AD-B35A5C1F720C}"/>
              </a:ext>
            </a:extLst>
          </p:cNvPr>
          <p:cNvSpPr>
            <a:spLocks noGrp="1"/>
          </p:cNvSpPr>
          <p:nvPr>
            <p:ph type="sldNum" sz="quarter" idx="7"/>
          </p:nvPr>
        </p:nvSpPr>
        <p:spPr/>
        <p:txBody>
          <a:bodyPr/>
          <a:lstStyle/>
          <a:p>
            <a:fld id="{B6F15528-21DE-4FAA-801E-634DDDAF4B2B}" type="slidenum">
              <a:rPr lang="es-ES" smtClean="0"/>
              <a:t>4</a:t>
            </a:fld>
            <a:endParaRPr lang="es-ES"/>
          </a:p>
        </p:txBody>
      </p:sp>
      <p:sp>
        <p:nvSpPr>
          <p:cNvPr id="3" name="Marcador de pie de página 2">
            <a:extLst>
              <a:ext uri="{FF2B5EF4-FFF2-40B4-BE49-F238E27FC236}">
                <a16:creationId xmlns:a16="http://schemas.microsoft.com/office/drawing/2014/main" id="{3B57B873-899A-BCBB-27B7-94F0F8082354}"/>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5" name="CuadroTexto 4">
            <a:extLst>
              <a:ext uri="{FF2B5EF4-FFF2-40B4-BE49-F238E27FC236}">
                <a16:creationId xmlns:a16="http://schemas.microsoft.com/office/drawing/2014/main" id="{9358B08F-129E-A3BF-C711-7DFBD318626B}"/>
              </a:ext>
            </a:extLst>
          </p:cNvPr>
          <p:cNvSpPr txBox="1"/>
          <p:nvPr/>
        </p:nvSpPr>
        <p:spPr>
          <a:xfrm>
            <a:off x="381000" y="3746858"/>
            <a:ext cx="11199971" cy="830997"/>
          </a:xfrm>
          <a:prstGeom prst="rect">
            <a:avLst/>
          </a:prstGeom>
          <a:solidFill>
            <a:schemeClr val="bg1">
              <a:lumMod val="95000"/>
            </a:schemeClr>
          </a:solidFill>
          <a:ln w="28575">
            <a:solidFill>
              <a:srgbClr val="E0700D"/>
            </a:solidFill>
          </a:ln>
        </p:spPr>
        <p:txBody>
          <a:bodyPr wrap="square" rtlCol="0">
            <a:spAutoFit/>
          </a:bodyPr>
          <a:lstStyle/>
          <a:p>
            <a:pPr algn="just"/>
            <a:r>
              <a:rPr lang="es-ES" sz="1200" dirty="0">
                <a:latin typeface="Arial" panose="020B0604020202020204" pitchFamily="34" charset="0"/>
                <a:cs typeface="Arial" panose="020B0604020202020204" pitchFamily="34" charset="0"/>
              </a:rPr>
              <a:t>En las imágenes se muestra la sección cruzada de las guías Deep y </a:t>
            </a:r>
            <a:r>
              <a:rPr lang="es-ES" sz="1200" dirty="0" err="1">
                <a:latin typeface="Arial" panose="020B0604020202020204" pitchFamily="34" charset="0"/>
                <a:cs typeface="Arial" panose="020B0604020202020204" pitchFamily="34" charset="0"/>
              </a:rPr>
              <a:t>Shallow</a:t>
            </a:r>
            <a:r>
              <a:rPr lang="es-ES" sz="1200" dirty="0">
                <a:latin typeface="Arial" panose="020B0604020202020204" pitchFamily="34" charset="0"/>
                <a:cs typeface="Arial" panose="020B0604020202020204" pitchFamily="34" charset="0"/>
              </a:rPr>
              <a:t>, respectivamente.</a:t>
            </a:r>
          </a:p>
          <a:p>
            <a:pPr algn="just"/>
            <a:endParaRPr lang="es-ES" sz="1200" dirty="0">
              <a:latin typeface="Arial" panose="020B0604020202020204" pitchFamily="34" charset="0"/>
              <a:cs typeface="Arial" panose="020B0604020202020204" pitchFamily="34" charset="0"/>
            </a:endParaRPr>
          </a:p>
          <a:p>
            <a:pPr marL="171450" indent="-171450" algn="just">
              <a:buFontTx/>
              <a:buChar char="-"/>
            </a:pPr>
            <a:r>
              <a:rPr lang="es-ES" sz="1200" dirty="0">
                <a:latin typeface="Arial" panose="020B0604020202020204" pitchFamily="34" charset="0"/>
                <a:cs typeface="Arial" panose="020B0604020202020204" pitchFamily="34" charset="0"/>
              </a:rPr>
              <a:t>Para la guía Deep las dimensiones son: </a:t>
            </a:r>
            <a:r>
              <a:rPr lang="es-ES" sz="1200" dirty="0" err="1">
                <a:latin typeface="Arial" panose="020B0604020202020204" pitchFamily="34" charset="0"/>
                <a:cs typeface="Arial" panose="020B0604020202020204" pitchFamily="34" charset="0"/>
              </a:rPr>
              <a:t>width</a:t>
            </a:r>
            <a:r>
              <a:rPr lang="es-ES" sz="1200" dirty="0">
                <a:latin typeface="Arial" panose="020B0604020202020204" pitchFamily="34" charset="0"/>
                <a:cs typeface="Arial" panose="020B0604020202020204" pitchFamily="34" charset="0"/>
              </a:rPr>
              <a:t> = 1.2 </a:t>
            </a:r>
            <a:r>
              <a:rPr lang="es-ES" sz="1200" dirty="0" err="1">
                <a:latin typeface="Arial" panose="020B0604020202020204" pitchFamily="34" charset="0"/>
                <a:cs typeface="Arial" panose="020B0604020202020204" pitchFamily="34" charset="0"/>
              </a:rPr>
              <a:t>um</a:t>
            </a:r>
            <a:r>
              <a:rPr lang="es-ES" sz="1200" dirty="0">
                <a:latin typeface="Arial" panose="020B0604020202020204" pitchFamily="34" charset="0"/>
                <a:cs typeface="Arial" panose="020B0604020202020204" pitchFamily="34" charset="0"/>
              </a:rPr>
              <a:t> y </a:t>
            </a:r>
            <a:r>
              <a:rPr lang="es-ES" sz="1200" dirty="0" err="1">
                <a:latin typeface="Arial" panose="020B0604020202020204" pitchFamily="34" charset="0"/>
                <a:cs typeface="Arial" panose="020B0604020202020204" pitchFamily="34" charset="0"/>
              </a:rPr>
              <a:t>height</a:t>
            </a:r>
            <a:r>
              <a:rPr lang="es-ES" sz="1200" dirty="0">
                <a:latin typeface="Arial" panose="020B0604020202020204" pitchFamily="34" charset="0"/>
                <a:cs typeface="Arial" panose="020B0604020202020204" pitchFamily="34" charset="0"/>
              </a:rPr>
              <a:t> = 0.3 </a:t>
            </a:r>
            <a:r>
              <a:rPr lang="es-ES" sz="1200" dirty="0" err="1">
                <a:latin typeface="Arial" panose="020B0604020202020204" pitchFamily="34" charset="0"/>
                <a:cs typeface="Arial" panose="020B0604020202020204" pitchFamily="34" charset="0"/>
              </a:rPr>
              <a:t>um</a:t>
            </a:r>
            <a:r>
              <a:rPr lang="es-ES" sz="1200" dirty="0">
                <a:latin typeface="Arial" panose="020B0604020202020204" pitchFamily="34" charset="0"/>
                <a:cs typeface="Arial" panose="020B0604020202020204" pitchFamily="34" charset="0"/>
              </a:rPr>
              <a:t>.</a:t>
            </a:r>
          </a:p>
          <a:p>
            <a:pPr marL="171450" indent="-171450" algn="just">
              <a:buFontTx/>
              <a:buChar char="-"/>
            </a:pPr>
            <a:r>
              <a:rPr lang="es-ES" sz="1200" dirty="0">
                <a:latin typeface="Arial" panose="020B0604020202020204" pitchFamily="34" charset="0"/>
                <a:cs typeface="Arial" panose="020B0604020202020204" pitchFamily="34" charset="0"/>
              </a:rPr>
              <a:t>Para la guía </a:t>
            </a:r>
            <a:r>
              <a:rPr lang="es-ES" sz="1200" dirty="0" err="1">
                <a:latin typeface="Arial" panose="020B0604020202020204" pitchFamily="34" charset="0"/>
                <a:cs typeface="Arial" panose="020B0604020202020204" pitchFamily="34" charset="0"/>
              </a:rPr>
              <a:t>Shallow</a:t>
            </a:r>
            <a:r>
              <a:rPr lang="es-ES" sz="1200" dirty="0">
                <a:latin typeface="Arial" panose="020B0604020202020204" pitchFamily="34" charset="0"/>
                <a:cs typeface="Arial" panose="020B0604020202020204" pitchFamily="34" charset="0"/>
              </a:rPr>
              <a:t> las dimensiones son: </a:t>
            </a:r>
            <a:r>
              <a:rPr lang="es-ES" sz="1200" dirty="0" err="1">
                <a:latin typeface="Arial" panose="020B0604020202020204" pitchFamily="34" charset="0"/>
                <a:cs typeface="Arial" panose="020B0604020202020204" pitchFamily="34" charset="0"/>
              </a:rPr>
              <a:t>width</a:t>
            </a:r>
            <a:r>
              <a:rPr lang="es-ES" sz="1200" dirty="0">
                <a:latin typeface="Arial" panose="020B0604020202020204" pitchFamily="34" charset="0"/>
                <a:cs typeface="Arial" panose="020B0604020202020204" pitchFamily="34" charset="0"/>
              </a:rPr>
              <a:t> = 1.2 </a:t>
            </a:r>
            <a:r>
              <a:rPr lang="es-ES" sz="1200" dirty="0" err="1">
                <a:latin typeface="Arial" panose="020B0604020202020204" pitchFamily="34" charset="0"/>
                <a:cs typeface="Arial" panose="020B0604020202020204" pitchFamily="34" charset="0"/>
              </a:rPr>
              <a:t>um</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height</a:t>
            </a:r>
            <a:r>
              <a:rPr lang="es-ES" sz="1200" dirty="0">
                <a:latin typeface="Arial" panose="020B0604020202020204" pitchFamily="34" charset="0"/>
                <a:cs typeface="Arial" panose="020B0604020202020204" pitchFamily="34" charset="0"/>
              </a:rPr>
              <a:t> = 0.3 </a:t>
            </a:r>
            <a:r>
              <a:rPr lang="es-ES" sz="1200" dirty="0" err="1">
                <a:latin typeface="Arial" panose="020B0604020202020204" pitchFamily="34" charset="0"/>
                <a:cs typeface="Arial" panose="020B0604020202020204" pitchFamily="34" charset="0"/>
              </a:rPr>
              <a:t>um</a:t>
            </a:r>
            <a:r>
              <a:rPr lang="es-ES" sz="1200" dirty="0">
                <a:latin typeface="Arial" panose="020B0604020202020204" pitchFamily="34" charset="0"/>
                <a:cs typeface="Arial" panose="020B0604020202020204" pitchFamily="34" charset="0"/>
              </a:rPr>
              <a:t> y </a:t>
            </a:r>
            <a:r>
              <a:rPr lang="es-ES" sz="1200" dirty="0" err="1">
                <a:latin typeface="Arial" panose="020B0604020202020204" pitchFamily="34" charset="0"/>
                <a:cs typeface="Arial" panose="020B0604020202020204" pitchFamily="34" charset="0"/>
              </a:rPr>
              <a:t>slab_height</a:t>
            </a:r>
            <a:r>
              <a:rPr lang="es-ES" sz="1200" dirty="0">
                <a:latin typeface="Arial" panose="020B0604020202020204" pitchFamily="34" charset="0"/>
                <a:cs typeface="Arial" panose="020B0604020202020204" pitchFamily="34" charset="0"/>
              </a:rPr>
              <a:t> = 0.15 </a:t>
            </a:r>
            <a:r>
              <a:rPr lang="es-ES" sz="1200" dirty="0" err="1">
                <a:latin typeface="Arial" panose="020B0604020202020204" pitchFamily="34" charset="0"/>
                <a:cs typeface="Arial" panose="020B0604020202020204" pitchFamily="34" charset="0"/>
              </a:rPr>
              <a:t>um</a:t>
            </a:r>
            <a:r>
              <a:rPr lang="es-ES" sz="1200" dirty="0">
                <a:latin typeface="Arial" panose="020B0604020202020204" pitchFamily="34" charset="0"/>
                <a:cs typeface="Arial" panose="020B0604020202020204" pitchFamily="34" charset="0"/>
              </a:rPr>
              <a:t>. </a:t>
            </a:r>
          </a:p>
        </p:txBody>
      </p:sp>
      <p:pic>
        <p:nvPicPr>
          <p:cNvPr id="4" name="Imagen 3" descr="Gráfico&#10;&#10;El contenido generado por IA puede ser incorrecto.">
            <a:extLst>
              <a:ext uri="{FF2B5EF4-FFF2-40B4-BE49-F238E27FC236}">
                <a16:creationId xmlns:a16="http://schemas.microsoft.com/office/drawing/2014/main" id="{351B7EC1-D5A0-8397-E0E2-C0AC026453F8}"/>
              </a:ext>
            </a:extLst>
          </p:cNvPr>
          <p:cNvPicPr>
            <a:picLocks noChangeAspect="1"/>
          </p:cNvPicPr>
          <p:nvPr/>
        </p:nvPicPr>
        <p:blipFill>
          <a:blip r:embed="rId5"/>
          <a:stretch>
            <a:fillRect/>
          </a:stretch>
        </p:blipFill>
        <p:spPr>
          <a:xfrm>
            <a:off x="1345288" y="765509"/>
            <a:ext cx="4015023" cy="2935170"/>
          </a:xfrm>
          <a:prstGeom prst="rect">
            <a:avLst/>
          </a:prstGeom>
        </p:spPr>
      </p:pic>
      <p:pic>
        <p:nvPicPr>
          <p:cNvPr id="8" name="Imagen 7" descr="Gráfico&#10;&#10;El contenido generado por IA puede ser incorrecto.">
            <a:extLst>
              <a:ext uri="{FF2B5EF4-FFF2-40B4-BE49-F238E27FC236}">
                <a16:creationId xmlns:a16="http://schemas.microsoft.com/office/drawing/2014/main" id="{B69B693A-6AFD-210D-F467-AB7C00CE7CB9}"/>
              </a:ext>
            </a:extLst>
          </p:cNvPr>
          <p:cNvPicPr>
            <a:picLocks noChangeAspect="1"/>
          </p:cNvPicPr>
          <p:nvPr/>
        </p:nvPicPr>
        <p:blipFill>
          <a:blip r:embed="rId6"/>
          <a:stretch>
            <a:fillRect/>
          </a:stretch>
        </p:blipFill>
        <p:spPr>
          <a:xfrm>
            <a:off x="6220648" y="726690"/>
            <a:ext cx="4058289" cy="2966800"/>
          </a:xfrm>
          <a:prstGeom prst="rect">
            <a:avLst/>
          </a:prstGeom>
        </p:spPr>
      </p:pic>
    </p:spTree>
    <p:extLst>
      <p:ext uri="{BB962C8B-B14F-4D97-AF65-F5344CB8AC3E}">
        <p14:creationId xmlns:p14="http://schemas.microsoft.com/office/powerpoint/2010/main" val="6327625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8CBC75-98C8-5092-E7A9-F3E53CF502A3}"/>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22CEE061-4B1B-A03F-2DAE-0F8E49FE715B}"/>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#1.3 – Simulations</a:t>
            </a:r>
            <a:endParaRPr sz="2500" b="0" dirty="0">
              <a:latin typeface="+mj-lt"/>
              <a:cs typeface="Lucida Sans"/>
            </a:endParaRPr>
          </a:p>
        </p:txBody>
      </p:sp>
      <p:pic>
        <p:nvPicPr>
          <p:cNvPr id="83" name="Gráfico 82">
            <a:extLst>
              <a:ext uri="{FF2B5EF4-FFF2-40B4-BE49-F238E27FC236}">
                <a16:creationId xmlns:a16="http://schemas.microsoft.com/office/drawing/2014/main" id="{F0E5E6A2-5834-3066-5ABD-53F9C3BACE5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F6E29818-720B-4F4D-6653-64C8B4F263DE}"/>
              </a:ext>
            </a:extLst>
          </p:cNvPr>
          <p:cNvSpPr>
            <a:spLocks noGrp="1"/>
          </p:cNvSpPr>
          <p:nvPr>
            <p:ph type="sldNum" sz="quarter" idx="7"/>
          </p:nvPr>
        </p:nvSpPr>
        <p:spPr/>
        <p:txBody>
          <a:bodyPr/>
          <a:lstStyle/>
          <a:p>
            <a:fld id="{B6F15528-21DE-4FAA-801E-634DDDAF4B2B}" type="slidenum">
              <a:rPr lang="es-ES" smtClean="0"/>
              <a:t>5</a:t>
            </a:fld>
            <a:endParaRPr lang="es-ES"/>
          </a:p>
        </p:txBody>
      </p:sp>
      <p:sp>
        <p:nvSpPr>
          <p:cNvPr id="3" name="Marcador de pie de página 2">
            <a:extLst>
              <a:ext uri="{FF2B5EF4-FFF2-40B4-BE49-F238E27FC236}">
                <a16:creationId xmlns:a16="http://schemas.microsoft.com/office/drawing/2014/main" id="{D6B52AF5-5352-3814-820A-67C2CB07F122}"/>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5" name="CuadroTexto 4">
            <a:extLst>
              <a:ext uri="{FF2B5EF4-FFF2-40B4-BE49-F238E27FC236}">
                <a16:creationId xmlns:a16="http://schemas.microsoft.com/office/drawing/2014/main" id="{59FD84E3-2DC5-745A-C239-60F1257D78AC}"/>
              </a:ext>
            </a:extLst>
          </p:cNvPr>
          <p:cNvSpPr txBox="1"/>
          <p:nvPr/>
        </p:nvSpPr>
        <p:spPr>
          <a:xfrm>
            <a:off x="583019" y="3256134"/>
            <a:ext cx="11199971" cy="1015663"/>
          </a:xfrm>
          <a:prstGeom prst="rect">
            <a:avLst/>
          </a:prstGeom>
          <a:solidFill>
            <a:schemeClr val="bg1">
              <a:lumMod val="95000"/>
            </a:schemeClr>
          </a:solidFill>
          <a:ln w="28575">
            <a:solidFill>
              <a:srgbClr val="E0700D"/>
            </a:solidFill>
          </a:ln>
        </p:spPr>
        <p:txBody>
          <a:bodyPr wrap="square" rtlCol="0">
            <a:spAutoFit/>
          </a:bodyPr>
          <a:lstStyle/>
          <a:p>
            <a:pPr algn="just"/>
            <a:r>
              <a:rPr lang="es-ES" sz="1200" dirty="0">
                <a:latin typeface="Arial" panose="020B0604020202020204" pitchFamily="34" charset="0"/>
                <a:cs typeface="Arial" panose="020B0604020202020204" pitchFamily="34" charset="0"/>
              </a:rPr>
              <a:t>En las imágenes se muestra la distribución del campo eléctrico a lo largo de la sección cruzada de una guía Deep para una longitud de onda de 1550 nm para los distintos modos que se propagan TE0, TM0, TE1 y TM1, respectivamente.</a:t>
            </a:r>
          </a:p>
          <a:p>
            <a:pPr algn="just"/>
            <a:endParaRPr lang="es-ES" sz="1200" dirty="0">
              <a:latin typeface="Arial" panose="020B0604020202020204" pitchFamily="34" charset="0"/>
              <a:cs typeface="Arial" panose="020B0604020202020204" pitchFamily="34" charset="0"/>
            </a:endParaRPr>
          </a:p>
          <a:p>
            <a:pPr algn="just"/>
            <a:r>
              <a:rPr lang="es-ES" sz="1200" dirty="0">
                <a:latin typeface="Arial" panose="020B0604020202020204" pitchFamily="34" charset="0"/>
                <a:cs typeface="Arial" panose="020B0604020202020204" pitchFamily="34" charset="0"/>
              </a:rPr>
              <a:t>Se observa como los modos TE se distribuyen en horizontal y los TM en vertical. De esta forma, el modo TE0 está confinado mayoritariamente en el núcleo, al igual que el modo TM0, aunque este está menos confinado. Además, los modos TE1 y TM1 apenas se propagan por el núcleo.</a:t>
            </a:r>
          </a:p>
        </p:txBody>
      </p:sp>
      <p:pic>
        <p:nvPicPr>
          <p:cNvPr id="6" name="Imagen 5">
            <a:extLst>
              <a:ext uri="{FF2B5EF4-FFF2-40B4-BE49-F238E27FC236}">
                <a16:creationId xmlns:a16="http://schemas.microsoft.com/office/drawing/2014/main" id="{E65A65A2-C103-8A2F-6C83-8FF92A86618C}"/>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573745" y="1052230"/>
            <a:ext cx="2814909" cy="1894462"/>
          </a:xfrm>
          <a:prstGeom prst="rect">
            <a:avLst/>
          </a:prstGeom>
        </p:spPr>
      </p:pic>
      <p:pic>
        <p:nvPicPr>
          <p:cNvPr id="9" name="Imagen 8">
            <a:extLst>
              <a:ext uri="{FF2B5EF4-FFF2-40B4-BE49-F238E27FC236}">
                <a16:creationId xmlns:a16="http://schemas.microsoft.com/office/drawing/2014/main" id="{87646738-C4D6-330B-5385-717DD58775C4}"/>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3505200" y="1052230"/>
            <a:ext cx="2814909" cy="1894462"/>
          </a:xfrm>
          <a:prstGeom prst="rect">
            <a:avLst/>
          </a:prstGeom>
        </p:spPr>
      </p:pic>
      <p:pic>
        <p:nvPicPr>
          <p:cNvPr id="11" name="Imagen 10">
            <a:extLst>
              <a:ext uri="{FF2B5EF4-FFF2-40B4-BE49-F238E27FC236}">
                <a16:creationId xmlns:a16="http://schemas.microsoft.com/office/drawing/2014/main" id="{62F9AE3D-8F9E-A4FB-5CE5-F94ADAFC2ED1}"/>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6194174" y="1018447"/>
            <a:ext cx="2956476" cy="2004391"/>
          </a:xfrm>
          <a:prstGeom prst="rect">
            <a:avLst/>
          </a:prstGeom>
        </p:spPr>
      </p:pic>
      <p:pic>
        <p:nvPicPr>
          <p:cNvPr id="13" name="Imagen 12">
            <a:extLst>
              <a:ext uri="{FF2B5EF4-FFF2-40B4-BE49-F238E27FC236}">
                <a16:creationId xmlns:a16="http://schemas.microsoft.com/office/drawing/2014/main" id="{7FFEB3A3-2CC6-A22D-9EF4-9CA22486E404}"/>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8977354" y="1023402"/>
            <a:ext cx="2978817" cy="1963999"/>
          </a:xfrm>
          <a:prstGeom prst="rect">
            <a:avLst/>
          </a:prstGeom>
        </p:spPr>
      </p:pic>
    </p:spTree>
    <p:extLst>
      <p:ext uri="{BB962C8B-B14F-4D97-AF65-F5344CB8AC3E}">
        <p14:creationId xmlns:p14="http://schemas.microsoft.com/office/powerpoint/2010/main" val="17015774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656EC-E197-239C-60DD-C11F7BA4B44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431EA70-9578-8BF1-5A05-77CDC26788B4}"/>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#2 – Wavelength behavior</a:t>
            </a:r>
            <a:br>
              <a:rPr lang="es-ES" sz="2500" spc="-5" dirty="0">
                <a:latin typeface="+mj-lt"/>
                <a:cs typeface="Lucida Sans"/>
              </a:rPr>
            </a:br>
            <a:r>
              <a:rPr lang="en-US" b="0" dirty="0"/>
              <a:t>Wavelength 1.5-1.6 µm (step 0.01 µm) – width 1.2 µm</a:t>
            </a:r>
            <a:endParaRPr sz="2500" b="0" dirty="0">
              <a:latin typeface="+mj-lt"/>
              <a:cs typeface="Lucida Sans"/>
            </a:endParaRPr>
          </a:p>
        </p:txBody>
      </p:sp>
      <p:pic>
        <p:nvPicPr>
          <p:cNvPr id="83" name="Gráfico 82">
            <a:extLst>
              <a:ext uri="{FF2B5EF4-FFF2-40B4-BE49-F238E27FC236}">
                <a16:creationId xmlns:a16="http://schemas.microsoft.com/office/drawing/2014/main" id="{B6A02C28-9CC3-6E88-B695-04A48E5FDEA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FB7F118F-AD79-0ED0-CE53-A8EE4409B4F8}"/>
              </a:ext>
            </a:extLst>
          </p:cNvPr>
          <p:cNvSpPr>
            <a:spLocks noGrp="1"/>
          </p:cNvSpPr>
          <p:nvPr>
            <p:ph type="sldNum" sz="quarter" idx="7"/>
          </p:nvPr>
        </p:nvSpPr>
        <p:spPr/>
        <p:txBody>
          <a:bodyPr/>
          <a:lstStyle/>
          <a:p>
            <a:fld id="{B6F15528-21DE-4FAA-801E-634DDDAF4B2B}" type="slidenum">
              <a:rPr lang="es-ES" smtClean="0"/>
              <a:t>6</a:t>
            </a:fld>
            <a:endParaRPr lang="es-ES"/>
          </a:p>
        </p:txBody>
      </p:sp>
      <p:sp>
        <p:nvSpPr>
          <p:cNvPr id="3" name="Marcador de pie de página 2">
            <a:extLst>
              <a:ext uri="{FF2B5EF4-FFF2-40B4-BE49-F238E27FC236}">
                <a16:creationId xmlns:a16="http://schemas.microsoft.com/office/drawing/2014/main" id="{10846C9D-3FE3-8524-3349-96E1AD1712B3}"/>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2" name="CuadroTexto 1">
            <a:extLst>
              <a:ext uri="{FF2B5EF4-FFF2-40B4-BE49-F238E27FC236}">
                <a16:creationId xmlns:a16="http://schemas.microsoft.com/office/drawing/2014/main" id="{CA5F0FDF-2A95-453B-4ECA-AEB637FF2694}"/>
              </a:ext>
            </a:extLst>
          </p:cNvPr>
          <p:cNvSpPr txBox="1"/>
          <p:nvPr/>
        </p:nvSpPr>
        <p:spPr>
          <a:xfrm>
            <a:off x="609441" y="4800600"/>
            <a:ext cx="11199971" cy="1384995"/>
          </a:xfrm>
          <a:prstGeom prst="rect">
            <a:avLst/>
          </a:prstGeom>
          <a:solidFill>
            <a:schemeClr val="bg1">
              <a:lumMod val="95000"/>
            </a:schemeClr>
          </a:solidFill>
          <a:ln w="28575">
            <a:solidFill>
              <a:srgbClr val="E0700D"/>
            </a:solidFill>
          </a:ln>
        </p:spPr>
        <p:txBody>
          <a:bodyPr wrap="square" rtlCol="0">
            <a:spAutoFit/>
          </a:bodyPr>
          <a:lstStyle/>
          <a:p>
            <a:pPr algn="just"/>
            <a:r>
              <a:rPr lang="es-ES" sz="1200" dirty="0">
                <a:latin typeface="Arial" panose="020B0604020202020204" pitchFamily="34" charset="0"/>
                <a:cs typeface="Arial" panose="020B0604020202020204" pitchFamily="34" charset="0"/>
              </a:rPr>
              <a:t>En ambas guías se observa que, a menor longitud de onda, mayor índice efectivo, por lo que el confinamiento de la energía en el núcleo es mayor. Por el contrario, a mayor longitud de onda, el índice efectivo disminuye, ya que el modo se extiende más hacia la cubierta y el índice efectivo se mantiene siempre entre ambos valores, siendo menor que el del núcleo y mayor que el de la cubierta. </a:t>
            </a:r>
          </a:p>
          <a:p>
            <a:pPr algn="just"/>
            <a:endParaRPr lang="es-ES" sz="1200" dirty="0">
              <a:latin typeface="Arial" panose="020B0604020202020204" pitchFamily="34" charset="0"/>
              <a:cs typeface="Arial" panose="020B0604020202020204" pitchFamily="34" charset="0"/>
            </a:endParaRPr>
          </a:p>
          <a:p>
            <a:pPr algn="just"/>
            <a:r>
              <a:rPr lang="es-ES" sz="1200" dirty="0">
                <a:latin typeface="Arial" panose="020B0604020202020204" pitchFamily="34" charset="0"/>
                <a:cs typeface="Arial" panose="020B0604020202020204" pitchFamily="34" charset="0"/>
              </a:rPr>
              <a:t>Teniendo esto en cuenta, se observa como la guía </a:t>
            </a:r>
            <a:r>
              <a:rPr lang="es-ES" sz="1200" dirty="0" err="1">
                <a:latin typeface="Arial" panose="020B0604020202020204" pitchFamily="34" charset="0"/>
                <a:cs typeface="Arial" panose="020B0604020202020204" pitchFamily="34" charset="0"/>
              </a:rPr>
              <a:t>Shallow</a:t>
            </a:r>
            <a:r>
              <a:rPr lang="es-ES" sz="1200" dirty="0">
                <a:latin typeface="Arial" panose="020B0604020202020204" pitchFamily="34" charset="0"/>
                <a:cs typeface="Arial" panose="020B0604020202020204" pitchFamily="34" charset="0"/>
              </a:rPr>
              <a:t> presenta un comportamiento multimodo, ya que permite la propagación de los modos guiados 0, 1, 2 y 3, que corresponden a los TE0, TE1, TM0 y TE2, respectivamente. Mientras que la guía Deep, soporta la propagación de los modos guiados 0 y 1, que corresponden a los TE0 y TM0, lo que indica que se comporta como monomodo, ya que los modos 2 y 3 son no guiados porque se propagan por la cubierta.</a:t>
            </a:r>
          </a:p>
        </p:txBody>
      </p:sp>
      <p:sp>
        <p:nvSpPr>
          <p:cNvPr id="5" name="Rectángulo 4">
            <a:extLst>
              <a:ext uri="{FF2B5EF4-FFF2-40B4-BE49-F238E27FC236}">
                <a16:creationId xmlns:a16="http://schemas.microsoft.com/office/drawing/2014/main" id="{88F19863-7091-B8CA-F848-DBEA5CEEA027}"/>
              </a:ext>
            </a:extLst>
          </p:cNvPr>
          <p:cNvSpPr/>
          <p:nvPr/>
        </p:nvSpPr>
        <p:spPr>
          <a:xfrm>
            <a:off x="609441" y="1418373"/>
            <a:ext cx="5332571" cy="3204427"/>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ángulo 6">
            <a:extLst>
              <a:ext uri="{FF2B5EF4-FFF2-40B4-BE49-F238E27FC236}">
                <a16:creationId xmlns:a16="http://schemas.microsoft.com/office/drawing/2014/main" id="{21F754A5-65BC-14A3-5F55-75716FFA9027}"/>
              </a:ext>
            </a:extLst>
          </p:cNvPr>
          <p:cNvSpPr/>
          <p:nvPr/>
        </p:nvSpPr>
        <p:spPr>
          <a:xfrm>
            <a:off x="6476841" y="1418373"/>
            <a:ext cx="5332571" cy="3204427"/>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magen 3">
            <a:extLst>
              <a:ext uri="{FF2B5EF4-FFF2-40B4-BE49-F238E27FC236}">
                <a16:creationId xmlns:a16="http://schemas.microsoft.com/office/drawing/2014/main" id="{3A5FCE10-F85E-E45E-E752-D26F646E54A6}"/>
              </a:ext>
            </a:extLst>
          </p:cNvPr>
          <p:cNvPicPr>
            <a:picLocks noChangeAspect="1"/>
          </p:cNvPicPr>
          <p:nvPr/>
        </p:nvPicPr>
        <p:blipFill>
          <a:blip r:embed="rId5"/>
          <a:stretch>
            <a:fillRect/>
          </a:stretch>
        </p:blipFill>
        <p:spPr>
          <a:xfrm>
            <a:off x="6878364" y="1600200"/>
            <a:ext cx="4801846" cy="2801077"/>
          </a:xfrm>
          <a:prstGeom prst="rect">
            <a:avLst/>
          </a:prstGeom>
        </p:spPr>
      </p:pic>
      <p:pic>
        <p:nvPicPr>
          <p:cNvPr id="10" name="Imagen 9">
            <a:extLst>
              <a:ext uri="{FF2B5EF4-FFF2-40B4-BE49-F238E27FC236}">
                <a16:creationId xmlns:a16="http://schemas.microsoft.com/office/drawing/2014/main" id="{BABF327B-1BF1-588E-49A6-E98509B487BF}"/>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685800" y="1600201"/>
            <a:ext cx="5186993" cy="2801076"/>
          </a:xfrm>
          <a:prstGeom prst="rect">
            <a:avLst/>
          </a:prstGeom>
        </p:spPr>
      </p:pic>
      <p:sp>
        <p:nvSpPr>
          <p:cNvPr id="11" name="CuadroTexto 10">
            <a:extLst>
              <a:ext uri="{FF2B5EF4-FFF2-40B4-BE49-F238E27FC236}">
                <a16:creationId xmlns:a16="http://schemas.microsoft.com/office/drawing/2014/main" id="{96A4DBF1-CE9B-9558-4A6B-24174CFFE9B4}"/>
              </a:ext>
            </a:extLst>
          </p:cNvPr>
          <p:cNvSpPr txBox="1"/>
          <p:nvPr/>
        </p:nvSpPr>
        <p:spPr>
          <a:xfrm>
            <a:off x="680049" y="4269479"/>
            <a:ext cx="2269787" cy="369332"/>
          </a:xfrm>
          <a:prstGeom prst="rect">
            <a:avLst/>
          </a:prstGeom>
          <a:noFill/>
        </p:spPr>
        <p:txBody>
          <a:bodyPr wrap="square">
            <a:spAutoFit/>
          </a:bodyPr>
          <a:lstStyle/>
          <a:p>
            <a:r>
              <a:rPr lang="en-US" dirty="0"/>
              <a:t>slab = 150nm</a:t>
            </a:r>
            <a:endParaRPr lang="es-ES" dirty="0"/>
          </a:p>
        </p:txBody>
      </p:sp>
    </p:spTree>
    <p:extLst>
      <p:ext uri="{BB962C8B-B14F-4D97-AF65-F5344CB8AC3E}">
        <p14:creationId xmlns:p14="http://schemas.microsoft.com/office/powerpoint/2010/main" val="37123560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0AC3D-36B7-D786-3825-B4DD6EADD689}"/>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6AA2E789-F7AE-F068-274C-E0F13A22DBCA}"/>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#3 – Width dependence</a:t>
            </a:r>
            <a:br>
              <a:rPr lang="es-ES" sz="2500" spc="-5" dirty="0">
                <a:latin typeface="+mj-lt"/>
                <a:cs typeface="Lucida Sans"/>
              </a:rPr>
            </a:br>
            <a:r>
              <a:rPr lang="en-US" b="0" dirty="0"/>
              <a:t>Width 0.6 - 1.6 µm (step 0.1 µm) – Wavelength 1.55 µm </a:t>
            </a:r>
            <a:endParaRPr sz="2500" b="0" dirty="0">
              <a:latin typeface="+mj-lt"/>
              <a:cs typeface="Lucida Sans"/>
            </a:endParaRPr>
          </a:p>
        </p:txBody>
      </p:sp>
      <p:pic>
        <p:nvPicPr>
          <p:cNvPr id="83" name="Gráfico 82">
            <a:extLst>
              <a:ext uri="{FF2B5EF4-FFF2-40B4-BE49-F238E27FC236}">
                <a16:creationId xmlns:a16="http://schemas.microsoft.com/office/drawing/2014/main" id="{3AEAD01B-7604-8009-5694-A556497AEF2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96E3846-1BD2-4F23-48AA-C7AF2A1EE6EB}"/>
              </a:ext>
            </a:extLst>
          </p:cNvPr>
          <p:cNvSpPr>
            <a:spLocks noGrp="1"/>
          </p:cNvSpPr>
          <p:nvPr>
            <p:ph type="sldNum" sz="quarter" idx="7"/>
          </p:nvPr>
        </p:nvSpPr>
        <p:spPr/>
        <p:txBody>
          <a:bodyPr/>
          <a:lstStyle/>
          <a:p>
            <a:fld id="{B6F15528-21DE-4FAA-801E-634DDDAF4B2B}" type="slidenum">
              <a:rPr lang="es-ES" smtClean="0"/>
              <a:t>7</a:t>
            </a:fld>
            <a:endParaRPr lang="es-ES"/>
          </a:p>
        </p:txBody>
      </p:sp>
      <p:sp>
        <p:nvSpPr>
          <p:cNvPr id="3" name="Marcador de pie de página 2">
            <a:extLst>
              <a:ext uri="{FF2B5EF4-FFF2-40B4-BE49-F238E27FC236}">
                <a16:creationId xmlns:a16="http://schemas.microsoft.com/office/drawing/2014/main" id="{E32C0E2B-75B6-4768-A4C7-F165A264DA0B}"/>
              </a:ext>
            </a:extLst>
          </p:cNvPr>
          <p:cNvSpPr>
            <a:spLocks noGrp="1"/>
          </p:cNvSpPr>
          <p:nvPr>
            <p:ph type="ftr" sz="quarter" idx="5"/>
          </p:nvPr>
        </p:nvSpPr>
        <p:spPr/>
        <p:txBody>
          <a:bodyPr/>
          <a:lstStyle/>
          <a:p>
            <a:pPr marL="12700">
              <a:spcBef>
                <a:spcPts val="15"/>
              </a:spcBef>
            </a:pPr>
            <a:r>
              <a:rPr lang="es-ES" spc="-5" dirty="0"/>
              <a:t>LAB 1.0 WAVEGUIDES</a:t>
            </a:r>
          </a:p>
        </p:txBody>
      </p:sp>
      <p:sp>
        <p:nvSpPr>
          <p:cNvPr id="2" name="CuadroTexto 1">
            <a:extLst>
              <a:ext uri="{FF2B5EF4-FFF2-40B4-BE49-F238E27FC236}">
                <a16:creationId xmlns:a16="http://schemas.microsoft.com/office/drawing/2014/main" id="{82A62DD6-5488-72A1-9926-0CAEE59089A9}"/>
              </a:ext>
            </a:extLst>
          </p:cNvPr>
          <p:cNvSpPr txBox="1"/>
          <p:nvPr/>
        </p:nvSpPr>
        <p:spPr>
          <a:xfrm>
            <a:off x="609441" y="4860334"/>
            <a:ext cx="11199971" cy="1015663"/>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Se </a:t>
            </a:r>
            <a:r>
              <a:rPr lang="en-US" sz="1200" dirty="0" err="1">
                <a:latin typeface="Arial" panose="020B0604020202020204" pitchFamily="34" charset="0"/>
                <a:cs typeface="Arial" panose="020B0604020202020204" pitchFamily="34" charset="0"/>
              </a:rPr>
              <a:t>observa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como</a:t>
            </a:r>
            <a:r>
              <a:rPr lang="en-US" sz="1200" dirty="0">
                <a:latin typeface="Arial" panose="020B0604020202020204" pitchFamily="34" charset="0"/>
                <a:cs typeface="Arial" panose="020B0604020202020204" pitchFamily="34" charset="0"/>
              </a:rPr>
              <a:t> a mayor </a:t>
            </a:r>
            <a:r>
              <a:rPr lang="en-US" sz="1200" dirty="0" err="1">
                <a:latin typeface="Arial" panose="020B0604020202020204" pitchFamily="34" charset="0"/>
                <a:cs typeface="Arial" panose="020B0604020202020204" pitchFamily="34" charset="0"/>
              </a:rPr>
              <a:t>anchura</a:t>
            </a:r>
            <a:r>
              <a:rPr lang="en-US" sz="1200" dirty="0">
                <a:latin typeface="Arial" panose="020B0604020202020204" pitchFamily="34" charset="0"/>
                <a:cs typeface="Arial" panose="020B0604020202020204" pitchFamily="34" charset="0"/>
              </a:rPr>
              <a:t> de la </a:t>
            </a:r>
            <a:r>
              <a:rPr lang="en-US" sz="1200" dirty="0" err="1">
                <a:latin typeface="Arial" panose="020B0604020202020204" pitchFamily="34" charset="0"/>
                <a:cs typeface="Arial" panose="020B0604020202020204" pitchFamily="34" charset="0"/>
              </a:rPr>
              <a:t>guía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indice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efectivo</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los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distintos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modos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aumenta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Destacando</a:t>
            </a:r>
            <a:r>
              <a:rPr lang="en-US" sz="1200" dirty="0">
                <a:latin typeface="Arial" panose="020B0604020202020204" pitchFamily="34" charset="0"/>
                <a:cs typeface="Arial" panose="020B0604020202020204" pitchFamily="34" charset="0"/>
              </a:rPr>
              <a:t> un mayor </a:t>
            </a:r>
            <a:r>
              <a:rPr lang="en-US" sz="1200" dirty="0" err="1">
                <a:latin typeface="Arial" panose="020B0604020202020204" pitchFamily="34" charset="0"/>
                <a:cs typeface="Arial" panose="020B0604020202020204" pitchFamily="34" charset="0"/>
              </a:rPr>
              <a:t>confinamiento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los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modos</a:t>
            </a:r>
            <a:r>
              <a:rPr lang="en-US" sz="1200" dirty="0">
                <a:latin typeface="Arial" panose="020B0604020202020204" pitchFamily="34" charset="0"/>
                <a:cs typeface="Arial" panose="020B0604020202020204" pitchFamily="34" charset="0"/>
              </a:rPr>
              <a:t> TE, </a:t>
            </a:r>
            <a:r>
              <a:rPr lang="en-US" sz="1200" dirty="0" err="1">
                <a:latin typeface="Arial" panose="020B0604020202020204" pitchFamily="34" charset="0"/>
                <a:cs typeface="Arial" panose="020B0604020202020204" pitchFamily="34" charset="0"/>
              </a:rPr>
              <a:t>debido</a:t>
            </a:r>
            <a:r>
              <a:rPr lang="en-US" sz="1200" dirty="0">
                <a:latin typeface="Arial" panose="020B0604020202020204" pitchFamily="34" charset="0"/>
                <a:cs typeface="Arial" panose="020B0604020202020204" pitchFamily="34" charset="0"/>
              </a:rPr>
              <a:t> a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su</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componente</a:t>
            </a:r>
            <a:r>
              <a:rPr lang="en-US" sz="1200" dirty="0">
                <a:latin typeface="Arial" panose="020B0604020202020204" pitchFamily="34" charset="0"/>
                <a:cs typeface="Arial" panose="020B0604020202020204" pitchFamily="34" charset="0"/>
              </a:rPr>
              <a:t> principal del campo </a:t>
            </a:r>
            <a:r>
              <a:rPr lang="en-US" sz="1200" dirty="0" err="1">
                <a:latin typeface="Arial" panose="020B0604020202020204" pitchFamily="34" charset="0"/>
                <a:cs typeface="Arial" panose="020B0604020202020204" pitchFamily="34" charset="0"/>
              </a:rPr>
              <a:t>eléctrico</a:t>
            </a:r>
            <a:r>
              <a:rPr lang="en-US" sz="1200" dirty="0">
                <a:latin typeface="Arial" panose="020B0604020202020204" pitchFamily="34" charset="0"/>
                <a:cs typeface="Arial" panose="020B0604020202020204" pitchFamily="34" charset="0"/>
              </a:rPr>
              <a:t> es </a:t>
            </a:r>
            <a:r>
              <a:rPr lang="en-US" sz="1200" dirty="0" err="1">
                <a:latin typeface="Arial" panose="020B0604020202020204" pitchFamily="34" charset="0"/>
                <a:cs typeface="Arial" panose="020B0604020202020204" pitchFamily="34" charset="0"/>
              </a:rPr>
              <a:t>en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eje</a:t>
            </a:r>
            <a:r>
              <a:rPr lang="en-US" sz="1200" dirty="0">
                <a:latin typeface="Arial" panose="020B0604020202020204" pitchFamily="34" charset="0"/>
                <a:cs typeface="Arial" panose="020B0604020202020204" pitchFamily="34" charset="0"/>
              </a:rPr>
              <a:t> x (Ex),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se </a:t>
            </a:r>
            <a:r>
              <a:rPr lang="en-US" sz="1200" dirty="0" err="1">
                <a:latin typeface="Arial" panose="020B0604020202020204" pitchFamily="34" charset="0"/>
                <a:cs typeface="Arial" panose="020B0604020202020204" pitchFamily="34" charset="0"/>
              </a:rPr>
              <a:t>extiende</a:t>
            </a:r>
            <a:r>
              <a:rPr lang="en-US" sz="1200" dirty="0">
                <a:latin typeface="Arial" panose="020B0604020202020204" pitchFamily="34" charset="0"/>
                <a:cs typeface="Arial" panose="020B0604020202020204" pitchFamily="34" charset="0"/>
              </a:rPr>
              <a:t> a lo ancho de la </a:t>
            </a:r>
            <a:r>
              <a:rPr lang="en-US" sz="1200" dirty="0" err="1">
                <a:latin typeface="Arial" panose="020B0604020202020204" pitchFamily="34" charset="0"/>
                <a:cs typeface="Arial" panose="020B0604020202020204" pitchFamily="34" charset="0"/>
              </a:rPr>
              <a:t>guía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en</a:t>
            </a:r>
            <a:r>
              <a:rPr lang="en-US" sz="1200" dirty="0">
                <a:latin typeface="Arial" panose="020B0604020202020204" pitchFamily="34" charset="0"/>
                <a:cs typeface="Arial" panose="020B0604020202020204" pitchFamily="34" charset="0"/>
              </a:rPr>
              <a:t> horizontal).</a:t>
            </a:r>
          </a:p>
          <a:p>
            <a:pPr algn="just"/>
            <a:endParaRPr lang="en-US" sz="1200" dirty="0">
              <a:latin typeface="Arial" panose="020B0604020202020204" pitchFamily="34" charset="0"/>
              <a:cs typeface="Arial" panose="020B0604020202020204" pitchFamily="34" charset="0"/>
            </a:endParaRPr>
          </a:p>
          <a:p>
            <a:pPr algn="just"/>
            <a:r>
              <a:rPr lang="en-US" sz="1200" dirty="0" err="1">
                <a:latin typeface="Arial" panose="020B0604020202020204" pitchFamily="34" charset="0"/>
                <a:cs typeface="Arial" panose="020B0604020202020204" pitchFamily="34" charset="0"/>
              </a:rPr>
              <a:t>Debido</a:t>
            </a:r>
            <a:r>
              <a:rPr lang="en-US" sz="1200" dirty="0">
                <a:latin typeface="Arial" panose="020B0604020202020204" pitchFamily="34" charset="0"/>
                <a:cs typeface="Arial" panose="020B0604020202020204" pitchFamily="34" charset="0"/>
              </a:rPr>
              <a:t> a </a:t>
            </a:r>
            <a:r>
              <a:rPr lang="en-US" sz="1200" dirty="0" err="1">
                <a:latin typeface="Arial" panose="020B0604020202020204" pitchFamily="34" charset="0"/>
                <a:cs typeface="Arial" panose="020B0604020202020204" pitchFamily="34" charset="0"/>
              </a:rPr>
              <a:t>este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aumento</a:t>
            </a:r>
            <a:r>
              <a:rPr lang="en-US" sz="1200" dirty="0">
                <a:latin typeface="Arial" panose="020B0604020202020204" pitchFamily="34" charset="0"/>
                <a:cs typeface="Arial" panose="020B0604020202020204" pitchFamily="34" charset="0"/>
              </a:rPr>
              <a:t>, se produce un </a:t>
            </a:r>
            <a:r>
              <a:rPr lang="en-US" sz="1200" dirty="0" err="1">
                <a:latin typeface="Arial" panose="020B0604020202020204" pitchFamily="34" charset="0"/>
                <a:cs typeface="Arial" panose="020B0604020202020204" pitchFamily="34" charset="0"/>
              </a:rPr>
              <a:t>cambio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comportamiento</a:t>
            </a:r>
            <a:r>
              <a:rPr lang="en-US" sz="1200" dirty="0">
                <a:latin typeface="Arial" panose="020B0604020202020204" pitchFamily="34" charset="0"/>
                <a:cs typeface="Arial" panose="020B0604020202020204" pitchFamily="34" charset="0"/>
              </a:rPr>
              <a:t> de la </a:t>
            </a:r>
            <a:r>
              <a:rPr lang="en-US" sz="1200" dirty="0" err="1">
                <a:latin typeface="Arial" panose="020B0604020202020204" pitchFamily="34" charset="0"/>
                <a:cs typeface="Arial" panose="020B0604020202020204" pitchFamily="34" charset="0"/>
              </a:rPr>
              <a:t>guía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aproximadamente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en</a:t>
            </a:r>
            <a:r>
              <a:rPr lang="en-US" sz="1200" dirty="0">
                <a:latin typeface="Arial" panose="020B0604020202020204" pitchFamily="34" charset="0"/>
                <a:cs typeface="Arial" panose="020B0604020202020204" pitchFamily="34" charset="0"/>
              </a:rPr>
              <a:t> un ancho de 1.27 um, a </a:t>
            </a:r>
            <a:r>
              <a:rPr lang="en-US" sz="1200" dirty="0" err="1">
                <a:latin typeface="Arial" panose="020B0604020202020204" pitchFamily="34" charset="0"/>
                <a:cs typeface="Arial" panose="020B0604020202020204" pitchFamily="34" charset="0"/>
              </a:rPr>
              <a:t>partir</a:t>
            </a:r>
            <a:r>
              <a:rPr lang="en-US" sz="1200" dirty="0">
                <a:latin typeface="Arial" panose="020B0604020202020204" pitchFamily="34" charset="0"/>
                <a:cs typeface="Arial" panose="020B0604020202020204" pitchFamily="34" charset="0"/>
              </a:rPr>
              <a:t> del </a:t>
            </a:r>
            <a:r>
              <a:rPr lang="en-US" sz="1200" dirty="0" err="1">
                <a:latin typeface="Arial" panose="020B0604020202020204" pitchFamily="34" charset="0"/>
                <a:cs typeface="Arial" panose="020B0604020202020204" pitchFamily="34" charset="0"/>
              </a:rPr>
              <a:t>cual</a:t>
            </a:r>
            <a:r>
              <a:rPr lang="en-US" sz="1200" dirty="0">
                <a:latin typeface="Arial" panose="020B0604020202020204" pitchFamily="34" charset="0"/>
                <a:cs typeface="Arial" panose="020B0604020202020204" pitchFamily="34" charset="0"/>
              </a:rPr>
              <a:t>, para </a:t>
            </a:r>
            <a:r>
              <a:rPr lang="en-US" sz="1200" dirty="0" err="1">
                <a:latin typeface="Arial" panose="020B0604020202020204" pitchFamily="34" charset="0"/>
                <a:cs typeface="Arial" panose="020B0604020202020204" pitchFamily="34" charset="0"/>
              </a:rPr>
              <a:t>anchos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mayores</a:t>
            </a:r>
            <a:r>
              <a:rPr lang="en-US" sz="1200" dirty="0">
                <a:latin typeface="Arial" panose="020B0604020202020204" pitchFamily="34" charset="0"/>
                <a:cs typeface="Arial" panose="020B0604020202020204" pitchFamily="34" charset="0"/>
              </a:rPr>
              <a:t> es </a:t>
            </a:r>
            <a:r>
              <a:rPr lang="en-US" sz="1200" dirty="0" err="1">
                <a:latin typeface="Arial" panose="020B0604020202020204" pitchFamily="34" charset="0"/>
                <a:cs typeface="Arial" panose="020B0604020202020204" pitchFamily="34" charset="0"/>
              </a:rPr>
              <a:t>multimodo</a:t>
            </a:r>
            <a:r>
              <a:rPr lang="en-US" sz="1200" dirty="0">
                <a:latin typeface="Arial" panose="020B0604020202020204" pitchFamily="34" charset="0"/>
                <a:cs typeface="Arial" panose="020B0604020202020204" pitchFamily="34" charset="0"/>
              </a:rPr>
              <a:t> (se </a:t>
            </a:r>
            <a:r>
              <a:rPr lang="en-US" sz="1200" dirty="0" err="1">
                <a:latin typeface="Arial" panose="020B0604020202020204" pitchFamily="34" charset="0"/>
                <a:cs typeface="Arial" panose="020B0604020202020204" pitchFamily="34" charset="0"/>
              </a:rPr>
              <a:t>propagan</a:t>
            </a:r>
            <a:r>
              <a:rPr lang="en-US" sz="1200" dirty="0">
                <a:latin typeface="Arial" panose="020B0604020202020204" pitchFamily="34" charset="0"/>
                <a:cs typeface="Arial" panose="020B0604020202020204" pitchFamily="34" charset="0"/>
              </a:rPr>
              <a:t> TE0, TM0 y TE1) y para </a:t>
            </a:r>
            <a:r>
              <a:rPr lang="en-US" sz="1200" dirty="0" err="1">
                <a:latin typeface="Arial" panose="020B0604020202020204" pitchFamily="34" charset="0"/>
                <a:cs typeface="Arial" panose="020B0604020202020204" pitchFamily="34" charset="0"/>
              </a:rPr>
              <a:t>menores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monomodo</a:t>
            </a:r>
            <a:r>
              <a:rPr lang="en-US" sz="1200" dirty="0">
                <a:latin typeface="Arial" panose="020B0604020202020204" pitchFamily="34" charset="0"/>
                <a:cs typeface="Arial" panose="020B0604020202020204" pitchFamily="34" charset="0"/>
              </a:rPr>
              <a:t> (se </a:t>
            </a:r>
            <a:r>
              <a:rPr lang="en-US" sz="1200" dirty="0" err="1">
                <a:latin typeface="Arial" panose="020B0604020202020204" pitchFamily="34" charset="0"/>
                <a:cs typeface="Arial" panose="020B0604020202020204" pitchFamily="34" charset="0"/>
              </a:rPr>
              <a:t>propagan</a:t>
            </a:r>
            <a:r>
              <a:rPr lang="en-US" sz="1200" dirty="0">
                <a:latin typeface="Arial" panose="020B0604020202020204" pitchFamily="34" charset="0"/>
                <a:cs typeface="Arial" panose="020B0604020202020204" pitchFamily="34" charset="0"/>
              </a:rPr>
              <a:t> TE0 y TM0).</a:t>
            </a:r>
          </a:p>
        </p:txBody>
      </p:sp>
      <p:sp>
        <p:nvSpPr>
          <p:cNvPr id="7" name="Rectángulo 6">
            <a:extLst>
              <a:ext uri="{FF2B5EF4-FFF2-40B4-BE49-F238E27FC236}">
                <a16:creationId xmlns:a16="http://schemas.microsoft.com/office/drawing/2014/main" id="{FBC7D187-267A-ADD4-764C-D3820B8ED302}"/>
              </a:ext>
            </a:extLst>
          </p:cNvPr>
          <p:cNvSpPr/>
          <p:nvPr/>
        </p:nvSpPr>
        <p:spPr>
          <a:xfrm>
            <a:off x="609441" y="1418373"/>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Imagen 8" descr="Gráfico, Gráfico de líneas&#10;&#10;El contenido generado por IA puede ser incorrecto.">
            <a:extLst>
              <a:ext uri="{FF2B5EF4-FFF2-40B4-BE49-F238E27FC236}">
                <a16:creationId xmlns:a16="http://schemas.microsoft.com/office/drawing/2014/main" id="{84A2167B-2F20-7988-627B-52805E9CA6AA}"/>
              </a:ext>
            </a:extLst>
          </p:cNvPr>
          <p:cNvPicPr>
            <a:picLocks noChangeAspect="1"/>
          </p:cNvPicPr>
          <p:nvPr/>
        </p:nvPicPr>
        <p:blipFill>
          <a:blip r:embed="rId5"/>
          <a:stretch>
            <a:fillRect/>
          </a:stretch>
        </p:blipFill>
        <p:spPr>
          <a:xfrm>
            <a:off x="3380321" y="1516121"/>
            <a:ext cx="5431357" cy="3161826"/>
          </a:xfrm>
          <a:prstGeom prst="rect">
            <a:avLst/>
          </a:prstGeom>
        </p:spPr>
      </p:pic>
    </p:spTree>
    <p:extLst>
      <p:ext uri="{BB962C8B-B14F-4D97-AF65-F5344CB8AC3E}">
        <p14:creationId xmlns:p14="http://schemas.microsoft.com/office/powerpoint/2010/main" val="29001174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DA0F9-B230-D9FC-3CE7-03BD08CF54F7}"/>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394400B4-EE16-8E85-AB54-E82FE3B29345}"/>
              </a:ext>
            </a:extLst>
          </p:cNvPr>
          <p:cNvSpPr txBox="1">
            <a:spLocks noGrp="1"/>
          </p:cNvSpPr>
          <p:nvPr>
            <p:ph type="title"/>
          </p:nvPr>
        </p:nvSpPr>
        <p:spPr>
          <a:xfrm>
            <a:off x="685800" y="408883"/>
            <a:ext cx="10994410" cy="1397819"/>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#4 – Waveguide compact model</a:t>
            </a:r>
            <a:br>
              <a:rPr lang="en-US" sz="2500" spc="-5" dirty="0">
                <a:latin typeface="+mj-lt"/>
                <a:cs typeface="Lucida Sans"/>
              </a:rPr>
            </a:br>
            <a:r>
              <a:rPr lang="en-US" b="0" dirty="0"/>
              <a:t>- Find the compact models of the following waveguides: </a:t>
            </a:r>
            <a:br>
              <a:rPr lang="en-US" b="0" dirty="0"/>
            </a:br>
            <a:r>
              <a:rPr lang="en-US" dirty="0"/>
              <a:t>Deep</a:t>
            </a:r>
            <a:r>
              <a:rPr lang="en-US" b="0" dirty="0"/>
              <a:t> waveguide, h=300nm, w=1.2um   - </a:t>
            </a:r>
            <a:r>
              <a:rPr lang="en-US" dirty="0"/>
              <a:t>Shallow</a:t>
            </a:r>
            <a:r>
              <a:rPr lang="en-US" b="0" dirty="0"/>
              <a:t> waveguide, core h=300nm, slab h=150 nm, w = 1.2um </a:t>
            </a:r>
            <a:br>
              <a:rPr lang="en-US" b="0" dirty="0"/>
            </a:br>
            <a:endParaRPr lang="en-US" sz="2500" b="0" dirty="0">
              <a:latin typeface="+mj-lt"/>
              <a:cs typeface="Lucida Sans"/>
            </a:endParaRPr>
          </a:p>
        </p:txBody>
      </p:sp>
      <p:pic>
        <p:nvPicPr>
          <p:cNvPr id="83" name="Gráfico 82">
            <a:extLst>
              <a:ext uri="{FF2B5EF4-FFF2-40B4-BE49-F238E27FC236}">
                <a16:creationId xmlns:a16="http://schemas.microsoft.com/office/drawing/2014/main" id="{4D53B68D-17ED-7EFB-F2B4-10DA7A772E1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09AB8697-C1EE-6E9A-6550-ACA2C3AE6630}"/>
              </a:ext>
            </a:extLst>
          </p:cNvPr>
          <p:cNvSpPr>
            <a:spLocks noGrp="1"/>
          </p:cNvSpPr>
          <p:nvPr>
            <p:ph type="sldNum" sz="quarter" idx="7"/>
          </p:nvPr>
        </p:nvSpPr>
        <p:spPr/>
        <p:txBody>
          <a:bodyPr/>
          <a:lstStyle/>
          <a:p>
            <a:fld id="{B6F15528-21DE-4FAA-801E-634DDDAF4B2B}" type="slidenum">
              <a:rPr lang="es-ES" smtClean="0"/>
              <a:t>8</a:t>
            </a:fld>
            <a:endParaRPr lang="es-ES"/>
          </a:p>
        </p:txBody>
      </p:sp>
      <p:sp>
        <p:nvSpPr>
          <p:cNvPr id="3" name="Marcador de pie de página 2">
            <a:extLst>
              <a:ext uri="{FF2B5EF4-FFF2-40B4-BE49-F238E27FC236}">
                <a16:creationId xmlns:a16="http://schemas.microsoft.com/office/drawing/2014/main" id="{970D4A6C-5B37-EDF5-6242-74B16127E96B}"/>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2" name="CuadroTexto 1">
            <a:extLst>
              <a:ext uri="{FF2B5EF4-FFF2-40B4-BE49-F238E27FC236}">
                <a16:creationId xmlns:a16="http://schemas.microsoft.com/office/drawing/2014/main" id="{A440F587-93A3-E474-C0B0-883BB9DAFD85}"/>
              </a:ext>
            </a:extLst>
          </p:cNvPr>
          <p:cNvSpPr txBox="1"/>
          <p:nvPr/>
        </p:nvSpPr>
        <p:spPr>
          <a:xfrm>
            <a:off x="609441" y="3928489"/>
            <a:ext cx="5261137" cy="1169551"/>
          </a:xfrm>
          <a:prstGeom prst="rect">
            <a:avLst/>
          </a:prstGeom>
          <a:solidFill>
            <a:schemeClr val="bg1">
              <a:lumMod val="95000"/>
            </a:schemeClr>
          </a:solidFill>
          <a:ln w="28575">
            <a:solidFill>
              <a:srgbClr val="E0700D"/>
            </a:solidFill>
          </a:ln>
        </p:spPr>
        <p:txBody>
          <a:bodyPr wrap="square" rtlCol="0">
            <a:spAutoFit/>
          </a:bodyPr>
          <a:lstStyle/>
          <a:p>
            <a:pPr algn="just"/>
            <a:r>
              <a:rPr lang="es-ES" sz="1000" b="1" dirty="0">
                <a:latin typeface="Arial" panose="020B0604020202020204" pitchFamily="34" charset="0"/>
                <a:cs typeface="Arial" panose="020B0604020202020204" pitchFamily="34" charset="0"/>
              </a:rPr>
              <a:t>Deep </a:t>
            </a:r>
            <a:r>
              <a:rPr lang="es-ES" sz="1000" b="1" dirty="0" err="1">
                <a:latin typeface="Arial" panose="020B0604020202020204" pitchFamily="34" charset="0"/>
                <a:cs typeface="Arial" panose="020B0604020202020204" pitchFamily="34" charset="0"/>
              </a:rPr>
              <a:t>waveguide</a:t>
            </a:r>
            <a:r>
              <a:rPr lang="es-ES" sz="1000" b="1" dirty="0">
                <a:latin typeface="Arial" panose="020B0604020202020204" pitchFamily="34" charset="0"/>
                <a:cs typeface="Arial" panose="020B0604020202020204" pitchFamily="34" charset="0"/>
              </a:rPr>
              <a:t>:</a:t>
            </a:r>
          </a:p>
          <a:p>
            <a:pPr algn="just"/>
            <a:r>
              <a:rPr lang="es-ES" sz="1000" dirty="0">
                <a:latin typeface="Arial" panose="020B0604020202020204" pitchFamily="34" charset="0"/>
                <a:cs typeface="Arial" panose="020B0604020202020204" pitchFamily="34" charset="0"/>
              </a:rPr>
              <a:t>TE0 (</a:t>
            </a:r>
            <a:r>
              <a:rPr lang="es-ES" sz="1000" dirty="0" err="1">
                <a:latin typeface="Arial" panose="020B0604020202020204" pitchFamily="34" charset="0"/>
                <a:cs typeface="Arial" panose="020B0604020202020204" pitchFamily="34" charset="0"/>
              </a:rPr>
              <a:t>wl</a:t>
            </a:r>
            <a:r>
              <a:rPr lang="es-ES" sz="1000" dirty="0">
                <a:latin typeface="Arial" panose="020B0604020202020204" pitchFamily="34" charset="0"/>
                <a:cs typeface="Arial" panose="020B0604020202020204" pitchFamily="34" charset="0"/>
              </a:rPr>
              <a:t>=1550nm) </a:t>
            </a:r>
            <a:r>
              <a:rPr lang="es-ES" sz="1000" b="1" dirty="0" err="1">
                <a:latin typeface="Arial" panose="020B0604020202020204" pitchFamily="34" charset="0"/>
                <a:cs typeface="Arial" panose="020B0604020202020204" pitchFamily="34" charset="0"/>
              </a:rPr>
              <a:t>effective</a:t>
            </a:r>
            <a:r>
              <a:rPr lang="es-ES" sz="1000" b="1" dirty="0">
                <a:latin typeface="Arial" panose="020B0604020202020204" pitchFamily="34" charset="0"/>
                <a:cs typeface="Arial" panose="020B0604020202020204" pitchFamily="34" charset="0"/>
              </a:rPr>
              <a:t> </a:t>
            </a:r>
            <a:r>
              <a:rPr lang="es-ES" sz="1000" b="1" dirty="0" err="1">
                <a:latin typeface="Arial" panose="020B0604020202020204" pitchFamily="34" charset="0"/>
                <a:cs typeface="Arial" panose="020B0604020202020204" pitchFamily="34" charset="0"/>
              </a:rPr>
              <a:t>index</a:t>
            </a:r>
            <a:r>
              <a:rPr lang="es-ES" sz="1000" b="1" dirty="0">
                <a:latin typeface="Arial" panose="020B0604020202020204" pitchFamily="34" charset="0"/>
                <a:cs typeface="Arial" panose="020B0604020202020204" pitchFamily="34" charset="0"/>
              </a:rPr>
              <a:t> </a:t>
            </a:r>
            <a:r>
              <a:rPr lang="es-ES" sz="1000" dirty="0">
                <a:latin typeface="Arial" panose="020B0604020202020204" pitchFamily="34" charset="0"/>
                <a:cs typeface="Arial" panose="020B0604020202020204" pitchFamily="34" charset="0"/>
              </a:rPr>
              <a:t>(</a:t>
            </a:r>
            <a:r>
              <a:rPr lang="es-ES" sz="1000" dirty="0" err="1">
                <a:latin typeface="Arial" panose="020B0604020202020204" pitchFamily="34" charset="0"/>
                <a:cs typeface="Arial" panose="020B0604020202020204" pitchFamily="34" charset="0"/>
              </a:rPr>
              <a:t>polyfit</a:t>
            </a:r>
            <a:r>
              <a:rPr lang="es-ES" sz="1000" dirty="0">
                <a:latin typeface="Arial" panose="020B0604020202020204" pitchFamily="34" charset="0"/>
                <a:cs typeface="Arial" panose="020B0604020202020204" pitchFamily="34" charset="0"/>
              </a:rPr>
              <a:t>): 1.6049166291026744</a:t>
            </a:r>
          </a:p>
          <a:p>
            <a:pPr algn="just"/>
            <a:r>
              <a:rPr lang="es-ES" sz="1000" dirty="0">
                <a:latin typeface="Arial" panose="020B0604020202020204" pitchFamily="34" charset="0"/>
                <a:cs typeface="Arial" panose="020B0604020202020204" pitchFamily="34" charset="0"/>
              </a:rPr>
              <a:t>TE0 (</a:t>
            </a:r>
            <a:r>
              <a:rPr lang="es-ES" sz="1000" dirty="0" err="1">
                <a:latin typeface="Arial" panose="020B0604020202020204" pitchFamily="34" charset="0"/>
                <a:cs typeface="Arial" panose="020B0604020202020204" pitchFamily="34" charset="0"/>
              </a:rPr>
              <a:t>wl</a:t>
            </a:r>
            <a:r>
              <a:rPr lang="es-ES" sz="1000" dirty="0">
                <a:latin typeface="Arial" panose="020B0604020202020204" pitchFamily="34" charset="0"/>
                <a:cs typeface="Arial" panose="020B0604020202020204" pitchFamily="34" charset="0"/>
              </a:rPr>
              <a:t>=1550nm) </a:t>
            </a:r>
            <a:r>
              <a:rPr lang="es-ES" sz="1000" b="1" dirty="0" err="1">
                <a:latin typeface="Arial" panose="020B0604020202020204" pitchFamily="34" charset="0"/>
                <a:cs typeface="Arial" panose="020B0604020202020204" pitchFamily="34" charset="0"/>
              </a:rPr>
              <a:t>group</a:t>
            </a:r>
            <a:r>
              <a:rPr lang="es-ES" sz="1000" b="1" dirty="0">
                <a:latin typeface="Arial" panose="020B0604020202020204" pitchFamily="34" charset="0"/>
                <a:cs typeface="Arial" panose="020B0604020202020204" pitchFamily="34" charset="0"/>
              </a:rPr>
              <a:t> </a:t>
            </a:r>
            <a:r>
              <a:rPr lang="es-ES" sz="1000" b="1" dirty="0" err="1">
                <a:latin typeface="Arial" panose="020B0604020202020204" pitchFamily="34" charset="0"/>
                <a:cs typeface="Arial" panose="020B0604020202020204" pitchFamily="34" charset="0"/>
              </a:rPr>
              <a:t>index</a:t>
            </a:r>
            <a:r>
              <a:rPr lang="es-ES" sz="1000" b="1" dirty="0">
                <a:latin typeface="Arial" panose="020B0604020202020204" pitchFamily="34" charset="0"/>
                <a:cs typeface="Arial" panose="020B0604020202020204" pitchFamily="34" charset="0"/>
              </a:rPr>
              <a:t> </a:t>
            </a:r>
            <a:r>
              <a:rPr lang="es-ES" sz="1000" dirty="0">
                <a:latin typeface="Arial" panose="020B0604020202020204" pitchFamily="34" charset="0"/>
                <a:cs typeface="Arial" panose="020B0604020202020204" pitchFamily="34" charset="0"/>
              </a:rPr>
              <a:t>(</a:t>
            </a:r>
            <a:r>
              <a:rPr lang="es-ES" sz="1000" dirty="0" err="1">
                <a:latin typeface="Arial" panose="020B0604020202020204" pitchFamily="34" charset="0"/>
                <a:cs typeface="Arial" panose="020B0604020202020204" pitchFamily="34" charset="0"/>
              </a:rPr>
              <a:t>polyfit</a:t>
            </a:r>
            <a:r>
              <a:rPr lang="es-ES" sz="1000" dirty="0">
                <a:latin typeface="Arial" panose="020B0604020202020204" pitchFamily="34" charset="0"/>
                <a:cs typeface="Arial" panose="020B0604020202020204" pitchFamily="34" charset="0"/>
              </a:rPr>
              <a:t>): 1.9399909008100613</a:t>
            </a:r>
          </a:p>
          <a:p>
            <a:pPr algn="just"/>
            <a:r>
              <a:rPr lang="es-ES" sz="1000" dirty="0">
                <a:latin typeface="Arial" panose="020B0604020202020204" pitchFamily="34" charset="0"/>
                <a:cs typeface="Arial" panose="020B0604020202020204" pitchFamily="34" charset="0"/>
              </a:rPr>
              <a:t>TE0 (</a:t>
            </a:r>
            <a:r>
              <a:rPr lang="es-ES" sz="1000" dirty="0" err="1">
                <a:latin typeface="Arial" panose="020B0604020202020204" pitchFamily="34" charset="0"/>
                <a:cs typeface="Arial" panose="020B0604020202020204" pitchFamily="34" charset="0"/>
              </a:rPr>
              <a:t>wl</a:t>
            </a:r>
            <a:r>
              <a:rPr lang="es-ES" sz="1000" dirty="0">
                <a:latin typeface="Arial" panose="020B0604020202020204" pitchFamily="34" charset="0"/>
                <a:cs typeface="Arial" panose="020B0604020202020204" pitchFamily="34" charset="0"/>
              </a:rPr>
              <a:t>=1550nm) </a:t>
            </a:r>
            <a:r>
              <a:rPr lang="es-ES" sz="1000" b="1" dirty="0" err="1">
                <a:latin typeface="Arial" panose="020B0604020202020204" pitchFamily="34" charset="0"/>
                <a:cs typeface="Arial" panose="020B0604020202020204" pitchFamily="34" charset="0"/>
              </a:rPr>
              <a:t>dispersion</a:t>
            </a:r>
            <a:r>
              <a:rPr lang="es-ES" sz="1000" dirty="0">
                <a:latin typeface="Arial" panose="020B0604020202020204" pitchFamily="34" charset="0"/>
                <a:cs typeface="Arial" panose="020B0604020202020204" pitchFamily="34" charset="0"/>
              </a:rPr>
              <a:t> (</a:t>
            </a:r>
            <a:r>
              <a:rPr lang="es-ES" sz="1000" dirty="0" err="1">
                <a:latin typeface="Arial" panose="020B0604020202020204" pitchFamily="34" charset="0"/>
                <a:cs typeface="Arial" panose="020B0604020202020204" pitchFamily="34" charset="0"/>
              </a:rPr>
              <a:t>polyfit</a:t>
            </a:r>
            <a:r>
              <a:rPr lang="es-ES" sz="1000" dirty="0">
                <a:latin typeface="Arial" panose="020B0604020202020204" pitchFamily="34" charset="0"/>
                <a:cs typeface="Arial" panose="020B0604020202020204" pitchFamily="34" charset="0"/>
              </a:rPr>
              <a:t>): -1006.6987866611223 </a:t>
            </a:r>
            <a:r>
              <a:rPr lang="es-ES" sz="1000" dirty="0" err="1">
                <a:latin typeface="Arial" panose="020B0604020202020204" pitchFamily="34" charset="0"/>
                <a:cs typeface="Arial" panose="020B0604020202020204" pitchFamily="34" charset="0"/>
              </a:rPr>
              <a:t>ps</a:t>
            </a:r>
            <a:r>
              <a:rPr lang="es-ES" sz="1000" dirty="0">
                <a:latin typeface="Arial" panose="020B0604020202020204" pitchFamily="34" charset="0"/>
                <a:cs typeface="Arial" panose="020B0604020202020204" pitchFamily="34" charset="0"/>
              </a:rPr>
              <a:t>/(km*nm)</a:t>
            </a:r>
          </a:p>
          <a:p>
            <a:pPr algn="just"/>
            <a:r>
              <a:rPr lang="es-ES" sz="1000" dirty="0">
                <a:latin typeface="Arial" panose="020B0604020202020204" pitchFamily="34" charset="0"/>
                <a:cs typeface="Arial" panose="020B0604020202020204" pitchFamily="34" charset="0"/>
              </a:rPr>
              <a:t>TM0 (</a:t>
            </a:r>
            <a:r>
              <a:rPr lang="es-ES" sz="1000" dirty="0" err="1">
                <a:latin typeface="Arial" panose="020B0604020202020204" pitchFamily="34" charset="0"/>
                <a:cs typeface="Arial" panose="020B0604020202020204" pitchFamily="34" charset="0"/>
              </a:rPr>
              <a:t>wl</a:t>
            </a:r>
            <a:r>
              <a:rPr lang="es-ES" sz="1000" dirty="0">
                <a:latin typeface="Arial" panose="020B0604020202020204" pitchFamily="34" charset="0"/>
                <a:cs typeface="Arial" panose="020B0604020202020204" pitchFamily="34" charset="0"/>
              </a:rPr>
              <a:t>=1550nm) </a:t>
            </a:r>
            <a:r>
              <a:rPr lang="es-ES" sz="1000" b="1" dirty="0" err="1">
                <a:latin typeface="Arial" panose="020B0604020202020204" pitchFamily="34" charset="0"/>
                <a:cs typeface="Arial" panose="020B0604020202020204" pitchFamily="34" charset="0"/>
              </a:rPr>
              <a:t>effective</a:t>
            </a:r>
            <a:r>
              <a:rPr lang="es-ES" sz="1000" b="1" dirty="0">
                <a:latin typeface="Arial" panose="020B0604020202020204" pitchFamily="34" charset="0"/>
                <a:cs typeface="Arial" panose="020B0604020202020204" pitchFamily="34" charset="0"/>
              </a:rPr>
              <a:t> </a:t>
            </a:r>
            <a:r>
              <a:rPr lang="es-ES" sz="1000" b="1" dirty="0" err="1">
                <a:latin typeface="Arial" panose="020B0604020202020204" pitchFamily="34" charset="0"/>
                <a:cs typeface="Arial" panose="020B0604020202020204" pitchFamily="34" charset="0"/>
              </a:rPr>
              <a:t>index</a:t>
            </a:r>
            <a:r>
              <a:rPr lang="es-ES" sz="1000" b="1" dirty="0">
                <a:latin typeface="Arial" panose="020B0604020202020204" pitchFamily="34" charset="0"/>
                <a:cs typeface="Arial" panose="020B0604020202020204" pitchFamily="34" charset="0"/>
              </a:rPr>
              <a:t> </a:t>
            </a:r>
            <a:r>
              <a:rPr lang="es-ES" sz="1000" dirty="0">
                <a:latin typeface="Arial" panose="020B0604020202020204" pitchFamily="34" charset="0"/>
                <a:cs typeface="Arial" panose="020B0604020202020204" pitchFamily="34" charset="0"/>
              </a:rPr>
              <a:t>(</a:t>
            </a:r>
            <a:r>
              <a:rPr lang="es-ES" sz="1000" dirty="0" err="1">
                <a:latin typeface="Arial" panose="020B0604020202020204" pitchFamily="34" charset="0"/>
                <a:cs typeface="Arial" panose="020B0604020202020204" pitchFamily="34" charset="0"/>
              </a:rPr>
              <a:t>polyfit</a:t>
            </a:r>
            <a:r>
              <a:rPr lang="es-ES" sz="1000" dirty="0">
                <a:latin typeface="Arial" panose="020B0604020202020204" pitchFamily="34" charset="0"/>
                <a:cs typeface="Arial" panose="020B0604020202020204" pitchFamily="34" charset="0"/>
              </a:rPr>
              <a:t>): 1.5271892343288158</a:t>
            </a:r>
          </a:p>
          <a:p>
            <a:pPr algn="just"/>
            <a:r>
              <a:rPr lang="es-ES" sz="1000" dirty="0">
                <a:latin typeface="Arial" panose="020B0604020202020204" pitchFamily="34" charset="0"/>
                <a:cs typeface="Arial" panose="020B0604020202020204" pitchFamily="34" charset="0"/>
              </a:rPr>
              <a:t>TM0 (</a:t>
            </a:r>
            <a:r>
              <a:rPr lang="es-ES" sz="1000" dirty="0" err="1">
                <a:latin typeface="Arial" panose="020B0604020202020204" pitchFamily="34" charset="0"/>
                <a:cs typeface="Arial" panose="020B0604020202020204" pitchFamily="34" charset="0"/>
              </a:rPr>
              <a:t>wl</a:t>
            </a:r>
            <a:r>
              <a:rPr lang="es-ES" sz="1000" dirty="0">
                <a:latin typeface="Arial" panose="020B0604020202020204" pitchFamily="34" charset="0"/>
                <a:cs typeface="Arial" panose="020B0604020202020204" pitchFamily="34" charset="0"/>
              </a:rPr>
              <a:t>=1550nm) </a:t>
            </a:r>
            <a:r>
              <a:rPr lang="es-ES" sz="1000" b="1" dirty="0" err="1">
                <a:latin typeface="Arial" panose="020B0604020202020204" pitchFamily="34" charset="0"/>
                <a:cs typeface="Arial" panose="020B0604020202020204" pitchFamily="34" charset="0"/>
              </a:rPr>
              <a:t>group</a:t>
            </a:r>
            <a:r>
              <a:rPr lang="es-ES" sz="1000" b="1" dirty="0">
                <a:latin typeface="Arial" panose="020B0604020202020204" pitchFamily="34" charset="0"/>
                <a:cs typeface="Arial" panose="020B0604020202020204" pitchFamily="34" charset="0"/>
              </a:rPr>
              <a:t> </a:t>
            </a:r>
            <a:r>
              <a:rPr lang="es-ES" sz="1000" b="1" dirty="0" err="1">
                <a:latin typeface="Arial" panose="020B0604020202020204" pitchFamily="34" charset="0"/>
                <a:cs typeface="Arial" panose="020B0604020202020204" pitchFamily="34" charset="0"/>
              </a:rPr>
              <a:t>index</a:t>
            </a:r>
            <a:r>
              <a:rPr lang="es-ES" sz="1000" b="1" dirty="0">
                <a:latin typeface="Arial" panose="020B0604020202020204" pitchFamily="34" charset="0"/>
                <a:cs typeface="Arial" panose="020B0604020202020204" pitchFamily="34" charset="0"/>
              </a:rPr>
              <a:t> </a:t>
            </a:r>
            <a:r>
              <a:rPr lang="es-ES" sz="1000" dirty="0">
                <a:latin typeface="Arial" panose="020B0604020202020204" pitchFamily="34" charset="0"/>
                <a:cs typeface="Arial" panose="020B0604020202020204" pitchFamily="34" charset="0"/>
              </a:rPr>
              <a:t>(</a:t>
            </a:r>
            <a:r>
              <a:rPr lang="es-ES" sz="1000" dirty="0" err="1">
                <a:latin typeface="Arial" panose="020B0604020202020204" pitchFamily="34" charset="0"/>
                <a:cs typeface="Arial" panose="020B0604020202020204" pitchFamily="34" charset="0"/>
              </a:rPr>
              <a:t>polyfit</a:t>
            </a:r>
            <a:r>
              <a:rPr lang="es-ES" sz="1000" dirty="0">
                <a:latin typeface="Arial" panose="020B0604020202020204" pitchFamily="34" charset="0"/>
                <a:cs typeface="Arial" panose="020B0604020202020204" pitchFamily="34" charset="0"/>
              </a:rPr>
              <a:t>): 1.772025347866792</a:t>
            </a:r>
          </a:p>
          <a:p>
            <a:pPr algn="just"/>
            <a:r>
              <a:rPr lang="es-ES" sz="1000" dirty="0">
                <a:latin typeface="Arial" panose="020B0604020202020204" pitchFamily="34" charset="0"/>
                <a:cs typeface="Arial" panose="020B0604020202020204" pitchFamily="34" charset="0"/>
              </a:rPr>
              <a:t>TM0 (</a:t>
            </a:r>
            <a:r>
              <a:rPr lang="es-ES" sz="1000" dirty="0" err="1">
                <a:latin typeface="Arial" panose="020B0604020202020204" pitchFamily="34" charset="0"/>
                <a:cs typeface="Arial" panose="020B0604020202020204" pitchFamily="34" charset="0"/>
              </a:rPr>
              <a:t>wl</a:t>
            </a:r>
            <a:r>
              <a:rPr lang="es-ES" sz="1000" dirty="0">
                <a:latin typeface="Arial" panose="020B0604020202020204" pitchFamily="34" charset="0"/>
                <a:cs typeface="Arial" panose="020B0604020202020204" pitchFamily="34" charset="0"/>
              </a:rPr>
              <a:t>=1550nm) </a:t>
            </a:r>
            <a:r>
              <a:rPr lang="es-ES" sz="1000" b="1" dirty="0" err="1">
                <a:latin typeface="Arial" panose="020B0604020202020204" pitchFamily="34" charset="0"/>
                <a:cs typeface="Arial" panose="020B0604020202020204" pitchFamily="34" charset="0"/>
              </a:rPr>
              <a:t>dispersion</a:t>
            </a:r>
            <a:r>
              <a:rPr lang="es-ES" sz="1000" dirty="0">
                <a:latin typeface="Arial" panose="020B0604020202020204" pitchFamily="34" charset="0"/>
                <a:cs typeface="Arial" panose="020B0604020202020204" pitchFamily="34" charset="0"/>
              </a:rPr>
              <a:t> (</a:t>
            </a:r>
            <a:r>
              <a:rPr lang="es-ES" sz="1000" dirty="0" err="1">
                <a:latin typeface="Arial" panose="020B0604020202020204" pitchFamily="34" charset="0"/>
                <a:cs typeface="Arial" panose="020B0604020202020204" pitchFamily="34" charset="0"/>
              </a:rPr>
              <a:t>polyfit</a:t>
            </a:r>
            <a:r>
              <a:rPr lang="es-ES" sz="1000" dirty="0">
                <a:latin typeface="Arial" panose="020B0604020202020204" pitchFamily="34" charset="0"/>
                <a:cs typeface="Arial" panose="020B0604020202020204" pitchFamily="34" charset="0"/>
              </a:rPr>
              <a:t>): -1590.6948234078707 </a:t>
            </a:r>
            <a:r>
              <a:rPr lang="es-ES" sz="1000" dirty="0" err="1">
                <a:latin typeface="Arial" panose="020B0604020202020204" pitchFamily="34" charset="0"/>
                <a:cs typeface="Arial" panose="020B0604020202020204" pitchFamily="34" charset="0"/>
              </a:rPr>
              <a:t>ps</a:t>
            </a:r>
            <a:r>
              <a:rPr lang="es-ES" sz="1000" dirty="0">
                <a:latin typeface="Arial" panose="020B0604020202020204" pitchFamily="34" charset="0"/>
                <a:cs typeface="Arial" panose="020B0604020202020204" pitchFamily="34" charset="0"/>
              </a:rPr>
              <a:t>/(km*nm)</a:t>
            </a:r>
            <a:endParaRPr lang="en-US" sz="1000" dirty="0">
              <a:latin typeface="Arial" panose="020B0604020202020204" pitchFamily="34" charset="0"/>
              <a:cs typeface="Arial" panose="020B0604020202020204" pitchFamily="34" charset="0"/>
            </a:endParaRPr>
          </a:p>
        </p:txBody>
      </p:sp>
      <p:sp>
        <p:nvSpPr>
          <p:cNvPr id="5" name="Rectángulo 4">
            <a:extLst>
              <a:ext uri="{FF2B5EF4-FFF2-40B4-BE49-F238E27FC236}">
                <a16:creationId xmlns:a16="http://schemas.microsoft.com/office/drawing/2014/main" id="{A6B92C76-6772-2E00-346F-532321092C04}"/>
              </a:ext>
            </a:extLst>
          </p:cNvPr>
          <p:cNvSpPr/>
          <p:nvPr/>
        </p:nvSpPr>
        <p:spPr>
          <a:xfrm>
            <a:off x="609442" y="1447800"/>
            <a:ext cx="5261136" cy="2479079"/>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ángulo 5">
            <a:extLst>
              <a:ext uri="{FF2B5EF4-FFF2-40B4-BE49-F238E27FC236}">
                <a16:creationId xmlns:a16="http://schemas.microsoft.com/office/drawing/2014/main" id="{2886628E-6E58-1F7E-B6C6-432B9A228397}"/>
              </a:ext>
            </a:extLst>
          </p:cNvPr>
          <p:cNvSpPr/>
          <p:nvPr/>
        </p:nvSpPr>
        <p:spPr>
          <a:xfrm>
            <a:off x="6245224" y="1447800"/>
            <a:ext cx="5209357" cy="2479079"/>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Imagen 6" descr="Gráfico, Gráfico de líneas&#10;&#10;El contenido generado por IA puede ser incorrecto.">
            <a:extLst>
              <a:ext uri="{FF2B5EF4-FFF2-40B4-BE49-F238E27FC236}">
                <a16:creationId xmlns:a16="http://schemas.microsoft.com/office/drawing/2014/main" id="{3B53A3E9-3AD7-5990-85BC-58F21A532BA3}"/>
              </a:ext>
            </a:extLst>
          </p:cNvPr>
          <p:cNvPicPr>
            <a:picLocks noChangeAspect="1"/>
          </p:cNvPicPr>
          <p:nvPr/>
        </p:nvPicPr>
        <p:blipFill>
          <a:blip r:embed="rId5"/>
          <a:srcRect/>
          <a:stretch>
            <a:fillRect/>
          </a:stretch>
        </p:blipFill>
        <p:spPr>
          <a:xfrm>
            <a:off x="1703264" y="1507145"/>
            <a:ext cx="3050679" cy="2409826"/>
          </a:xfrm>
          <a:prstGeom prst="rect">
            <a:avLst/>
          </a:prstGeom>
        </p:spPr>
      </p:pic>
      <p:pic>
        <p:nvPicPr>
          <p:cNvPr id="12" name="Imagen 11" descr="Gráfico, Gráfico de líneas&#10;&#10;El contenido generado por IA puede ser incorrecto.">
            <a:extLst>
              <a:ext uri="{FF2B5EF4-FFF2-40B4-BE49-F238E27FC236}">
                <a16:creationId xmlns:a16="http://schemas.microsoft.com/office/drawing/2014/main" id="{37B6F8FA-9C3C-702C-F051-432029EC98F0}"/>
              </a:ext>
            </a:extLst>
          </p:cNvPr>
          <p:cNvPicPr>
            <a:picLocks noChangeAspect="1"/>
          </p:cNvPicPr>
          <p:nvPr/>
        </p:nvPicPr>
        <p:blipFill>
          <a:blip r:embed="rId6"/>
          <a:stretch>
            <a:fillRect/>
          </a:stretch>
        </p:blipFill>
        <p:spPr>
          <a:xfrm>
            <a:off x="7493554" y="1507144"/>
            <a:ext cx="3050679" cy="2409825"/>
          </a:xfrm>
          <a:prstGeom prst="rect">
            <a:avLst/>
          </a:prstGeom>
        </p:spPr>
      </p:pic>
      <p:sp>
        <p:nvSpPr>
          <p:cNvPr id="13" name="CuadroTexto 12">
            <a:extLst>
              <a:ext uri="{FF2B5EF4-FFF2-40B4-BE49-F238E27FC236}">
                <a16:creationId xmlns:a16="http://schemas.microsoft.com/office/drawing/2014/main" id="{CC42190F-CE2B-55BE-B54C-B246857FD9A0}"/>
              </a:ext>
            </a:extLst>
          </p:cNvPr>
          <p:cNvSpPr txBox="1"/>
          <p:nvPr/>
        </p:nvSpPr>
        <p:spPr>
          <a:xfrm>
            <a:off x="6245224" y="3928488"/>
            <a:ext cx="5206181" cy="1169551"/>
          </a:xfrm>
          <a:prstGeom prst="rect">
            <a:avLst/>
          </a:prstGeom>
          <a:solidFill>
            <a:schemeClr val="bg1">
              <a:lumMod val="95000"/>
            </a:schemeClr>
          </a:solidFill>
          <a:ln w="28575">
            <a:solidFill>
              <a:srgbClr val="E0700D"/>
            </a:solidFill>
          </a:ln>
        </p:spPr>
        <p:txBody>
          <a:bodyPr wrap="square" rtlCol="0">
            <a:spAutoFit/>
          </a:bodyPr>
          <a:lstStyle/>
          <a:p>
            <a:r>
              <a:rPr lang="es-ES" sz="1000" b="1" dirty="0" err="1">
                <a:latin typeface="Arial" panose="020B0604020202020204" pitchFamily="34" charset="0"/>
                <a:cs typeface="Arial" panose="020B0604020202020204" pitchFamily="34" charset="0"/>
              </a:rPr>
              <a:t>Shallow</a:t>
            </a:r>
            <a:r>
              <a:rPr lang="es-ES" sz="1000" b="1" dirty="0">
                <a:latin typeface="Arial" panose="020B0604020202020204" pitchFamily="34" charset="0"/>
                <a:cs typeface="Arial" panose="020B0604020202020204" pitchFamily="34" charset="0"/>
              </a:rPr>
              <a:t> </a:t>
            </a:r>
            <a:r>
              <a:rPr lang="es-ES" sz="1000" b="1" dirty="0" err="1">
                <a:latin typeface="Arial" panose="020B0604020202020204" pitchFamily="34" charset="0"/>
                <a:cs typeface="Arial" panose="020B0604020202020204" pitchFamily="34" charset="0"/>
              </a:rPr>
              <a:t>waveguide</a:t>
            </a:r>
            <a:r>
              <a:rPr lang="es-ES" sz="1000" b="1" dirty="0">
                <a:latin typeface="Arial" panose="020B0604020202020204" pitchFamily="34" charset="0"/>
                <a:cs typeface="Arial" panose="020B0604020202020204" pitchFamily="34" charset="0"/>
              </a:rPr>
              <a:t>:</a:t>
            </a:r>
            <a:endParaRPr lang="es-ES" sz="1000" dirty="0">
              <a:latin typeface="Arial" panose="020B0604020202020204" pitchFamily="34" charset="0"/>
              <a:cs typeface="Arial" panose="020B0604020202020204" pitchFamily="34" charset="0"/>
            </a:endParaRPr>
          </a:p>
          <a:p>
            <a:r>
              <a:rPr lang="es-ES" sz="1000" dirty="0">
                <a:latin typeface="Arial" panose="020B0604020202020204" pitchFamily="34" charset="0"/>
                <a:cs typeface="Arial" panose="020B0604020202020204" pitchFamily="34" charset="0"/>
              </a:rPr>
              <a:t>TE0 (</a:t>
            </a:r>
            <a:r>
              <a:rPr lang="es-ES" sz="1000" dirty="0" err="1">
                <a:latin typeface="Arial" panose="020B0604020202020204" pitchFamily="34" charset="0"/>
                <a:cs typeface="Arial" panose="020B0604020202020204" pitchFamily="34" charset="0"/>
              </a:rPr>
              <a:t>wl</a:t>
            </a:r>
            <a:r>
              <a:rPr lang="es-ES" sz="1000" dirty="0">
                <a:latin typeface="Arial" panose="020B0604020202020204" pitchFamily="34" charset="0"/>
                <a:cs typeface="Arial" panose="020B0604020202020204" pitchFamily="34" charset="0"/>
              </a:rPr>
              <a:t>=1550nm) </a:t>
            </a:r>
            <a:r>
              <a:rPr lang="es-ES" sz="1000" b="1" dirty="0" err="1">
                <a:latin typeface="Arial" panose="020B0604020202020204" pitchFamily="34" charset="0"/>
                <a:cs typeface="Arial" panose="020B0604020202020204" pitchFamily="34" charset="0"/>
              </a:rPr>
              <a:t>effective</a:t>
            </a:r>
            <a:r>
              <a:rPr lang="es-ES" sz="1000" b="1" dirty="0">
                <a:latin typeface="Arial" panose="020B0604020202020204" pitchFamily="34" charset="0"/>
                <a:cs typeface="Arial" panose="020B0604020202020204" pitchFamily="34" charset="0"/>
              </a:rPr>
              <a:t> </a:t>
            </a:r>
            <a:r>
              <a:rPr lang="es-ES" sz="1000" b="1" dirty="0" err="1">
                <a:latin typeface="Arial" panose="020B0604020202020204" pitchFamily="34" charset="0"/>
                <a:cs typeface="Arial" panose="020B0604020202020204" pitchFamily="34" charset="0"/>
              </a:rPr>
              <a:t>index</a:t>
            </a:r>
            <a:r>
              <a:rPr lang="es-ES" sz="1000" b="1" dirty="0">
                <a:latin typeface="Arial" panose="020B0604020202020204" pitchFamily="34" charset="0"/>
                <a:cs typeface="Arial" panose="020B0604020202020204" pitchFamily="34" charset="0"/>
              </a:rPr>
              <a:t> </a:t>
            </a:r>
            <a:r>
              <a:rPr lang="es-ES" sz="1000" dirty="0">
                <a:latin typeface="Arial" panose="020B0604020202020204" pitchFamily="34" charset="0"/>
                <a:cs typeface="Arial" panose="020B0604020202020204" pitchFamily="34" charset="0"/>
              </a:rPr>
              <a:t>(</a:t>
            </a:r>
            <a:r>
              <a:rPr lang="es-ES" sz="1000" dirty="0" err="1">
                <a:latin typeface="Arial" panose="020B0604020202020204" pitchFamily="34" charset="0"/>
                <a:cs typeface="Arial" panose="020B0604020202020204" pitchFamily="34" charset="0"/>
              </a:rPr>
              <a:t>polyfit</a:t>
            </a:r>
            <a:r>
              <a:rPr lang="es-ES" sz="1000" dirty="0">
                <a:latin typeface="Arial" panose="020B0604020202020204" pitchFamily="34" charset="0"/>
                <a:cs typeface="Arial" panose="020B0604020202020204" pitchFamily="34" charset="0"/>
              </a:rPr>
              <a:t>): 1.6240906297465494</a:t>
            </a:r>
          </a:p>
          <a:p>
            <a:r>
              <a:rPr lang="es-ES" sz="1000" dirty="0">
                <a:latin typeface="Arial" panose="020B0604020202020204" pitchFamily="34" charset="0"/>
                <a:cs typeface="Arial" panose="020B0604020202020204" pitchFamily="34" charset="0"/>
              </a:rPr>
              <a:t>TE0 (</a:t>
            </a:r>
            <a:r>
              <a:rPr lang="es-ES" sz="1000" dirty="0" err="1">
                <a:latin typeface="Arial" panose="020B0604020202020204" pitchFamily="34" charset="0"/>
                <a:cs typeface="Arial" panose="020B0604020202020204" pitchFamily="34" charset="0"/>
              </a:rPr>
              <a:t>wl</a:t>
            </a:r>
            <a:r>
              <a:rPr lang="es-ES" sz="1000" dirty="0">
                <a:latin typeface="Arial" panose="020B0604020202020204" pitchFamily="34" charset="0"/>
                <a:cs typeface="Arial" panose="020B0604020202020204" pitchFamily="34" charset="0"/>
              </a:rPr>
              <a:t>=1550nm) </a:t>
            </a:r>
            <a:r>
              <a:rPr lang="es-ES" sz="1000" b="1" dirty="0" err="1">
                <a:latin typeface="Arial" panose="020B0604020202020204" pitchFamily="34" charset="0"/>
                <a:cs typeface="Arial" panose="020B0604020202020204" pitchFamily="34" charset="0"/>
              </a:rPr>
              <a:t>group</a:t>
            </a:r>
            <a:r>
              <a:rPr lang="es-ES" sz="1000" b="1" dirty="0">
                <a:latin typeface="Arial" panose="020B0604020202020204" pitchFamily="34" charset="0"/>
                <a:cs typeface="Arial" panose="020B0604020202020204" pitchFamily="34" charset="0"/>
              </a:rPr>
              <a:t> </a:t>
            </a:r>
            <a:r>
              <a:rPr lang="es-ES" sz="1000" b="1" dirty="0" err="1">
                <a:latin typeface="Arial" panose="020B0604020202020204" pitchFamily="34" charset="0"/>
                <a:cs typeface="Arial" panose="020B0604020202020204" pitchFamily="34" charset="0"/>
              </a:rPr>
              <a:t>index</a:t>
            </a:r>
            <a:r>
              <a:rPr lang="es-ES" sz="1000" b="1" dirty="0">
                <a:latin typeface="Arial" panose="020B0604020202020204" pitchFamily="34" charset="0"/>
                <a:cs typeface="Arial" panose="020B0604020202020204" pitchFamily="34" charset="0"/>
              </a:rPr>
              <a:t> </a:t>
            </a:r>
            <a:r>
              <a:rPr lang="es-ES" sz="1000" dirty="0">
                <a:latin typeface="Arial" panose="020B0604020202020204" pitchFamily="34" charset="0"/>
                <a:cs typeface="Arial" panose="020B0604020202020204" pitchFamily="34" charset="0"/>
              </a:rPr>
              <a:t>(</a:t>
            </a:r>
            <a:r>
              <a:rPr lang="es-ES" sz="1000" dirty="0" err="1">
                <a:latin typeface="Arial" panose="020B0604020202020204" pitchFamily="34" charset="0"/>
                <a:cs typeface="Arial" panose="020B0604020202020204" pitchFamily="34" charset="0"/>
              </a:rPr>
              <a:t>polyfit</a:t>
            </a:r>
            <a:r>
              <a:rPr lang="es-ES" sz="1000" dirty="0">
                <a:latin typeface="Arial" panose="020B0604020202020204" pitchFamily="34" charset="0"/>
                <a:cs typeface="Arial" panose="020B0604020202020204" pitchFamily="34" charset="0"/>
              </a:rPr>
              <a:t>): 1.9157617116967773</a:t>
            </a:r>
          </a:p>
          <a:p>
            <a:r>
              <a:rPr lang="es-ES" sz="1000" dirty="0">
                <a:latin typeface="Arial" panose="020B0604020202020204" pitchFamily="34" charset="0"/>
                <a:cs typeface="Arial" panose="020B0604020202020204" pitchFamily="34" charset="0"/>
              </a:rPr>
              <a:t>TE0 (</a:t>
            </a:r>
            <a:r>
              <a:rPr lang="es-ES" sz="1000" dirty="0" err="1">
                <a:latin typeface="Arial" panose="020B0604020202020204" pitchFamily="34" charset="0"/>
                <a:cs typeface="Arial" panose="020B0604020202020204" pitchFamily="34" charset="0"/>
              </a:rPr>
              <a:t>wl</a:t>
            </a:r>
            <a:r>
              <a:rPr lang="es-ES" sz="1000" dirty="0">
                <a:latin typeface="Arial" panose="020B0604020202020204" pitchFamily="34" charset="0"/>
                <a:cs typeface="Arial" panose="020B0604020202020204" pitchFamily="34" charset="0"/>
              </a:rPr>
              <a:t>=1550nm) </a:t>
            </a:r>
            <a:r>
              <a:rPr lang="es-ES" sz="1000" b="1" dirty="0" err="1">
                <a:latin typeface="Arial" panose="020B0604020202020204" pitchFamily="34" charset="0"/>
                <a:cs typeface="Arial" panose="020B0604020202020204" pitchFamily="34" charset="0"/>
              </a:rPr>
              <a:t>dispersion</a:t>
            </a:r>
            <a:r>
              <a:rPr lang="es-ES" sz="1000" dirty="0">
                <a:latin typeface="Arial" panose="020B0604020202020204" pitchFamily="34" charset="0"/>
                <a:cs typeface="Arial" panose="020B0604020202020204" pitchFamily="34" charset="0"/>
              </a:rPr>
              <a:t> (</a:t>
            </a:r>
            <a:r>
              <a:rPr lang="es-ES" sz="1000" dirty="0" err="1">
                <a:latin typeface="Arial" panose="020B0604020202020204" pitchFamily="34" charset="0"/>
                <a:cs typeface="Arial" panose="020B0604020202020204" pitchFamily="34" charset="0"/>
              </a:rPr>
              <a:t>polyfit</a:t>
            </a:r>
            <a:r>
              <a:rPr lang="es-ES" sz="1000" dirty="0">
                <a:latin typeface="Arial" panose="020B0604020202020204" pitchFamily="34" charset="0"/>
                <a:cs typeface="Arial" panose="020B0604020202020204" pitchFamily="34" charset="0"/>
              </a:rPr>
              <a:t>): -989.5411991927712 </a:t>
            </a:r>
            <a:r>
              <a:rPr lang="es-ES" sz="1000" dirty="0" err="1">
                <a:latin typeface="Arial" panose="020B0604020202020204" pitchFamily="34" charset="0"/>
                <a:cs typeface="Arial" panose="020B0604020202020204" pitchFamily="34" charset="0"/>
              </a:rPr>
              <a:t>ps</a:t>
            </a:r>
            <a:r>
              <a:rPr lang="es-ES" sz="1000" dirty="0">
                <a:latin typeface="Arial" panose="020B0604020202020204" pitchFamily="34" charset="0"/>
                <a:cs typeface="Arial" panose="020B0604020202020204" pitchFamily="34" charset="0"/>
              </a:rPr>
              <a:t>/(km*nm)</a:t>
            </a:r>
          </a:p>
          <a:p>
            <a:r>
              <a:rPr lang="es-ES" sz="1000" dirty="0">
                <a:latin typeface="Arial" panose="020B0604020202020204" pitchFamily="34" charset="0"/>
                <a:cs typeface="Arial" panose="020B0604020202020204" pitchFamily="34" charset="0"/>
              </a:rPr>
              <a:t>TM0 (</a:t>
            </a:r>
            <a:r>
              <a:rPr lang="es-ES" sz="1000" dirty="0" err="1">
                <a:latin typeface="Arial" panose="020B0604020202020204" pitchFamily="34" charset="0"/>
                <a:cs typeface="Arial" panose="020B0604020202020204" pitchFamily="34" charset="0"/>
              </a:rPr>
              <a:t>wl</a:t>
            </a:r>
            <a:r>
              <a:rPr lang="es-ES" sz="1000" dirty="0">
                <a:latin typeface="Arial" panose="020B0604020202020204" pitchFamily="34" charset="0"/>
                <a:cs typeface="Arial" panose="020B0604020202020204" pitchFamily="34" charset="0"/>
              </a:rPr>
              <a:t>=1550nm) </a:t>
            </a:r>
            <a:r>
              <a:rPr lang="es-ES" sz="1000" b="1" dirty="0" err="1">
                <a:latin typeface="Arial" panose="020B0604020202020204" pitchFamily="34" charset="0"/>
                <a:cs typeface="Arial" panose="020B0604020202020204" pitchFamily="34" charset="0"/>
              </a:rPr>
              <a:t>effective</a:t>
            </a:r>
            <a:r>
              <a:rPr lang="es-ES" sz="1000" b="1" dirty="0">
                <a:latin typeface="Arial" panose="020B0604020202020204" pitchFamily="34" charset="0"/>
                <a:cs typeface="Arial" panose="020B0604020202020204" pitchFamily="34" charset="0"/>
              </a:rPr>
              <a:t> </a:t>
            </a:r>
            <a:r>
              <a:rPr lang="es-ES" sz="1000" b="1" dirty="0" err="1">
                <a:latin typeface="Arial" panose="020B0604020202020204" pitchFamily="34" charset="0"/>
                <a:cs typeface="Arial" panose="020B0604020202020204" pitchFamily="34" charset="0"/>
              </a:rPr>
              <a:t>index</a:t>
            </a:r>
            <a:r>
              <a:rPr lang="es-ES" sz="1000" b="1" dirty="0">
                <a:latin typeface="Arial" panose="020B0604020202020204" pitchFamily="34" charset="0"/>
                <a:cs typeface="Arial" panose="020B0604020202020204" pitchFamily="34" charset="0"/>
              </a:rPr>
              <a:t> </a:t>
            </a:r>
            <a:r>
              <a:rPr lang="es-ES" sz="1000" dirty="0">
                <a:latin typeface="Arial" panose="020B0604020202020204" pitchFamily="34" charset="0"/>
                <a:cs typeface="Arial" panose="020B0604020202020204" pitchFamily="34" charset="0"/>
              </a:rPr>
              <a:t>(</a:t>
            </a:r>
            <a:r>
              <a:rPr lang="es-ES" sz="1000" dirty="0" err="1">
                <a:latin typeface="Arial" panose="020B0604020202020204" pitchFamily="34" charset="0"/>
                <a:cs typeface="Arial" panose="020B0604020202020204" pitchFamily="34" charset="0"/>
              </a:rPr>
              <a:t>polyfit</a:t>
            </a:r>
            <a:r>
              <a:rPr lang="es-ES" sz="1000" dirty="0">
                <a:latin typeface="Arial" panose="020B0604020202020204" pitchFamily="34" charset="0"/>
                <a:cs typeface="Arial" panose="020B0604020202020204" pitchFamily="34" charset="0"/>
              </a:rPr>
              <a:t>): 1.5361017569770001</a:t>
            </a:r>
          </a:p>
          <a:p>
            <a:r>
              <a:rPr lang="es-ES" sz="1000" dirty="0">
                <a:latin typeface="Arial" panose="020B0604020202020204" pitchFamily="34" charset="0"/>
                <a:cs typeface="Arial" panose="020B0604020202020204" pitchFamily="34" charset="0"/>
              </a:rPr>
              <a:t>TM0 (</a:t>
            </a:r>
            <a:r>
              <a:rPr lang="es-ES" sz="1000" dirty="0" err="1">
                <a:latin typeface="Arial" panose="020B0604020202020204" pitchFamily="34" charset="0"/>
                <a:cs typeface="Arial" panose="020B0604020202020204" pitchFamily="34" charset="0"/>
              </a:rPr>
              <a:t>wl</a:t>
            </a:r>
            <a:r>
              <a:rPr lang="es-ES" sz="1000" dirty="0">
                <a:latin typeface="Arial" panose="020B0604020202020204" pitchFamily="34" charset="0"/>
                <a:cs typeface="Arial" panose="020B0604020202020204" pitchFamily="34" charset="0"/>
              </a:rPr>
              <a:t>=1550nm) </a:t>
            </a:r>
            <a:r>
              <a:rPr lang="es-ES" sz="1000" b="1" dirty="0" err="1">
                <a:latin typeface="Arial" panose="020B0604020202020204" pitchFamily="34" charset="0"/>
                <a:cs typeface="Arial" panose="020B0604020202020204" pitchFamily="34" charset="0"/>
              </a:rPr>
              <a:t>group</a:t>
            </a:r>
            <a:r>
              <a:rPr lang="es-ES" sz="1000" b="1" dirty="0">
                <a:latin typeface="Arial" panose="020B0604020202020204" pitchFamily="34" charset="0"/>
                <a:cs typeface="Arial" panose="020B0604020202020204" pitchFamily="34" charset="0"/>
              </a:rPr>
              <a:t> </a:t>
            </a:r>
            <a:r>
              <a:rPr lang="es-ES" sz="1000" b="1" dirty="0" err="1">
                <a:latin typeface="Arial" panose="020B0604020202020204" pitchFamily="34" charset="0"/>
                <a:cs typeface="Arial" panose="020B0604020202020204" pitchFamily="34" charset="0"/>
              </a:rPr>
              <a:t>index</a:t>
            </a:r>
            <a:r>
              <a:rPr lang="es-ES" sz="1000" b="1" dirty="0">
                <a:latin typeface="Arial" panose="020B0604020202020204" pitchFamily="34" charset="0"/>
                <a:cs typeface="Arial" panose="020B0604020202020204" pitchFamily="34" charset="0"/>
              </a:rPr>
              <a:t> </a:t>
            </a:r>
            <a:r>
              <a:rPr lang="es-ES" sz="1000" dirty="0">
                <a:latin typeface="Arial" panose="020B0604020202020204" pitchFamily="34" charset="0"/>
                <a:cs typeface="Arial" panose="020B0604020202020204" pitchFamily="34" charset="0"/>
              </a:rPr>
              <a:t>(</a:t>
            </a:r>
            <a:r>
              <a:rPr lang="es-ES" sz="1000" dirty="0" err="1">
                <a:latin typeface="Arial" panose="020B0604020202020204" pitchFamily="34" charset="0"/>
                <a:cs typeface="Arial" panose="020B0604020202020204" pitchFamily="34" charset="0"/>
              </a:rPr>
              <a:t>polyfit</a:t>
            </a:r>
            <a:r>
              <a:rPr lang="es-ES" sz="1000" dirty="0">
                <a:latin typeface="Arial" panose="020B0604020202020204" pitchFamily="34" charset="0"/>
                <a:cs typeface="Arial" panose="020B0604020202020204" pitchFamily="34" charset="0"/>
              </a:rPr>
              <a:t>): 1.751028636956494</a:t>
            </a:r>
          </a:p>
          <a:p>
            <a:r>
              <a:rPr lang="es-ES" sz="1000" dirty="0">
                <a:latin typeface="Arial" panose="020B0604020202020204" pitchFamily="34" charset="0"/>
                <a:cs typeface="Arial" panose="020B0604020202020204" pitchFamily="34" charset="0"/>
              </a:rPr>
              <a:t>TM0 (</a:t>
            </a:r>
            <a:r>
              <a:rPr lang="es-ES" sz="1000" dirty="0" err="1">
                <a:latin typeface="Arial" panose="020B0604020202020204" pitchFamily="34" charset="0"/>
                <a:cs typeface="Arial" panose="020B0604020202020204" pitchFamily="34" charset="0"/>
              </a:rPr>
              <a:t>wl</a:t>
            </a:r>
            <a:r>
              <a:rPr lang="es-ES" sz="1000" dirty="0">
                <a:latin typeface="Arial" panose="020B0604020202020204" pitchFamily="34" charset="0"/>
                <a:cs typeface="Arial" panose="020B0604020202020204" pitchFamily="34" charset="0"/>
              </a:rPr>
              <a:t>=1550nm) </a:t>
            </a:r>
            <a:r>
              <a:rPr lang="es-ES" sz="1000" b="1" dirty="0" err="1">
                <a:latin typeface="Arial" panose="020B0604020202020204" pitchFamily="34" charset="0"/>
                <a:cs typeface="Arial" panose="020B0604020202020204" pitchFamily="34" charset="0"/>
              </a:rPr>
              <a:t>dispersion</a:t>
            </a:r>
            <a:r>
              <a:rPr lang="es-ES" sz="1000" dirty="0">
                <a:latin typeface="Arial" panose="020B0604020202020204" pitchFamily="34" charset="0"/>
                <a:cs typeface="Arial" panose="020B0604020202020204" pitchFamily="34" charset="0"/>
              </a:rPr>
              <a:t> (</a:t>
            </a:r>
            <a:r>
              <a:rPr lang="es-ES" sz="1000" dirty="0" err="1">
                <a:latin typeface="Arial" panose="020B0604020202020204" pitchFamily="34" charset="0"/>
                <a:cs typeface="Arial" panose="020B0604020202020204" pitchFamily="34" charset="0"/>
              </a:rPr>
              <a:t>polyfit</a:t>
            </a:r>
            <a:r>
              <a:rPr lang="es-ES" sz="1000" dirty="0">
                <a:latin typeface="Arial" panose="020B0604020202020204" pitchFamily="34" charset="0"/>
                <a:cs typeface="Arial" panose="020B0604020202020204" pitchFamily="34" charset="0"/>
              </a:rPr>
              <a:t>): -1013.1548259425633 </a:t>
            </a:r>
            <a:r>
              <a:rPr lang="es-ES" sz="1000" dirty="0" err="1">
                <a:latin typeface="Arial" panose="020B0604020202020204" pitchFamily="34" charset="0"/>
                <a:cs typeface="Arial" panose="020B0604020202020204" pitchFamily="34" charset="0"/>
              </a:rPr>
              <a:t>ps</a:t>
            </a:r>
            <a:r>
              <a:rPr lang="es-ES" sz="1000" dirty="0">
                <a:latin typeface="Arial" panose="020B0604020202020204" pitchFamily="34" charset="0"/>
                <a:cs typeface="Arial" panose="020B0604020202020204" pitchFamily="34" charset="0"/>
              </a:rPr>
              <a:t>/(km*nm)</a:t>
            </a:r>
            <a:endParaRPr lang="en-US" sz="1000" dirty="0">
              <a:latin typeface="Arial" panose="020B0604020202020204" pitchFamily="34" charset="0"/>
              <a:cs typeface="Arial" panose="020B0604020202020204" pitchFamily="34" charset="0"/>
            </a:endParaRPr>
          </a:p>
        </p:txBody>
      </p:sp>
      <p:sp>
        <p:nvSpPr>
          <p:cNvPr id="14" name="CuadroTexto 13">
            <a:extLst>
              <a:ext uri="{FF2B5EF4-FFF2-40B4-BE49-F238E27FC236}">
                <a16:creationId xmlns:a16="http://schemas.microsoft.com/office/drawing/2014/main" id="{E7368598-976A-BC09-D873-88BA744122EA}"/>
              </a:ext>
            </a:extLst>
          </p:cNvPr>
          <p:cNvSpPr txBox="1"/>
          <p:nvPr/>
        </p:nvSpPr>
        <p:spPr>
          <a:xfrm>
            <a:off x="609441" y="5098039"/>
            <a:ext cx="10845141" cy="1200329"/>
          </a:xfrm>
          <a:prstGeom prst="rect">
            <a:avLst/>
          </a:prstGeom>
          <a:solidFill>
            <a:schemeClr val="bg1">
              <a:lumMod val="95000"/>
            </a:schemeClr>
          </a:solidFill>
          <a:ln w="28575">
            <a:solidFill>
              <a:srgbClr val="E0700D"/>
            </a:solidFill>
          </a:ln>
        </p:spPr>
        <p:txBody>
          <a:bodyPr wrap="square" rtlCol="0">
            <a:spAutoFit/>
          </a:bodyPr>
          <a:lstStyle/>
          <a:p>
            <a:pPr algn="just"/>
            <a:r>
              <a:rPr lang="es-ES" sz="1200" dirty="0">
                <a:latin typeface="Arial" panose="020B0604020202020204" pitchFamily="34" charset="0"/>
                <a:cs typeface="Arial" panose="020B0604020202020204" pitchFamily="34" charset="0"/>
              </a:rPr>
              <a:t>Se ha ajustado un polinomio de segundo grado para modelar la respuesta del índice efectivo con la longitud de onda. Como se observa, este polinomio reproduce prácticamente los mismos valores que la simulación y permite calcular el índice efectivo para cualquier longitud de onda, así como obtener el índice de grupo y la dispersión.</a:t>
            </a:r>
          </a:p>
          <a:p>
            <a:r>
              <a:rPr lang="es-ES" sz="1200" dirty="0">
                <a:latin typeface="Arial" panose="020B0604020202020204" pitchFamily="34" charset="0"/>
                <a:cs typeface="Arial" panose="020B0604020202020204" pitchFamily="34" charset="0"/>
              </a:rPr>
              <a:t>Para ambas guías, el índice efectivo a 1550 nm coincide con el valor obtenido en la simulación. En cuanto al índice de grupo, este es mayor que el índice efectivo, lo que implica que la velocidad de grupo es menor que la velocidad de fase. Además, la dispersión es negativa, lo que indica que las longitudes de onda más cortas se propagan más lentamente que las más largas.</a:t>
            </a:r>
          </a:p>
        </p:txBody>
      </p:sp>
    </p:spTree>
    <p:extLst>
      <p:ext uri="{BB962C8B-B14F-4D97-AF65-F5344CB8AC3E}">
        <p14:creationId xmlns:p14="http://schemas.microsoft.com/office/powerpoint/2010/main" val="2360544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434E70-43B1-3881-1771-20FB4358471D}"/>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742C31CE-19F0-B995-0997-9A2D6A879BF7}"/>
              </a:ext>
            </a:extLst>
          </p:cNvPr>
          <p:cNvSpPr txBox="1">
            <a:spLocks noGrp="1"/>
          </p:cNvSpPr>
          <p:nvPr>
            <p:ph type="title"/>
          </p:nvPr>
        </p:nvSpPr>
        <p:spPr>
          <a:xfrm>
            <a:off x="685800" y="408883"/>
            <a:ext cx="10994410" cy="1090042"/>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#5 – Bend waveguide radius vs. loss – deep</a:t>
            </a:r>
            <a:br>
              <a:rPr lang="en-US" sz="2500" dirty="0"/>
            </a:br>
            <a:r>
              <a:rPr lang="en-US" b="0" dirty="0"/>
              <a:t>Find  neff_TE0 for </a:t>
            </a:r>
            <a:r>
              <a:rPr lang="en-US" b="0" dirty="0" err="1"/>
              <a:t>wvl</a:t>
            </a:r>
            <a:r>
              <a:rPr lang="en-US" b="0" dirty="0"/>
              <a:t> 1.55 µm, width 1.2 µm for R=25,50,75,100, 125,150 µm</a:t>
            </a:r>
            <a:br>
              <a:rPr lang="en-US" sz="2500" dirty="0"/>
            </a:br>
            <a:endParaRPr lang="en-US" sz="2500" b="0" dirty="0">
              <a:latin typeface="+mj-lt"/>
              <a:cs typeface="Lucida Sans"/>
            </a:endParaRPr>
          </a:p>
        </p:txBody>
      </p:sp>
      <p:pic>
        <p:nvPicPr>
          <p:cNvPr id="83" name="Gráfico 82">
            <a:extLst>
              <a:ext uri="{FF2B5EF4-FFF2-40B4-BE49-F238E27FC236}">
                <a16:creationId xmlns:a16="http://schemas.microsoft.com/office/drawing/2014/main" id="{D688A609-F3DC-EE34-C536-683E70F32EA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B6C672C6-89D4-7E67-2B94-811D081786A7}"/>
              </a:ext>
            </a:extLst>
          </p:cNvPr>
          <p:cNvSpPr>
            <a:spLocks noGrp="1"/>
          </p:cNvSpPr>
          <p:nvPr>
            <p:ph type="sldNum" sz="quarter" idx="7"/>
          </p:nvPr>
        </p:nvSpPr>
        <p:spPr/>
        <p:txBody>
          <a:bodyPr/>
          <a:lstStyle/>
          <a:p>
            <a:fld id="{B6F15528-21DE-4FAA-801E-634DDDAF4B2B}" type="slidenum">
              <a:rPr lang="es-ES" smtClean="0"/>
              <a:t>9</a:t>
            </a:fld>
            <a:endParaRPr lang="es-ES"/>
          </a:p>
        </p:txBody>
      </p:sp>
      <p:sp>
        <p:nvSpPr>
          <p:cNvPr id="3" name="Marcador de pie de página 2">
            <a:extLst>
              <a:ext uri="{FF2B5EF4-FFF2-40B4-BE49-F238E27FC236}">
                <a16:creationId xmlns:a16="http://schemas.microsoft.com/office/drawing/2014/main" id="{AA1F4313-D710-7A3E-7A8F-EB77DEE3C1A7}"/>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2" name="CuadroTexto 1">
            <a:extLst>
              <a:ext uri="{FF2B5EF4-FFF2-40B4-BE49-F238E27FC236}">
                <a16:creationId xmlns:a16="http://schemas.microsoft.com/office/drawing/2014/main" id="{FDE3A197-9508-F9F1-1FEB-FF883D78C151}"/>
              </a:ext>
            </a:extLst>
          </p:cNvPr>
          <p:cNvSpPr txBox="1"/>
          <p:nvPr/>
        </p:nvSpPr>
        <p:spPr>
          <a:xfrm>
            <a:off x="609441" y="4860334"/>
            <a:ext cx="11199971" cy="1200329"/>
          </a:xfrm>
          <a:prstGeom prst="rect">
            <a:avLst/>
          </a:prstGeom>
          <a:solidFill>
            <a:schemeClr val="bg1">
              <a:lumMod val="95000"/>
            </a:schemeClr>
          </a:solidFill>
          <a:ln w="28575">
            <a:solidFill>
              <a:srgbClr val="E0700D"/>
            </a:solidFill>
          </a:ln>
        </p:spPr>
        <p:txBody>
          <a:bodyPr wrap="square" rtlCol="0">
            <a:spAutoFit/>
          </a:bodyPr>
          <a:lstStyle/>
          <a:p>
            <a:r>
              <a:rPr lang="es-ES" sz="1200" dirty="0">
                <a:latin typeface="Arial" panose="020B0604020202020204" pitchFamily="34" charset="0"/>
                <a:cs typeface="Arial" panose="020B0604020202020204" pitchFamily="34" charset="0"/>
              </a:rPr>
              <a:t>Como se muestra en la gráfica de pérdidas en función del radio de curvatura (R), se obtiene un radio mínimo seguro de aproximadamente 35 </a:t>
            </a:r>
            <a:r>
              <a:rPr lang="es-ES" sz="1200" dirty="0" err="1">
                <a:latin typeface="Arial" panose="020B0604020202020204" pitchFamily="34" charset="0"/>
                <a:cs typeface="Arial" panose="020B0604020202020204" pitchFamily="34" charset="0"/>
              </a:rPr>
              <a:t>um</a:t>
            </a:r>
            <a:r>
              <a:rPr lang="es-ES" sz="1200" dirty="0">
                <a:latin typeface="Arial" panose="020B0604020202020204" pitchFamily="34" charset="0"/>
                <a:cs typeface="Arial" panose="020B0604020202020204" pitchFamily="34" charset="0"/>
              </a:rPr>
              <a:t> al considerar seguras unas pérdidas de 0.1 dB/90°. A partir de este valor, las pérdidas por </a:t>
            </a:r>
            <a:r>
              <a:rPr lang="es-ES" sz="1200" dirty="0" err="1">
                <a:latin typeface="Arial" panose="020B0604020202020204" pitchFamily="34" charset="0"/>
                <a:cs typeface="Arial" panose="020B0604020202020204" pitchFamily="34" charset="0"/>
              </a:rPr>
              <a:t>mismatch</a:t>
            </a:r>
            <a:r>
              <a:rPr lang="es-ES" sz="1200" dirty="0">
                <a:latin typeface="Arial" panose="020B0604020202020204" pitchFamily="34" charset="0"/>
                <a:cs typeface="Arial" panose="020B0604020202020204" pitchFamily="34" charset="0"/>
              </a:rPr>
              <a:t> disminuyen a medida que aumenta R, mientras que las pérdidas de propagación aumentan, aunque las pérdidas totales se mantienen dentro del rango considerado seguro. Este comportamiento se debe a que, al incrementarse R, la guía se aproxima progresivamente a una guía recta.</a:t>
            </a:r>
          </a:p>
          <a:p>
            <a:endParaRPr lang="es-ES" sz="1200" dirty="0">
              <a:latin typeface="Arial" panose="020B0604020202020204" pitchFamily="34" charset="0"/>
              <a:cs typeface="Arial" panose="020B0604020202020204" pitchFamily="34" charset="0"/>
            </a:endParaRPr>
          </a:p>
          <a:p>
            <a:r>
              <a:rPr lang="es-ES" sz="1200" dirty="0">
                <a:latin typeface="Arial" panose="020B0604020202020204" pitchFamily="34" charset="0"/>
                <a:cs typeface="Arial" panose="020B0604020202020204" pitchFamily="34" charset="0"/>
              </a:rPr>
              <a:t>Por esta misma razón, al aumentar R, el índice efectivo tiende a 1.605, que es el valor correspondiente al de la guía recta.</a:t>
            </a:r>
          </a:p>
        </p:txBody>
      </p:sp>
      <p:sp>
        <p:nvSpPr>
          <p:cNvPr id="7" name="Rectángulo 6">
            <a:extLst>
              <a:ext uri="{FF2B5EF4-FFF2-40B4-BE49-F238E27FC236}">
                <a16:creationId xmlns:a16="http://schemas.microsoft.com/office/drawing/2014/main" id="{B5FE8755-B0BF-14B7-64E6-4BBB2560B9A6}"/>
              </a:ext>
            </a:extLst>
          </p:cNvPr>
          <p:cNvSpPr/>
          <p:nvPr/>
        </p:nvSpPr>
        <p:spPr>
          <a:xfrm>
            <a:off x="609441" y="1418373"/>
            <a:ext cx="5484812"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Imagen 8">
            <a:extLst>
              <a:ext uri="{FF2B5EF4-FFF2-40B4-BE49-F238E27FC236}">
                <a16:creationId xmlns:a16="http://schemas.microsoft.com/office/drawing/2014/main" id="{F8D6361A-60D6-D762-4EEC-7D641561139F}"/>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370647" y="1538730"/>
            <a:ext cx="3962400" cy="3130020"/>
          </a:xfrm>
          <a:prstGeom prst="rect">
            <a:avLst/>
          </a:prstGeom>
        </p:spPr>
      </p:pic>
      <p:pic>
        <p:nvPicPr>
          <p:cNvPr id="11" name="Imagen 10">
            <a:extLst>
              <a:ext uri="{FF2B5EF4-FFF2-40B4-BE49-F238E27FC236}">
                <a16:creationId xmlns:a16="http://schemas.microsoft.com/office/drawing/2014/main" id="{E06F18D7-4C12-4E46-4877-EE4E7B6B5983}"/>
              </a:ext>
            </a:extLst>
          </p:cNvPr>
          <p:cNvPicPr>
            <a:picLocks noChangeAspect="1"/>
          </p:cNvPicPr>
          <p:nvPr/>
        </p:nvPicPr>
        <p:blipFill>
          <a:blip r:embed="rId6"/>
          <a:stretch>
            <a:fillRect/>
          </a:stretch>
        </p:blipFill>
        <p:spPr>
          <a:xfrm>
            <a:off x="7084512" y="1582601"/>
            <a:ext cx="3964990" cy="3042277"/>
          </a:xfrm>
          <a:prstGeom prst="rect">
            <a:avLst/>
          </a:prstGeom>
        </p:spPr>
      </p:pic>
      <p:sp>
        <p:nvSpPr>
          <p:cNvPr id="6" name="Rectángulo 5">
            <a:extLst>
              <a:ext uri="{FF2B5EF4-FFF2-40B4-BE49-F238E27FC236}">
                <a16:creationId xmlns:a16="http://schemas.microsoft.com/office/drawing/2014/main" id="{3648DE4D-6003-93D7-5F17-295114C242BF}"/>
              </a:ext>
            </a:extLst>
          </p:cNvPr>
          <p:cNvSpPr/>
          <p:nvPr/>
        </p:nvSpPr>
        <p:spPr>
          <a:xfrm>
            <a:off x="6324601" y="1418373"/>
            <a:ext cx="5484812"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604382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D6BBC3-5145-4705-5F65-216325E77B3E}"/>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BC15E1E5-7A56-2995-4D67-273F419F1269}"/>
              </a:ext>
            </a:extLst>
          </p:cNvPr>
          <p:cNvSpPr txBox="1">
            <a:spLocks noGrp="1"/>
          </p:cNvSpPr>
          <p:nvPr>
            <p:ph type="title"/>
          </p:nvPr>
        </p:nvSpPr>
        <p:spPr>
          <a:xfrm>
            <a:off x="685800" y="408883"/>
            <a:ext cx="10994410" cy="2398092"/>
          </a:xfrm>
          <a:prstGeom prst="rect">
            <a:avLst/>
          </a:prstGeom>
        </p:spPr>
        <p:txBody>
          <a:bodyPr vert="horz" wrap="square" lIns="0" tIns="12700" rIns="0" bIns="0" rtlCol="0">
            <a:spAutoFit/>
          </a:bodyPr>
          <a:lstStyle/>
          <a:p>
            <a:pPr marL="12700">
              <a:spcBef>
                <a:spcPts val="100"/>
              </a:spcBef>
            </a:pPr>
            <a:r>
              <a:rPr lang="en-US" sz="2500" dirty="0"/>
              <a:t># EXTRA.1 - Wavelength behavior</a:t>
            </a:r>
            <a:br>
              <a:rPr lang="en-US" sz="2500" dirty="0"/>
            </a:br>
            <a:r>
              <a:rPr lang="en-US" b="0" dirty="0"/>
              <a:t>Now, Simulate the Silicon-On-Insulator technology changing the core material to Silicon (Si). In this case, the dimensions will be 220 nm </a:t>
            </a:r>
            <a:r>
              <a:rPr lang="en-US" b="0" dirty="0" err="1"/>
              <a:t>heigth</a:t>
            </a:r>
            <a:r>
              <a:rPr lang="en-US" b="0" dirty="0"/>
              <a:t> and 500 nm width. </a:t>
            </a:r>
            <a:br>
              <a:rPr lang="en-US" b="0" dirty="0"/>
            </a:br>
            <a:r>
              <a:rPr lang="en-US" dirty="0"/>
              <a:t>1. </a:t>
            </a:r>
            <a:r>
              <a:rPr lang="en-US" b="0" dirty="0"/>
              <a:t>Repeat the LO.2. wavelength behavior simulations, considering the updated materials and dimensions. </a:t>
            </a:r>
            <a:br>
              <a:rPr lang="en-US" b="0" dirty="0"/>
            </a:br>
            <a:br>
              <a:rPr lang="en-US" b="0" dirty="0"/>
            </a:br>
            <a:br>
              <a:rPr lang="en-US" sz="2500" dirty="0"/>
            </a:br>
            <a:endParaRPr lang="en-US" sz="2500" b="0" dirty="0">
              <a:latin typeface="+mj-lt"/>
              <a:cs typeface="Lucida Sans"/>
            </a:endParaRPr>
          </a:p>
        </p:txBody>
      </p:sp>
      <p:pic>
        <p:nvPicPr>
          <p:cNvPr id="83" name="Gráfico 82">
            <a:extLst>
              <a:ext uri="{FF2B5EF4-FFF2-40B4-BE49-F238E27FC236}">
                <a16:creationId xmlns:a16="http://schemas.microsoft.com/office/drawing/2014/main" id="{3402F5B0-BE89-6EC8-DE18-8C9902A6259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ABED5594-721A-740B-E9D0-284907D21043}"/>
              </a:ext>
            </a:extLst>
          </p:cNvPr>
          <p:cNvSpPr>
            <a:spLocks noGrp="1"/>
          </p:cNvSpPr>
          <p:nvPr>
            <p:ph type="sldNum" sz="quarter" idx="7"/>
          </p:nvPr>
        </p:nvSpPr>
        <p:spPr/>
        <p:txBody>
          <a:bodyPr/>
          <a:lstStyle/>
          <a:p>
            <a:fld id="{B6F15528-21DE-4FAA-801E-634DDDAF4B2B}" type="slidenum">
              <a:rPr lang="es-ES" smtClean="0"/>
              <a:t>10</a:t>
            </a:fld>
            <a:endParaRPr lang="es-ES"/>
          </a:p>
        </p:txBody>
      </p:sp>
      <p:sp>
        <p:nvSpPr>
          <p:cNvPr id="3" name="Marcador de pie de página 2">
            <a:extLst>
              <a:ext uri="{FF2B5EF4-FFF2-40B4-BE49-F238E27FC236}">
                <a16:creationId xmlns:a16="http://schemas.microsoft.com/office/drawing/2014/main" id="{E2C3C16A-8F1C-075F-485A-4A291213F56E}"/>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2" name="CuadroTexto 1">
            <a:extLst>
              <a:ext uri="{FF2B5EF4-FFF2-40B4-BE49-F238E27FC236}">
                <a16:creationId xmlns:a16="http://schemas.microsoft.com/office/drawing/2014/main" id="{4F885DF2-D695-6C6F-F4F1-913A39EAE30C}"/>
              </a:ext>
            </a:extLst>
          </p:cNvPr>
          <p:cNvSpPr txBox="1"/>
          <p:nvPr/>
        </p:nvSpPr>
        <p:spPr>
          <a:xfrm>
            <a:off x="609441" y="4860334"/>
            <a:ext cx="11199971" cy="1015663"/>
          </a:xfrm>
          <a:prstGeom prst="rect">
            <a:avLst/>
          </a:prstGeom>
          <a:solidFill>
            <a:schemeClr val="bg1">
              <a:lumMod val="95000"/>
            </a:schemeClr>
          </a:solidFill>
          <a:ln w="28575">
            <a:solidFill>
              <a:srgbClr val="E0700D"/>
            </a:solidFill>
          </a:ln>
        </p:spPr>
        <p:txBody>
          <a:bodyPr wrap="square" rtlCol="0">
            <a:spAutoFit/>
          </a:bodyPr>
          <a:lstStyle/>
          <a:p>
            <a:pPr algn="just"/>
            <a:r>
              <a:rPr lang="es-ES" sz="1200" dirty="0">
                <a:latin typeface="Arial" panose="020B0604020202020204" pitchFamily="34" charset="0"/>
                <a:cs typeface="Arial" panose="020B0604020202020204" pitchFamily="34" charset="0"/>
              </a:rPr>
              <a:t>Se observa un comportamiento similar al simulado en el apartado LO.2.</a:t>
            </a:r>
          </a:p>
          <a:p>
            <a:pPr algn="just"/>
            <a:endParaRPr lang="es-ES" sz="1200" dirty="0">
              <a:latin typeface="Arial" panose="020B0604020202020204" pitchFamily="34" charset="0"/>
              <a:cs typeface="Arial" panose="020B0604020202020204" pitchFamily="34" charset="0"/>
            </a:endParaRPr>
          </a:p>
          <a:p>
            <a:pPr algn="just"/>
            <a:r>
              <a:rPr lang="es-ES" sz="1200" dirty="0">
                <a:latin typeface="Arial" panose="020B0604020202020204" pitchFamily="34" charset="0"/>
                <a:cs typeface="Arial" panose="020B0604020202020204" pitchFamily="34" charset="0"/>
              </a:rPr>
              <a:t>Teniendo esto en cuenta, se observa como la guía </a:t>
            </a:r>
            <a:r>
              <a:rPr lang="es-ES" sz="1200" dirty="0" err="1">
                <a:latin typeface="Arial" panose="020B0604020202020204" pitchFamily="34" charset="0"/>
                <a:cs typeface="Arial" panose="020B0604020202020204" pitchFamily="34" charset="0"/>
              </a:rPr>
              <a:t>Shallow</a:t>
            </a:r>
            <a:r>
              <a:rPr lang="es-ES" sz="1200" dirty="0">
                <a:latin typeface="Arial" panose="020B0604020202020204" pitchFamily="34" charset="0"/>
                <a:cs typeface="Arial" panose="020B0604020202020204" pitchFamily="34" charset="0"/>
              </a:rPr>
              <a:t> presenta un comportamiento multimodo, ya que permite la propagación de los modos guiados 0, 1, 2 y 3, que corresponden a los TE0, TE1, TE2 y TE3, respectivamente. Mientras que la guía Deep, soporta la propagación de los modos guiados 0, 1 y 2, que corresponden a los TE0, TM0 y TE1, lo que indica que se comporta como multimodo, quedando el modo 3 como no guiado porque se propaga por la cubierta.</a:t>
            </a:r>
            <a:endParaRPr lang="en-US" sz="1200" dirty="0">
              <a:latin typeface="Arial" panose="020B0604020202020204" pitchFamily="34" charset="0"/>
              <a:cs typeface="Arial" panose="020B0604020202020204" pitchFamily="34" charset="0"/>
            </a:endParaRPr>
          </a:p>
        </p:txBody>
      </p:sp>
      <p:sp>
        <p:nvSpPr>
          <p:cNvPr id="4" name="Rectángulo 3">
            <a:extLst>
              <a:ext uri="{FF2B5EF4-FFF2-40B4-BE49-F238E27FC236}">
                <a16:creationId xmlns:a16="http://schemas.microsoft.com/office/drawing/2014/main" id="{2993ADF6-D21D-2668-6DDA-58105166CF68}"/>
              </a:ext>
            </a:extLst>
          </p:cNvPr>
          <p:cNvSpPr/>
          <p:nvPr/>
        </p:nvSpPr>
        <p:spPr>
          <a:xfrm>
            <a:off x="609441" y="1752600"/>
            <a:ext cx="5332571" cy="287020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ángulo 4">
            <a:extLst>
              <a:ext uri="{FF2B5EF4-FFF2-40B4-BE49-F238E27FC236}">
                <a16:creationId xmlns:a16="http://schemas.microsoft.com/office/drawing/2014/main" id="{BEF898AD-9255-52C1-491D-0B1979BEB031}"/>
              </a:ext>
            </a:extLst>
          </p:cNvPr>
          <p:cNvSpPr/>
          <p:nvPr/>
        </p:nvSpPr>
        <p:spPr>
          <a:xfrm>
            <a:off x="6476841" y="1752600"/>
            <a:ext cx="5332571" cy="287020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Imagen 13">
            <a:extLst>
              <a:ext uri="{FF2B5EF4-FFF2-40B4-BE49-F238E27FC236}">
                <a16:creationId xmlns:a16="http://schemas.microsoft.com/office/drawing/2014/main" id="{EC53BC5F-BC37-D980-85A8-6605193EB660}"/>
              </a:ext>
            </a:extLst>
          </p:cNvPr>
          <p:cNvPicPr>
            <a:picLocks noChangeAspect="1"/>
          </p:cNvPicPr>
          <p:nvPr/>
        </p:nvPicPr>
        <p:blipFill>
          <a:blip r:embed="rId5"/>
          <a:stretch>
            <a:fillRect/>
          </a:stretch>
        </p:blipFill>
        <p:spPr>
          <a:xfrm>
            <a:off x="1213329" y="1846948"/>
            <a:ext cx="4659415" cy="2717992"/>
          </a:xfrm>
          <a:prstGeom prst="rect">
            <a:avLst/>
          </a:prstGeom>
        </p:spPr>
      </p:pic>
      <p:sp>
        <p:nvSpPr>
          <p:cNvPr id="12" name="CuadroTexto 11">
            <a:extLst>
              <a:ext uri="{FF2B5EF4-FFF2-40B4-BE49-F238E27FC236}">
                <a16:creationId xmlns:a16="http://schemas.microsoft.com/office/drawing/2014/main" id="{7CFC0A78-BE03-5EC6-463D-56F6288FB880}"/>
              </a:ext>
            </a:extLst>
          </p:cNvPr>
          <p:cNvSpPr txBox="1"/>
          <p:nvPr/>
        </p:nvSpPr>
        <p:spPr>
          <a:xfrm>
            <a:off x="665927" y="4277043"/>
            <a:ext cx="2269787" cy="338554"/>
          </a:xfrm>
          <a:prstGeom prst="rect">
            <a:avLst/>
          </a:prstGeom>
          <a:noFill/>
        </p:spPr>
        <p:txBody>
          <a:bodyPr wrap="square">
            <a:spAutoFit/>
          </a:bodyPr>
          <a:lstStyle/>
          <a:p>
            <a:r>
              <a:rPr lang="en-US" sz="1600" dirty="0"/>
              <a:t>slab = 150nm</a:t>
            </a:r>
            <a:endParaRPr lang="es-ES" sz="1600" dirty="0"/>
          </a:p>
        </p:txBody>
      </p:sp>
      <p:pic>
        <p:nvPicPr>
          <p:cNvPr id="17" name="Imagen 16">
            <a:extLst>
              <a:ext uri="{FF2B5EF4-FFF2-40B4-BE49-F238E27FC236}">
                <a16:creationId xmlns:a16="http://schemas.microsoft.com/office/drawing/2014/main" id="{7FAAAA22-83B2-4C31-47B6-D917F1DCDBB2}"/>
              </a:ext>
            </a:extLst>
          </p:cNvPr>
          <p:cNvPicPr>
            <a:picLocks noChangeAspect="1"/>
          </p:cNvPicPr>
          <p:nvPr/>
        </p:nvPicPr>
        <p:blipFill>
          <a:blip r:embed="rId6"/>
          <a:stretch>
            <a:fillRect/>
          </a:stretch>
        </p:blipFill>
        <p:spPr>
          <a:xfrm>
            <a:off x="6882881" y="1846948"/>
            <a:ext cx="4520490" cy="2636952"/>
          </a:xfrm>
          <a:prstGeom prst="rect">
            <a:avLst/>
          </a:prstGeom>
        </p:spPr>
      </p:pic>
    </p:spTree>
    <p:extLst>
      <p:ext uri="{BB962C8B-B14F-4D97-AF65-F5344CB8AC3E}">
        <p14:creationId xmlns:p14="http://schemas.microsoft.com/office/powerpoint/2010/main" val="36263644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C43A31-2DA9-8AED-9052-D527F9CE58F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7F8C5194-75E5-7874-4FFE-C6C0FC4070AC}"/>
              </a:ext>
            </a:extLst>
          </p:cNvPr>
          <p:cNvSpPr txBox="1">
            <a:spLocks noGrp="1"/>
          </p:cNvSpPr>
          <p:nvPr>
            <p:ph type="title"/>
          </p:nvPr>
        </p:nvSpPr>
        <p:spPr>
          <a:xfrm>
            <a:off x="685800" y="408883"/>
            <a:ext cx="10994410" cy="1782539"/>
          </a:xfrm>
          <a:prstGeom prst="rect">
            <a:avLst/>
          </a:prstGeom>
        </p:spPr>
        <p:txBody>
          <a:bodyPr vert="horz" wrap="square" lIns="0" tIns="12700" rIns="0" bIns="0" rtlCol="0">
            <a:spAutoFit/>
          </a:bodyPr>
          <a:lstStyle/>
          <a:p>
            <a:pPr marL="12700">
              <a:spcBef>
                <a:spcPts val="100"/>
              </a:spcBef>
            </a:pPr>
            <a:r>
              <a:rPr lang="en-US" sz="2500" dirty="0"/>
              <a:t># EXTRA.2 - Width dependence</a:t>
            </a:r>
            <a:br>
              <a:rPr lang="en-US" sz="2500" dirty="0"/>
            </a:br>
            <a:r>
              <a:rPr lang="en-US" dirty="0"/>
              <a:t>2.</a:t>
            </a:r>
            <a:r>
              <a:rPr lang="en-US" b="0" dirty="0"/>
              <a:t> Repeat the LO.3. width dependence analysis, now sweeping in a 300nm - 1um range. </a:t>
            </a:r>
            <a:br>
              <a:rPr lang="en-US" b="0" dirty="0"/>
            </a:br>
            <a:br>
              <a:rPr lang="en-US" b="0" dirty="0"/>
            </a:br>
            <a:br>
              <a:rPr lang="en-US" sz="2500" dirty="0"/>
            </a:br>
            <a:endParaRPr lang="en-US" sz="2500" b="0" dirty="0">
              <a:latin typeface="+mj-lt"/>
              <a:cs typeface="Lucida Sans"/>
            </a:endParaRPr>
          </a:p>
        </p:txBody>
      </p:sp>
      <p:pic>
        <p:nvPicPr>
          <p:cNvPr id="83" name="Gráfico 82">
            <a:extLst>
              <a:ext uri="{FF2B5EF4-FFF2-40B4-BE49-F238E27FC236}">
                <a16:creationId xmlns:a16="http://schemas.microsoft.com/office/drawing/2014/main" id="{37174BD2-88A1-56BC-6299-366D2C911E3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ECA7CA9E-67A5-1004-15C0-E24A5FCE8CD4}"/>
              </a:ext>
            </a:extLst>
          </p:cNvPr>
          <p:cNvSpPr>
            <a:spLocks noGrp="1"/>
          </p:cNvSpPr>
          <p:nvPr>
            <p:ph type="sldNum" sz="quarter" idx="7"/>
          </p:nvPr>
        </p:nvSpPr>
        <p:spPr/>
        <p:txBody>
          <a:bodyPr/>
          <a:lstStyle/>
          <a:p>
            <a:fld id="{B6F15528-21DE-4FAA-801E-634DDDAF4B2B}" type="slidenum">
              <a:rPr lang="es-ES" smtClean="0"/>
              <a:t>11</a:t>
            </a:fld>
            <a:endParaRPr lang="es-ES"/>
          </a:p>
        </p:txBody>
      </p:sp>
      <p:sp>
        <p:nvSpPr>
          <p:cNvPr id="3" name="Marcador de pie de página 2">
            <a:extLst>
              <a:ext uri="{FF2B5EF4-FFF2-40B4-BE49-F238E27FC236}">
                <a16:creationId xmlns:a16="http://schemas.microsoft.com/office/drawing/2014/main" id="{3BB2435A-FA03-213C-050A-106A34FB237F}"/>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2" name="CuadroTexto 1">
            <a:extLst>
              <a:ext uri="{FF2B5EF4-FFF2-40B4-BE49-F238E27FC236}">
                <a16:creationId xmlns:a16="http://schemas.microsoft.com/office/drawing/2014/main" id="{6A2291EA-A955-D9A9-3AA1-672467A8E219}"/>
              </a:ext>
            </a:extLst>
          </p:cNvPr>
          <p:cNvSpPr txBox="1"/>
          <p:nvPr/>
        </p:nvSpPr>
        <p:spPr>
          <a:xfrm>
            <a:off x="615192" y="4733532"/>
            <a:ext cx="11199971" cy="1569660"/>
          </a:xfrm>
          <a:prstGeom prst="rect">
            <a:avLst/>
          </a:prstGeom>
          <a:solidFill>
            <a:schemeClr val="bg1">
              <a:lumMod val="95000"/>
            </a:schemeClr>
          </a:solidFill>
          <a:ln w="28575">
            <a:solidFill>
              <a:srgbClr val="E0700D"/>
            </a:solidFill>
          </a:ln>
        </p:spPr>
        <p:txBody>
          <a:bodyPr wrap="square" rtlCol="0">
            <a:spAutoFit/>
          </a:bodyPr>
          <a:lstStyle/>
          <a:p>
            <a:r>
              <a:rPr lang="es-ES" sz="1200" dirty="0">
                <a:latin typeface="Arial" panose="020B0604020202020204" pitchFamily="34" charset="0"/>
                <a:cs typeface="Arial" panose="020B0604020202020204" pitchFamily="34" charset="0"/>
              </a:rPr>
              <a:t>Se observa un comportamiento similar al simulado en el apartado LO.3.</a:t>
            </a:r>
          </a:p>
          <a:p>
            <a:endParaRPr lang="es-ES" sz="1200" dirty="0">
              <a:latin typeface="Arial" panose="020B0604020202020204" pitchFamily="34" charset="0"/>
              <a:cs typeface="Arial" panose="020B0604020202020204" pitchFamily="34" charset="0"/>
            </a:endParaRPr>
          </a:p>
          <a:p>
            <a:r>
              <a:rPr lang="es-ES" sz="1200" dirty="0">
                <a:latin typeface="Arial" panose="020B0604020202020204" pitchFamily="34" charset="0"/>
                <a:cs typeface="Arial" panose="020B0604020202020204" pitchFamily="34" charset="0"/>
              </a:rPr>
              <a:t>En este caso, para anchuras inferiores a 0.45 </a:t>
            </a:r>
            <a:r>
              <a:rPr lang="es-ES" sz="1200" dirty="0" err="1">
                <a:latin typeface="Arial" panose="020B0604020202020204" pitchFamily="34" charset="0"/>
                <a:cs typeface="Arial" panose="020B0604020202020204" pitchFamily="34" charset="0"/>
              </a:rPr>
              <a:t>um</a:t>
            </a:r>
            <a:r>
              <a:rPr lang="es-ES" sz="1200" dirty="0">
                <a:latin typeface="Arial" panose="020B0604020202020204" pitchFamily="34" charset="0"/>
                <a:cs typeface="Arial" panose="020B0604020202020204" pitchFamily="34" charset="0"/>
              </a:rPr>
              <a:t> la guía es monomodo, ya que únicamente se propagan los modos TE0 y TM0. A partir de este valor, la guía pasa a ser multimodo, comenzando a propagarse el modo TE1.</a:t>
            </a:r>
          </a:p>
          <a:p>
            <a:endParaRPr lang="es-ES" sz="1200" dirty="0">
              <a:latin typeface="Arial" panose="020B0604020202020204" pitchFamily="34" charset="0"/>
              <a:cs typeface="Arial" panose="020B0604020202020204" pitchFamily="34" charset="0"/>
            </a:endParaRPr>
          </a:p>
          <a:p>
            <a:r>
              <a:rPr lang="es-ES" sz="1200" dirty="0">
                <a:latin typeface="Arial" panose="020B0604020202020204" pitchFamily="34" charset="0"/>
                <a:cs typeface="Arial" panose="020B0604020202020204" pitchFamily="34" charset="0"/>
              </a:rPr>
              <a:t>Cuando la anchura supera 0.6 </a:t>
            </a:r>
            <a:r>
              <a:rPr lang="es-ES" sz="1200" dirty="0" err="1">
                <a:latin typeface="Arial" panose="020B0604020202020204" pitchFamily="34" charset="0"/>
                <a:cs typeface="Arial" panose="020B0604020202020204" pitchFamily="34" charset="0"/>
              </a:rPr>
              <a:t>um</a:t>
            </a:r>
            <a:r>
              <a:rPr lang="es-ES" sz="1200" dirty="0">
                <a:latin typeface="Arial" panose="020B0604020202020204" pitchFamily="34" charset="0"/>
                <a:cs typeface="Arial" panose="020B0604020202020204" pitchFamily="34" charset="0"/>
              </a:rPr>
              <a:t>, aparece también el modo TM1. Además, a partir de 0.9 </a:t>
            </a:r>
            <a:r>
              <a:rPr lang="es-ES" sz="1200" dirty="0" err="1">
                <a:latin typeface="Arial" panose="020B0604020202020204" pitchFamily="34" charset="0"/>
                <a:cs typeface="Arial" panose="020B0604020202020204" pitchFamily="34" charset="0"/>
              </a:rPr>
              <a:t>um</a:t>
            </a:r>
            <a:r>
              <a:rPr lang="es-ES" sz="1200" dirty="0">
                <a:latin typeface="Arial" panose="020B0604020202020204" pitchFamily="34" charset="0"/>
                <a:cs typeface="Arial" panose="020B0604020202020204" pitchFamily="34" charset="0"/>
              </a:rPr>
              <a:t> se observa el modo TE2. Esto ocurre porque el índice efectivo del modo TE2 empieza a tener un valor mayor que TM1 y debido a que el número de modos que se muestran está limitado a cuatro, el TM1 deja de visualizarse y en su lugar aparece el TE2.</a:t>
            </a:r>
          </a:p>
        </p:txBody>
      </p:sp>
      <p:sp>
        <p:nvSpPr>
          <p:cNvPr id="5" name="Rectángulo 4">
            <a:extLst>
              <a:ext uri="{FF2B5EF4-FFF2-40B4-BE49-F238E27FC236}">
                <a16:creationId xmlns:a16="http://schemas.microsoft.com/office/drawing/2014/main" id="{99C7BC53-FCEA-315B-8AAF-9470C09E243B}"/>
              </a:ext>
            </a:extLst>
          </p:cNvPr>
          <p:cNvSpPr/>
          <p:nvPr/>
        </p:nvSpPr>
        <p:spPr>
          <a:xfrm>
            <a:off x="609441" y="1219200"/>
            <a:ext cx="11199971" cy="340360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Imagen 5">
            <a:extLst>
              <a:ext uri="{FF2B5EF4-FFF2-40B4-BE49-F238E27FC236}">
                <a16:creationId xmlns:a16="http://schemas.microsoft.com/office/drawing/2014/main" id="{61B0329E-6D40-5235-A888-35A3376E9B5D}"/>
              </a:ext>
            </a:extLst>
          </p:cNvPr>
          <p:cNvPicPr>
            <a:picLocks noChangeAspect="1"/>
          </p:cNvPicPr>
          <p:nvPr/>
        </p:nvPicPr>
        <p:blipFill>
          <a:blip r:embed="rId5"/>
          <a:stretch>
            <a:fillRect/>
          </a:stretch>
        </p:blipFill>
        <p:spPr>
          <a:xfrm>
            <a:off x="3442163" y="1309891"/>
            <a:ext cx="5535099" cy="3222218"/>
          </a:xfrm>
          <a:prstGeom prst="rect">
            <a:avLst/>
          </a:prstGeom>
        </p:spPr>
      </p:pic>
    </p:spTree>
    <p:extLst>
      <p:ext uri="{BB962C8B-B14F-4D97-AF65-F5344CB8AC3E}">
        <p14:creationId xmlns:p14="http://schemas.microsoft.com/office/powerpoint/2010/main" val="8942381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3BB253-D366-6AC7-6EC6-3467BBA4AC59}"/>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B5EACF51-6C0D-AAF0-97A2-1D61E1878E7C}"/>
              </a:ext>
            </a:extLst>
          </p:cNvPr>
          <p:cNvSpPr txBox="1">
            <a:spLocks noGrp="1"/>
          </p:cNvSpPr>
          <p:nvPr>
            <p:ph type="title"/>
          </p:nvPr>
        </p:nvSpPr>
        <p:spPr>
          <a:xfrm>
            <a:off x="685800" y="408883"/>
            <a:ext cx="10994410" cy="1090042"/>
          </a:xfrm>
          <a:prstGeom prst="rect">
            <a:avLst/>
          </a:prstGeom>
        </p:spPr>
        <p:txBody>
          <a:bodyPr vert="horz" wrap="square" lIns="0" tIns="12700" rIns="0" bIns="0" rtlCol="0">
            <a:spAutoFit/>
          </a:bodyPr>
          <a:lstStyle/>
          <a:p>
            <a:pPr marL="12700">
              <a:spcBef>
                <a:spcPts val="100"/>
              </a:spcBef>
            </a:pPr>
            <a:r>
              <a:rPr lang="en-US" sz="2500" dirty="0"/>
              <a:t># EXTRA.3 - Bend waveguide radius </a:t>
            </a:r>
            <a:br>
              <a:rPr lang="en-US" sz="2500" dirty="0"/>
            </a:br>
            <a:r>
              <a:rPr lang="en-US" dirty="0"/>
              <a:t>3. </a:t>
            </a:r>
            <a:r>
              <a:rPr lang="en-US" b="0" dirty="0"/>
              <a:t>Find the safe radius for this technology. Consider sweeping the radius in a 5um to 30um range. </a:t>
            </a:r>
            <a:br>
              <a:rPr lang="en-US" sz="2500" dirty="0"/>
            </a:br>
            <a:endParaRPr lang="en-US" sz="2500" b="0" dirty="0">
              <a:latin typeface="+mj-lt"/>
              <a:cs typeface="Lucida Sans"/>
            </a:endParaRPr>
          </a:p>
        </p:txBody>
      </p:sp>
      <p:pic>
        <p:nvPicPr>
          <p:cNvPr id="83" name="Gráfico 82">
            <a:extLst>
              <a:ext uri="{FF2B5EF4-FFF2-40B4-BE49-F238E27FC236}">
                <a16:creationId xmlns:a16="http://schemas.microsoft.com/office/drawing/2014/main" id="{44F58A6F-E893-C84B-50ED-50E27C4DC67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A6D0AC85-066A-E825-DB4B-6104E5DCF634}"/>
              </a:ext>
            </a:extLst>
          </p:cNvPr>
          <p:cNvSpPr>
            <a:spLocks noGrp="1"/>
          </p:cNvSpPr>
          <p:nvPr>
            <p:ph type="sldNum" sz="quarter" idx="7"/>
          </p:nvPr>
        </p:nvSpPr>
        <p:spPr/>
        <p:txBody>
          <a:bodyPr/>
          <a:lstStyle/>
          <a:p>
            <a:fld id="{B6F15528-21DE-4FAA-801E-634DDDAF4B2B}" type="slidenum">
              <a:rPr lang="es-ES" smtClean="0"/>
              <a:t>12</a:t>
            </a:fld>
            <a:endParaRPr lang="es-ES"/>
          </a:p>
        </p:txBody>
      </p:sp>
      <p:sp>
        <p:nvSpPr>
          <p:cNvPr id="3" name="Marcador de pie de página 2">
            <a:extLst>
              <a:ext uri="{FF2B5EF4-FFF2-40B4-BE49-F238E27FC236}">
                <a16:creationId xmlns:a16="http://schemas.microsoft.com/office/drawing/2014/main" id="{0C5A2601-310F-D2C2-25AE-E7A5F5E9E555}"/>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2" name="CuadroTexto 1">
            <a:extLst>
              <a:ext uri="{FF2B5EF4-FFF2-40B4-BE49-F238E27FC236}">
                <a16:creationId xmlns:a16="http://schemas.microsoft.com/office/drawing/2014/main" id="{02DCB6B3-3A3C-1858-E0E7-10CB3195D67C}"/>
              </a:ext>
            </a:extLst>
          </p:cNvPr>
          <p:cNvSpPr txBox="1"/>
          <p:nvPr/>
        </p:nvSpPr>
        <p:spPr>
          <a:xfrm>
            <a:off x="609441" y="4860334"/>
            <a:ext cx="11199971" cy="1015663"/>
          </a:xfrm>
          <a:prstGeom prst="rect">
            <a:avLst/>
          </a:prstGeom>
          <a:solidFill>
            <a:schemeClr val="bg1">
              <a:lumMod val="95000"/>
            </a:schemeClr>
          </a:solidFill>
          <a:ln w="28575">
            <a:solidFill>
              <a:srgbClr val="E0700D"/>
            </a:solidFill>
          </a:ln>
        </p:spPr>
        <p:txBody>
          <a:bodyPr wrap="square" rtlCol="0">
            <a:spAutoFit/>
          </a:bodyPr>
          <a:lstStyle/>
          <a:p>
            <a:r>
              <a:rPr lang="es-ES" sz="1200" dirty="0">
                <a:latin typeface="Arial" panose="020B0604020202020204" pitchFamily="34" charset="0"/>
                <a:cs typeface="Arial" panose="020B0604020202020204" pitchFamily="34" charset="0"/>
              </a:rPr>
              <a:t>En este caso, al realizar un barrido del radio de curvatura (R) entre 5 </a:t>
            </a:r>
            <a:r>
              <a:rPr lang="es-ES" sz="1200" dirty="0" err="1">
                <a:latin typeface="Arial" panose="020B0604020202020204" pitchFamily="34" charset="0"/>
                <a:cs typeface="Arial" panose="020B0604020202020204" pitchFamily="34" charset="0"/>
              </a:rPr>
              <a:t>um</a:t>
            </a:r>
            <a:r>
              <a:rPr lang="es-ES" sz="1200" dirty="0">
                <a:latin typeface="Arial" panose="020B0604020202020204" pitchFamily="34" charset="0"/>
                <a:cs typeface="Arial" panose="020B0604020202020204" pitchFamily="34" charset="0"/>
              </a:rPr>
              <a:t> y 30 </a:t>
            </a:r>
            <a:r>
              <a:rPr lang="es-ES" sz="1200" dirty="0" err="1">
                <a:latin typeface="Arial" panose="020B0604020202020204" pitchFamily="34" charset="0"/>
                <a:cs typeface="Arial" panose="020B0604020202020204" pitchFamily="34" charset="0"/>
              </a:rPr>
              <a:t>um</a:t>
            </a:r>
            <a:r>
              <a:rPr lang="es-ES" sz="1200" dirty="0">
                <a:latin typeface="Arial" panose="020B0604020202020204" pitchFamily="34" charset="0"/>
                <a:cs typeface="Arial" panose="020B0604020202020204" pitchFamily="34" charset="0"/>
              </a:rPr>
              <a:t>, no se observan pérdidas totales superiores a 0.1 dB/90°, por lo que se puede considerar un radio seguro a partir de 5 </a:t>
            </a:r>
            <a:r>
              <a:rPr lang="es-ES" sz="1200" dirty="0" err="1">
                <a:latin typeface="Arial" panose="020B0604020202020204" pitchFamily="34" charset="0"/>
                <a:cs typeface="Arial" panose="020B0604020202020204" pitchFamily="34" charset="0"/>
              </a:rPr>
              <a:t>um</a:t>
            </a:r>
            <a:r>
              <a:rPr lang="es-ES" sz="1200" dirty="0">
                <a:latin typeface="Arial" panose="020B0604020202020204" pitchFamily="34" charset="0"/>
                <a:cs typeface="Arial" panose="020B0604020202020204" pitchFamily="34" charset="0"/>
              </a:rPr>
              <a:t>.</a:t>
            </a:r>
          </a:p>
          <a:p>
            <a:endParaRPr lang="es-ES" sz="1200" dirty="0">
              <a:latin typeface="Arial" panose="020B0604020202020204" pitchFamily="34" charset="0"/>
              <a:cs typeface="Arial" panose="020B0604020202020204" pitchFamily="34" charset="0"/>
            </a:endParaRPr>
          </a:p>
          <a:p>
            <a:r>
              <a:rPr lang="es-ES" sz="1200" dirty="0">
                <a:latin typeface="Arial" panose="020B0604020202020204" pitchFamily="34" charset="0"/>
                <a:cs typeface="Arial" panose="020B0604020202020204" pitchFamily="34" charset="0"/>
              </a:rPr>
              <a:t>En cuanto al índice efectivo, este tiende a 2.511 a medida que aumenta R, valor correspondiente al de la guía recta, ya que la guía a medida que se aumenta R se aproxima progresivamente a esta.</a:t>
            </a:r>
            <a:endParaRPr lang="en-US" sz="1200" dirty="0">
              <a:latin typeface="Arial" panose="020B0604020202020204" pitchFamily="34" charset="0"/>
              <a:cs typeface="Arial" panose="020B0604020202020204" pitchFamily="34" charset="0"/>
            </a:endParaRPr>
          </a:p>
        </p:txBody>
      </p:sp>
      <p:pic>
        <p:nvPicPr>
          <p:cNvPr id="5" name="Imagen 4">
            <a:extLst>
              <a:ext uri="{FF2B5EF4-FFF2-40B4-BE49-F238E27FC236}">
                <a16:creationId xmlns:a16="http://schemas.microsoft.com/office/drawing/2014/main" id="{C9D037FD-73B4-43A9-F104-658A35532598}"/>
              </a:ext>
            </a:extLst>
          </p:cNvPr>
          <p:cNvPicPr>
            <a:picLocks noChangeAspect="1"/>
          </p:cNvPicPr>
          <p:nvPr/>
        </p:nvPicPr>
        <p:blipFill>
          <a:blip r:embed="rId5"/>
          <a:stretch>
            <a:fillRect/>
          </a:stretch>
        </p:blipFill>
        <p:spPr>
          <a:xfrm>
            <a:off x="1389697" y="1571670"/>
            <a:ext cx="3924300" cy="3057460"/>
          </a:xfrm>
          <a:prstGeom prst="rect">
            <a:avLst/>
          </a:prstGeom>
        </p:spPr>
      </p:pic>
      <p:pic>
        <p:nvPicPr>
          <p:cNvPr id="8" name="Imagen 7">
            <a:extLst>
              <a:ext uri="{FF2B5EF4-FFF2-40B4-BE49-F238E27FC236}">
                <a16:creationId xmlns:a16="http://schemas.microsoft.com/office/drawing/2014/main" id="{12023A00-8315-8679-AF53-7F0834878E82}"/>
              </a:ext>
            </a:extLst>
          </p:cNvPr>
          <p:cNvPicPr>
            <a:picLocks noChangeAspect="1"/>
          </p:cNvPicPr>
          <p:nvPr/>
        </p:nvPicPr>
        <p:blipFill>
          <a:blip r:embed="rId6"/>
          <a:stretch>
            <a:fillRect/>
          </a:stretch>
        </p:blipFill>
        <p:spPr>
          <a:xfrm>
            <a:off x="6969447" y="1520808"/>
            <a:ext cx="4195120" cy="3218852"/>
          </a:xfrm>
          <a:prstGeom prst="rect">
            <a:avLst/>
          </a:prstGeom>
        </p:spPr>
      </p:pic>
      <p:sp>
        <p:nvSpPr>
          <p:cNvPr id="9" name="Rectángulo 8">
            <a:extLst>
              <a:ext uri="{FF2B5EF4-FFF2-40B4-BE49-F238E27FC236}">
                <a16:creationId xmlns:a16="http://schemas.microsoft.com/office/drawing/2014/main" id="{BF1B392D-339F-B2E5-3746-0D3EC9259B0D}"/>
              </a:ext>
            </a:extLst>
          </p:cNvPr>
          <p:cNvSpPr/>
          <p:nvPr/>
        </p:nvSpPr>
        <p:spPr>
          <a:xfrm>
            <a:off x="609441" y="1418373"/>
            <a:ext cx="5484812"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ángulo 9">
            <a:extLst>
              <a:ext uri="{FF2B5EF4-FFF2-40B4-BE49-F238E27FC236}">
                <a16:creationId xmlns:a16="http://schemas.microsoft.com/office/drawing/2014/main" id="{23BA1AB5-759C-50A0-873A-DF0F65647685}"/>
              </a:ext>
            </a:extLst>
          </p:cNvPr>
          <p:cNvSpPr/>
          <p:nvPr/>
        </p:nvSpPr>
        <p:spPr>
          <a:xfrm>
            <a:off x="6324601" y="1418373"/>
            <a:ext cx="5484812"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904989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793372-9B7F-3F8B-66BA-A27873B241D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F5E49F78-BF77-6C19-547B-D0618B73E681}"/>
              </a:ext>
            </a:extLst>
          </p:cNvPr>
          <p:cNvSpPr txBox="1">
            <a:spLocks noGrp="1"/>
          </p:cNvSpPr>
          <p:nvPr>
            <p:ph type="title"/>
          </p:nvPr>
        </p:nvSpPr>
        <p:spPr>
          <a:xfrm>
            <a:off x="685800" y="408883"/>
            <a:ext cx="10994410" cy="1090042"/>
          </a:xfrm>
          <a:prstGeom prst="rect">
            <a:avLst/>
          </a:prstGeom>
        </p:spPr>
        <p:txBody>
          <a:bodyPr vert="horz" wrap="square" lIns="0" tIns="12700" rIns="0" bIns="0" rtlCol="0">
            <a:spAutoFit/>
          </a:bodyPr>
          <a:lstStyle/>
          <a:p>
            <a:pPr marL="12700">
              <a:spcBef>
                <a:spcPts val="100"/>
              </a:spcBef>
            </a:pPr>
            <a:r>
              <a:rPr lang="en-US" sz="2500" dirty="0"/>
              <a:t># EXTRA - Comparative</a:t>
            </a:r>
            <a:br>
              <a:rPr lang="en-US" sz="2500" dirty="0"/>
            </a:br>
            <a:r>
              <a:rPr lang="es-ES" dirty="0"/>
              <a:t>4. </a:t>
            </a:r>
            <a:r>
              <a:rPr lang="es-ES" b="0" dirty="0"/>
              <a:t>Compare </a:t>
            </a:r>
            <a:r>
              <a:rPr lang="es-ES" b="0" dirty="0" err="1"/>
              <a:t>the</a:t>
            </a:r>
            <a:r>
              <a:rPr lang="es-ES" b="0" dirty="0"/>
              <a:t> </a:t>
            </a:r>
            <a:r>
              <a:rPr lang="es-ES" b="0" dirty="0" err="1"/>
              <a:t>SiNx</a:t>
            </a:r>
            <a:r>
              <a:rPr lang="es-ES" b="0" dirty="0"/>
              <a:t> and SOI </a:t>
            </a:r>
            <a:r>
              <a:rPr lang="es-ES" b="0" dirty="0" err="1"/>
              <a:t>technologies</a:t>
            </a:r>
            <a:br>
              <a:rPr lang="es-ES" b="0" dirty="0"/>
            </a:br>
            <a:endParaRPr lang="en-US" sz="2500" b="0" dirty="0">
              <a:latin typeface="+mj-lt"/>
              <a:cs typeface="Lucida Sans"/>
            </a:endParaRPr>
          </a:p>
        </p:txBody>
      </p:sp>
      <p:pic>
        <p:nvPicPr>
          <p:cNvPr id="83" name="Gráfico 82">
            <a:extLst>
              <a:ext uri="{FF2B5EF4-FFF2-40B4-BE49-F238E27FC236}">
                <a16:creationId xmlns:a16="http://schemas.microsoft.com/office/drawing/2014/main" id="{8BF27F03-405A-B058-6A48-6D09BA87FA0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16C77210-3168-5AE1-488E-E190BB6C0E52}"/>
              </a:ext>
            </a:extLst>
          </p:cNvPr>
          <p:cNvSpPr>
            <a:spLocks noGrp="1"/>
          </p:cNvSpPr>
          <p:nvPr>
            <p:ph type="sldNum" sz="quarter" idx="7"/>
          </p:nvPr>
        </p:nvSpPr>
        <p:spPr/>
        <p:txBody>
          <a:bodyPr/>
          <a:lstStyle/>
          <a:p>
            <a:fld id="{B6F15528-21DE-4FAA-801E-634DDDAF4B2B}" type="slidenum">
              <a:rPr lang="es-ES" smtClean="0"/>
              <a:t>13</a:t>
            </a:fld>
            <a:endParaRPr lang="es-ES"/>
          </a:p>
        </p:txBody>
      </p:sp>
      <p:sp>
        <p:nvSpPr>
          <p:cNvPr id="3" name="Marcador de pie de página 2">
            <a:extLst>
              <a:ext uri="{FF2B5EF4-FFF2-40B4-BE49-F238E27FC236}">
                <a16:creationId xmlns:a16="http://schemas.microsoft.com/office/drawing/2014/main" id="{9BAA289B-80F5-66DC-E4D9-D509FB485DA7}"/>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2" name="CuadroTexto 1">
            <a:extLst>
              <a:ext uri="{FF2B5EF4-FFF2-40B4-BE49-F238E27FC236}">
                <a16:creationId xmlns:a16="http://schemas.microsoft.com/office/drawing/2014/main" id="{81E77402-20CB-B5B9-6221-36355FD8F679}"/>
              </a:ext>
            </a:extLst>
          </p:cNvPr>
          <p:cNvSpPr txBox="1"/>
          <p:nvPr/>
        </p:nvSpPr>
        <p:spPr>
          <a:xfrm>
            <a:off x="583019" y="3763089"/>
            <a:ext cx="11199971" cy="1938992"/>
          </a:xfrm>
          <a:prstGeom prst="rect">
            <a:avLst/>
          </a:prstGeom>
          <a:solidFill>
            <a:schemeClr val="bg1">
              <a:lumMod val="95000"/>
            </a:schemeClr>
          </a:solidFill>
          <a:ln w="28575">
            <a:solidFill>
              <a:srgbClr val="E0700D"/>
            </a:solidFill>
          </a:ln>
        </p:spPr>
        <p:txBody>
          <a:bodyPr wrap="square" rtlCol="0">
            <a:spAutoFit/>
          </a:bodyPr>
          <a:lstStyle/>
          <a:p>
            <a:pPr algn="just"/>
            <a:r>
              <a:rPr lang="es-ES" sz="1200" dirty="0">
                <a:latin typeface="Arial" panose="020B0604020202020204" pitchFamily="34" charset="0"/>
                <a:cs typeface="Arial" panose="020B0604020202020204" pitchFamily="34" charset="0"/>
              </a:rPr>
              <a:t>Se ha observado que para el silicio (Si) el índice efectivo es mayor que para el nitruro de silicio (</a:t>
            </a:r>
            <a:r>
              <a:rPr lang="es-ES" sz="1200" dirty="0" err="1">
                <a:latin typeface="Arial" panose="020B0604020202020204" pitchFamily="34" charset="0"/>
                <a:cs typeface="Arial" panose="020B0604020202020204" pitchFamily="34" charset="0"/>
              </a:rPr>
              <a:t>SiNx</a:t>
            </a:r>
            <a:r>
              <a:rPr lang="es-ES" sz="1200" dirty="0">
                <a:latin typeface="Arial" panose="020B0604020202020204" pitchFamily="34" charset="0"/>
                <a:cs typeface="Arial" panose="020B0604020202020204" pitchFamily="34" charset="0"/>
              </a:rPr>
              <a:t>), debido a que el índice de refracción del material también es más alto. Esto provoca un mayor confinamiento del modo en el núcleo de la guía, lo que favorece que aparezcan más modos guiados. Como se ha visto en los apartados correspondientes, esto hace que las guías en Si tiendan a comportarse como multimodo con mayor facilidad, tanto al aumentar la anchura como la longitud de onda, en comparación con las guías de </a:t>
            </a:r>
            <a:r>
              <a:rPr lang="es-ES" sz="1200" dirty="0" err="1">
                <a:latin typeface="Arial" panose="020B0604020202020204" pitchFamily="34" charset="0"/>
                <a:cs typeface="Arial" panose="020B0604020202020204" pitchFamily="34" charset="0"/>
              </a:rPr>
              <a:t>SiNx</a:t>
            </a:r>
            <a:r>
              <a:rPr lang="es-ES" sz="1200" dirty="0">
                <a:latin typeface="Arial" panose="020B0604020202020204" pitchFamily="34" charset="0"/>
                <a:cs typeface="Arial" panose="020B0604020202020204" pitchFamily="34" charset="0"/>
              </a:rPr>
              <a:t>.</a:t>
            </a:r>
          </a:p>
          <a:p>
            <a:pPr algn="just"/>
            <a:endParaRPr lang="es-ES" sz="1200" dirty="0">
              <a:latin typeface="Arial" panose="020B0604020202020204" pitchFamily="34" charset="0"/>
              <a:cs typeface="Arial" panose="020B0604020202020204" pitchFamily="34" charset="0"/>
            </a:endParaRPr>
          </a:p>
          <a:p>
            <a:pPr algn="just"/>
            <a:r>
              <a:rPr lang="es-ES" sz="1200" dirty="0">
                <a:latin typeface="Arial" panose="020B0604020202020204" pitchFamily="34" charset="0"/>
                <a:cs typeface="Arial" panose="020B0604020202020204" pitchFamily="34" charset="0"/>
              </a:rPr>
              <a:t>Por otro lado, en el análisis del radio de curvatura se observa que las guías de Si presentan menores pérdidas por curvatura que las de </a:t>
            </a:r>
            <a:r>
              <a:rPr lang="es-ES" sz="1200" dirty="0" err="1">
                <a:latin typeface="Arial" panose="020B0604020202020204" pitchFamily="34" charset="0"/>
                <a:cs typeface="Arial" panose="020B0604020202020204" pitchFamily="34" charset="0"/>
              </a:rPr>
              <a:t>SiNx</a:t>
            </a:r>
            <a:r>
              <a:rPr lang="es-ES" sz="1200" dirty="0">
                <a:latin typeface="Arial" panose="020B0604020202020204" pitchFamily="34" charset="0"/>
                <a:cs typeface="Arial" panose="020B0604020202020204" pitchFamily="34" charset="0"/>
              </a:rPr>
              <a:t>. En concreto, el radio mínimo seguro es aproximadamente 5 µm para Si y 35 </a:t>
            </a:r>
            <a:r>
              <a:rPr lang="es-ES" sz="1200" dirty="0" err="1">
                <a:latin typeface="Arial" panose="020B0604020202020204" pitchFamily="34" charset="0"/>
                <a:cs typeface="Arial" panose="020B0604020202020204" pitchFamily="34" charset="0"/>
              </a:rPr>
              <a:t>um</a:t>
            </a:r>
            <a:r>
              <a:rPr lang="es-ES" sz="1200" dirty="0">
                <a:latin typeface="Arial" panose="020B0604020202020204" pitchFamily="34" charset="0"/>
                <a:cs typeface="Arial" panose="020B0604020202020204" pitchFamily="34" charset="0"/>
              </a:rPr>
              <a:t> para </a:t>
            </a:r>
            <a:r>
              <a:rPr lang="es-ES" sz="1200" dirty="0" err="1">
                <a:latin typeface="Arial" panose="020B0604020202020204" pitchFamily="34" charset="0"/>
                <a:cs typeface="Arial" panose="020B0604020202020204" pitchFamily="34" charset="0"/>
              </a:rPr>
              <a:t>SiNx</a:t>
            </a:r>
            <a:r>
              <a:rPr lang="es-ES" sz="1200" dirty="0">
                <a:latin typeface="Arial" panose="020B0604020202020204" pitchFamily="34" charset="0"/>
                <a:cs typeface="Arial" panose="020B0604020202020204" pitchFamily="34" charset="0"/>
              </a:rPr>
              <a:t> para mantener pérdidas inferiores a 0.1 dB/90°.</a:t>
            </a:r>
          </a:p>
          <a:p>
            <a:pPr algn="just"/>
            <a:endParaRPr lang="es-ES" sz="1200" dirty="0">
              <a:latin typeface="Arial" panose="020B0604020202020204" pitchFamily="34" charset="0"/>
              <a:cs typeface="Arial" panose="020B0604020202020204" pitchFamily="34" charset="0"/>
            </a:endParaRPr>
          </a:p>
          <a:p>
            <a:r>
              <a:rPr lang="es-ES" sz="1200" dirty="0">
                <a:latin typeface="Arial" panose="020B0604020202020204" pitchFamily="34" charset="0"/>
                <a:cs typeface="Arial" panose="020B0604020202020204" pitchFamily="34" charset="0"/>
              </a:rPr>
              <a:t>Finalmente, se puede concluir que la tecnología Si permite circuitos más compactos y con mayor confinamiento modal, mientras que </a:t>
            </a:r>
            <a:r>
              <a:rPr lang="es-ES" sz="1200" dirty="0" err="1">
                <a:latin typeface="Arial" panose="020B0604020202020204" pitchFamily="34" charset="0"/>
                <a:cs typeface="Arial" panose="020B0604020202020204" pitchFamily="34" charset="0"/>
              </a:rPr>
              <a:t>SiNx</a:t>
            </a:r>
            <a:r>
              <a:rPr lang="es-ES" sz="1200" dirty="0">
                <a:latin typeface="Arial" panose="020B0604020202020204" pitchFamily="34" charset="0"/>
                <a:cs typeface="Arial" panose="020B0604020202020204" pitchFamily="34" charset="0"/>
              </a:rPr>
              <a:t> presenta un confinamiento menor, pero permite el diseño de guías monomodo más anchas.</a:t>
            </a:r>
            <a:endParaRPr lang="en-US" sz="1200" dirty="0">
              <a:latin typeface="Arial" panose="020B0604020202020204" pitchFamily="34" charset="0"/>
              <a:cs typeface="Arial" panose="020B0604020202020204" pitchFamily="34" charset="0"/>
            </a:endParaRPr>
          </a:p>
        </p:txBody>
      </p:sp>
      <p:graphicFrame>
        <p:nvGraphicFramePr>
          <p:cNvPr id="4" name="Tabla 3">
            <a:extLst>
              <a:ext uri="{FF2B5EF4-FFF2-40B4-BE49-F238E27FC236}">
                <a16:creationId xmlns:a16="http://schemas.microsoft.com/office/drawing/2014/main" id="{2E1D3247-5AC5-EAF7-01C0-DF30A28971F0}"/>
              </a:ext>
            </a:extLst>
          </p:cNvPr>
          <p:cNvGraphicFramePr>
            <a:graphicFrameLocks noGrp="1"/>
          </p:cNvGraphicFramePr>
          <p:nvPr>
            <p:extLst>
              <p:ext uri="{D42A27DB-BD31-4B8C-83A1-F6EECF244321}">
                <p14:modId xmlns:p14="http://schemas.microsoft.com/office/powerpoint/2010/main" val="492976935"/>
              </p:ext>
            </p:extLst>
          </p:nvPr>
        </p:nvGraphicFramePr>
        <p:xfrm>
          <a:off x="1066801" y="1398032"/>
          <a:ext cx="9790905" cy="2164080"/>
        </p:xfrm>
        <a:graphic>
          <a:graphicData uri="http://schemas.openxmlformats.org/drawingml/2006/table">
            <a:tbl>
              <a:tblPr>
                <a:tableStyleId>{5940675A-B579-460E-94D1-54222C63F5DA}</a:tableStyleId>
              </a:tblPr>
              <a:tblGrid>
                <a:gridCol w="3263635">
                  <a:extLst>
                    <a:ext uri="{9D8B030D-6E8A-4147-A177-3AD203B41FA5}">
                      <a16:colId xmlns:a16="http://schemas.microsoft.com/office/drawing/2014/main" val="677883450"/>
                    </a:ext>
                  </a:extLst>
                </a:gridCol>
                <a:gridCol w="3263635">
                  <a:extLst>
                    <a:ext uri="{9D8B030D-6E8A-4147-A177-3AD203B41FA5}">
                      <a16:colId xmlns:a16="http://schemas.microsoft.com/office/drawing/2014/main" val="1732767699"/>
                    </a:ext>
                  </a:extLst>
                </a:gridCol>
                <a:gridCol w="3263635">
                  <a:extLst>
                    <a:ext uri="{9D8B030D-6E8A-4147-A177-3AD203B41FA5}">
                      <a16:colId xmlns:a16="http://schemas.microsoft.com/office/drawing/2014/main" val="1168453895"/>
                    </a:ext>
                  </a:extLst>
                </a:gridCol>
              </a:tblGrid>
              <a:tr h="290276">
                <a:tc>
                  <a:txBody>
                    <a:bodyPr/>
                    <a:lstStyle/>
                    <a:p>
                      <a:pPr algn="ctr">
                        <a:buNone/>
                      </a:pPr>
                      <a:r>
                        <a:rPr lang="es-ES" sz="1600" b="1" dirty="0"/>
                        <a:t>Característica</a:t>
                      </a:r>
                    </a:p>
                  </a:txBody>
                  <a:tcPr anchor="ctr">
                    <a:solidFill>
                      <a:schemeClr val="accent6"/>
                    </a:solidFill>
                  </a:tcPr>
                </a:tc>
                <a:tc>
                  <a:txBody>
                    <a:bodyPr/>
                    <a:lstStyle/>
                    <a:p>
                      <a:pPr algn="ctr">
                        <a:buNone/>
                      </a:pPr>
                      <a:r>
                        <a:rPr lang="es-ES" sz="1600" b="1" dirty="0" err="1"/>
                        <a:t>SiNx</a:t>
                      </a:r>
                      <a:endParaRPr lang="es-ES" sz="1600" b="1" dirty="0"/>
                    </a:p>
                  </a:txBody>
                  <a:tcPr anchor="ctr">
                    <a:solidFill>
                      <a:schemeClr val="accent6"/>
                    </a:solidFill>
                  </a:tcPr>
                </a:tc>
                <a:tc>
                  <a:txBody>
                    <a:bodyPr/>
                    <a:lstStyle/>
                    <a:p>
                      <a:pPr algn="ctr">
                        <a:buNone/>
                      </a:pPr>
                      <a:r>
                        <a:rPr lang="es-ES" sz="1600" b="1" dirty="0"/>
                        <a:t>Si</a:t>
                      </a:r>
                    </a:p>
                  </a:txBody>
                  <a:tcPr anchor="ctr">
                    <a:solidFill>
                      <a:schemeClr val="accent6"/>
                    </a:solidFill>
                  </a:tcPr>
                </a:tc>
                <a:extLst>
                  <a:ext uri="{0D108BD9-81ED-4DB2-BD59-A6C34878D82A}">
                    <a16:rowId xmlns:a16="http://schemas.microsoft.com/office/drawing/2014/main" val="2849035508"/>
                  </a:ext>
                </a:extLst>
              </a:tr>
              <a:tr h="280245">
                <a:tc>
                  <a:txBody>
                    <a:bodyPr/>
                    <a:lstStyle/>
                    <a:p>
                      <a:pPr>
                        <a:buNone/>
                      </a:pPr>
                      <a:r>
                        <a:rPr lang="es-ES" sz="1400" b="1" dirty="0"/>
                        <a:t>Comportamiento </a:t>
                      </a:r>
                      <a:r>
                        <a:rPr lang="es-ES" sz="1400" b="1" dirty="0" err="1"/>
                        <a:t>Shallow</a:t>
                      </a:r>
                      <a:endParaRPr lang="es-ES" sz="1400" dirty="0"/>
                    </a:p>
                  </a:txBody>
                  <a:tcPr anchor="ctr"/>
                </a:tc>
                <a:tc>
                  <a:txBody>
                    <a:bodyPr/>
                    <a:lstStyle/>
                    <a:p>
                      <a:pPr>
                        <a:buNone/>
                      </a:pPr>
                      <a:r>
                        <a:rPr lang="es-ES" sz="1400" dirty="0"/>
                        <a:t>Multimodo (TE0, TE1, TM0, TE2)</a:t>
                      </a:r>
                    </a:p>
                  </a:txBody>
                  <a:tcPr anchor="ctr"/>
                </a:tc>
                <a:tc>
                  <a:txBody>
                    <a:bodyPr/>
                    <a:lstStyle/>
                    <a:p>
                      <a:pPr>
                        <a:buNone/>
                      </a:pPr>
                      <a:r>
                        <a:rPr lang="nl-NL" sz="1400" dirty="0"/>
                        <a:t>Multimodo (TE0, TE1, TE2, TE3)</a:t>
                      </a:r>
                    </a:p>
                  </a:txBody>
                  <a:tcPr anchor="ctr"/>
                </a:tc>
                <a:extLst>
                  <a:ext uri="{0D108BD9-81ED-4DB2-BD59-A6C34878D82A}">
                    <a16:rowId xmlns:a16="http://schemas.microsoft.com/office/drawing/2014/main" val="711482399"/>
                  </a:ext>
                </a:extLst>
              </a:tr>
              <a:tr h="280245">
                <a:tc>
                  <a:txBody>
                    <a:bodyPr/>
                    <a:lstStyle/>
                    <a:p>
                      <a:pPr>
                        <a:buNone/>
                      </a:pPr>
                      <a:r>
                        <a:rPr lang="es-ES" sz="1400" b="1" dirty="0"/>
                        <a:t>Comportamiento Deep</a:t>
                      </a:r>
                      <a:endParaRPr lang="es-ES" sz="1400" dirty="0"/>
                    </a:p>
                  </a:txBody>
                  <a:tcPr anchor="ctr"/>
                </a:tc>
                <a:tc>
                  <a:txBody>
                    <a:bodyPr/>
                    <a:lstStyle/>
                    <a:p>
                      <a:pPr>
                        <a:buNone/>
                      </a:pPr>
                      <a:r>
                        <a:rPr lang="es-ES" sz="1400" dirty="0"/>
                        <a:t>Monomodo (TE0, TM0)</a:t>
                      </a:r>
                    </a:p>
                  </a:txBody>
                  <a:tcPr anchor="ctr"/>
                </a:tc>
                <a:tc>
                  <a:txBody>
                    <a:bodyPr/>
                    <a:lstStyle/>
                    <a:p>
                      <a:pPr>
                        <a:buNone/>
                      </a:pPr>
                      <a:r>
                        <a:rPr lang="es-ES" sz="1400" dirty="0"/>
                        <a:t>Multimodo (TE0, TM0, TE1)</a:t>
                      </a:r>
                    </a:p>
                  </a:txBody>
                  <a:tcPr anchor="ctr"/>
                </a:tc>
                <a:extLst>
                  <a:ext uri="{0D108BD9-81ED-4DB2-BD59-A6C34878D82A}">
                    <a16:rowId xmlns:a16="http://schemas.microsoft.com/office/drawing/2014/main" val="2796370370"/>
                  </a:ext>
                </a:extLst>
              </a:tr>
              <a:tr h="280245">
                <a:tc>
                  <a:txBody>
                    <a:bodyPr/>
                    <a:lstStyle/>
                    <a:p>
                      <a:pPr>
                        <a:buNone/>
                      </a:pPr>
                      <a:r>
                        <a:rPr lang="es-ES" sz="1400" b="1" dirty="0"/>
                        <a:t>Anchura límite monomodo (</a:t>
                      </a:r>
                      <a:r>
                        <a:rPr lang="el-GR" sz="1400" b="1" dirty="0"/>
                        <a:t>λ</a:t>
                      </a:r>
                      <a:r>
                        <a:rPr lang="es-ES" sz="1400" b="1" dirty="0"/>
                        <a:t> = 1550 nm)</a:t>
                      </a:r>
                      <a:endParaRPr lang="es-ES" sz="1400" dirty="0"/>
                    </a:p>
                  </a:txBody>
                  <a:tcPr anchor="ctr"/>
                </a:tc>
                <a:tc>
                  <a:txBody>
                    <a:bodyPr/>
                    <a:lstStyle/>
                    <a:p>
                      <a:pPr>
                        <a:buNone/>
                      </a:pPr>
                      <a:r>
                        <a:rPr lang="es-ES" sz="1400" dirty="0"/>
                        <a:t>≈ 1.27 </a:t>
                      </a:r>
                      <a:r>
                        <a:rPr lang="es-ES" sz="1400" dirty="0" err="1"/>
                        <a:t>um</a:t>
                      </a:r>
                      <a:endParaRPr lang="es-ES" sz="1400" dirty="0"/>
                    </a:p>
                  </a:txBody>
                  <a:tcPr anchor="ctr"/>
                </a:tc>
                <a:tc>
                  <a:txBody>
                    <a:bodyPr/>
                    <a:lstStyle/>
                    <a:p>
                      <a:pPr>
                        <a:buNone/>
                      </a:pPr>
                      <a:r>
                        <a:rPr lang="es-ES" sz="1400" dirty="0"/>
                        <a:t>≈ 0.45 </a:t>
                      </a:r>
                      <a:r>
                        <a:rPr lang="es-ES" sz="1400" dirty="0" err="1"/>
                        <a:t>um</a:t>
                      </a:r>
                      <a:r>
                        <a:rPr lang="es-ES" sz="1400" dirty="0"/>
                        <a:t> </a:t>
                      </a:r>
                    </a:p>
                  </a:txBody>
                  <a:tcPr anchor="ctr"/>
                </a:tc>
                <a:extLst>
                  <a:ext uri="{0D108BD9-81ED-4DB2-BD59-A6C34878D82A}">
                    <a16:rowId xmlns:a16="http://schemas.microsoft.com/office/drawing/2014/main" val="3035251470"/>
                  </a:ext>
                </a:extLst>
              </a:tr>
              <a:tr h="280245">
                <a:tc>
                  <a:txBody>
                    <a:bodyPr/>
                    <a:lstStyle/>
                    <a:p>
                      <a:pPr>
                        <a:buNone/>
                      </a:pPr>
                      <a:r>
                        <a:rPr lang="es-ES" sz="1400" b="1" dirty="0"/>
                        <a:t>Radio mínimo seguro (</a:t>
                      </a:r>
                      <a:r>
                        <a:rPr lang="el-GR" sz="1400" b="1" dirty="0"/>
                        <a:t>λ</a:t>
                      </a:r>
                      <a:r>
                        <a:rPr lang="es-ES" sz="1400" b="1" dirty="0"/>
                        <a:t> = 1550 nm)</a:t>
                      </a:r>
                      <a:endParaRPr lang="es-ES" sz="1400" dirty="0"/>
                    </a:p>
                  </a:txBody>
                  <a:tcPr anchor="ctr"/>
                </a:tc>
                <a:tc>
                  <a:txBody>
                    <a:bodyPr/>
                    <a:lstStyle/>
                    <a:p>
                      <a:pPr>
                        <a:buNone/>
                      </a:pPr>
                      <a:r>
                        <a:rPr lang="es-ES" sz="1400" dirty="0"/>
                        <a:t>≈ 35 </a:t>
                      </a:r>
                      <a:r>
                        <a:rPr lang="es-ES" sz="1400" dirty="0" err="1"/>
                        <a:t>um</a:t>
                      </a:r>
                      <a:endParaRPr lang="es-ES" sz="1400" dirty="0"/>
                    </a:p>
                  </a:txBody>
                  <a:tcPr anchor="ctr"/>
                </a:tc>
                <a:tc>
                  <a:txBody>
                    <a:bodyPr/>
                    <a:lstStyle/>
                    <a:p>
                      <a:pPr>
                        <a:buNone/>
                      </a:pPr>
                      <a:r>
                        <a:rPr lang="es-ES" sz="1400" dirty="0"/>
                        <a:t>≈ 5 </a:t>
                      </a:r>
                      <a:r>
                        <a:rPr lang="es-ES" sz="1400" dirty="0" err="1"/>
                        <a:t>um</a:t>
                      </a:r>
                      <a:endParaRPr lang="es-ES" sz="1400" dirty="0"/>
                    </a:p>
                  </a:txBody>
                  <a:tcPr anchor="ctr"/>
                </a:tc>
                <a:extLst>
                  <a:ext uri="{0D108BD9-81ED-4DB2-BD59-A6C34878D82A}">
                    <a16:rowId xmlns:a16="http://schemas.microsoft.com/office/drawing/2014/main" val="1792469843"/>
                  </a:ext>
                </a:extLst>
              </a:tr>
              <a:tr h="280245">
                <a:tc>
                  <a:txBody>
                    <a:bodyPr/>
                    <a:lstStyle/>
                    <a:p>
                      <a:pPr>
                        <a:buNone/>
                      </a:pPr>
                      <a:r>
                        <a:rPr lang="es-ES" sz="1400" b="1" dirty="0"/>
                        <a:t>Índice efectivo (guía recta, </a:t>
                      </a:r>
                      <a:r>
                        <a:rPr lang="el-GR" sz="1400" b="1" dirty="0"/>
                        <a:t>λ</a:t>
                      </a:r>
                      <a:r>
                        <a:rPr lang="es-ES" sz="1400" b="1" dirty="0"/>
                        <a:t> = 1550 nm)</a:t>
                      </a:r>
                      <a:endParaRPr lang="es-ES" sz="1400" dirty="0"/>
                    </a:p>
                  </a:txBody>
                  <a:tcPr anchor="ctr"/>
                </a:tc>
                <a:tc>
                  <a:txBody>
                    <a:bodyPr/>
                    <a:lstStyle/>
                    <a:p>
                      <a:pPr>
                        <a:buNone/>
                      </a:pPr>
                      <a:r>
                        <a:rPr lang="es-ES" sz="1400"/>
                        <a:t>≈ 1.605</a:t>
                      </a:r>
                    </a:p>
                  </a:txBody>
                  <a:tcPr anchor="ctr"/>
                </a:tc>
                <a:tc>
                  <a:txBody>
                    <a:bodyPr/>
                    <a:lstStyle/>
                    <a:p>
                      <a:pPr>
                        <a:buNone/>
                      </a:pPr>
                      <a:r>
                        <a:rPr lang="es-ES" sz="1400" dirty="0"/>
                        <a:t>≈ 2.511</a:t>
                      </a:r>
                    </a:p>
                  </a:txBody>
                  <a:tcPr anchor="ctr"/>
                </a:tc>
                <a:extLst>
                  <a:ext uri="{0D108BD9-81ED-4DB2-BD59-A6C34878D82A}">
                    <a16:rowId xmlns:a16="http://schemas.microsoft.com/office/drawing/2014/main" val="876476467"/>
                  </a:ext>
                </a:extLst>
              </a:tr>
              <a:tr h="280245">
                <a:tc>
                  <a:txBody>
                    <a:bodyPr/>
                    <a:lstStyle/>
                    <a:p>
                      <a:pPr>
                        <a:buNone/>
                      </a:pPr>
                      <a:r>
                        <a:rPr lang="es-ES" sz="1400" b="1" dirty="0"/>
                        <a:t>Confinamiento del modo</a:t>
                      </a:r>
                      <a:endParaRPr lang="es-ES" sz="1400" dirty="0"/>
                    </a:p>
                  </a:txBody>
                  <a:tcPr anchor="ctr"/>
                </a:tc>
                <a:tc>
                  <a:txBody>
                    <a:bodyPr/>
                    <a:lstStyle/>
                    <a:p>
                      <a:pPr>
                        <a:buNone/>
                      </a:pPr>
                      <a:r>
                        <a:rPr lang="es-ES" sz="1400"/>
                        <a:t>Menor</a:t>
                      </a:r>
                    </a:p>
                  </a:txBody>
                  <a:tcPr anchor="ctr"/>
                </a:tc>
                <a:tc>
                  <a:txBody>
                    <a:bodyPr/>
                    <a:lstStyle/>
                    <a:p>
                      <a:pPr>
                        <a:buNone/>
                      </a:pPr>
                      <a:r>
                        <a:rPr lang="es-ES" sz="1400" dirty="0"/>
                        <a:t>Mayor</a:t>
                      </a:r>
                    </a:p>
                  </a:txBody>
                  <a:tcPr anchor="ctr"/>
                </a:tc>
                <a:extLst>
                  <a:ext uri="{0D108BD9-81ED-4DB2-BD59-A6C34878D82A}">
                    <a16:rowId xmlns:a16="http://schemas.microsoft.com/office/drawing/2014/main" val="1705402037"/>
                  </a:ext>
                </a:extLst>
              </a:tr>
            </a:tbl>
          </a:graphicData>
        </a:graphic>
      </p:graphicFrame>
    </p:spTree>
    <p:extLst>
      <p:ext uri="{BB962C8B-B14F-4D97-AF65-F5344CB8AC3E}">
        <p14:creationId xmlns:p14="http://schemas.microsoft.com/office/powerpoint/2010/main" val="31645613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3945635" y="2636520"/>
            <a:ext cx="8246363" cy="1584959"/>
          </a:xfrm>
          <a:prstGeom prst="rect">
            <a:avLst/>
          </a:prstGeom>
          <a:blipFill>
            <a:blip r:embed="rId2" cstate="print"/>
            <a:stretch>
              <a:fillRect/>
            </a:stretch>
          </a:blipFill>
        </p:spPr>
        <p:txBody>
          <a:bodyPr wrap="square" lIns="0" tIns="0" rIns="0" bIns="0" rtlCol="0"/>
          <a:lstStyle/>
          <a:p>
            <a:endParaRPr/>
          </a:p>
        </p:txBody>
      </p:sp>
      <p:sp>
        <p:nvSpPr>
          <p:cNvPr id="4" name="object 4"/>
          <p:cNvSpPr txBox="1">
            <a:spLocks noGrp="1"/>
          </p:cNvSpPr>
          <p:nvPr>
            <p:ph type="title"/>
          </p:nvPr>
        </p:nvSpPr>
        <p:spPr>
          <a:xfrm>
            <a:off x="4513326" y="3165729"/>
            <a:ext cx="2233295" cy="513715"/>
          </a:xfrm>
          <a:prstGeom prst="rect">
            <a:avLst/>
          </a:prstGeom>
        </p:spPr>
        <p:txBody>
          <a:bodyPr vert="horz" wrap="square" lIns="0" tIns="13335" rIns="0" bIns="0" rtlCol="0">
            <a:spAutoFit/>
          </a:bodyPr>
          <a:lstStyle/>
          <a:p>
            <a:pPr marL="12700">
              <a:lnSpc>
                <a:spcPct val="100000"/>
              </a:lnSpc>
              <a:spcBef>
                <a:spcPts val="105"/>
              </a:spcBef>
            </a:pPr>
            <a:r>
              <a:rPr sz="3200" b="1" spc="-5" dirty="0">
                <a:solidFill>
                  <a:srgbClr val="FFFFFF"/>
                </a:solidFill>
                <a:latin typeface="Lucida Sans"/>
                <a:cs typeface="Lucida Sans"/>
              </a:rPr>
              <a:t>Thank</a:t>
            </a:r>
            <a:r>
              <a:rPr sz="3200" b="1" spc="-55" dirty="0">
                <a:solidFill>
                  <a:srgbClr val="FFFFFF"/>
                </a:solidFill>
                <a:latin typeface="Lucida Sans"/>
                <a:cs typeface="Lucida Sans"/>
              </a:rPr>
              <a:t> </a:t>
            </a:r>
            <a:r>
              <a:rPr sz="3200" b="1" dirty="0">
                <a:solidFill>
                  <a:srgbClr val="FFFFFF"/>
                </a:solidFill>
                <a:latin typeface="Lucida Sans"/>
                <a:cs typeface="Lucida Sans"/>
              </a:rPr>
              <a:t>you</a:t>
            </a:r>
            <a:endParaRPr sz="3200">
              <a:latin typeface="Lucida Sans"/>
              <a:cs typeface="Lucida Sans"/>
            </a:endParaRPr>
          </a:p>
        </p:txBody>
      </p:sp>
      <p:sp>
        <p:nvSpPr>
          <p:cNvPr id="5" name="Marcador de número de diapositiva 4">
            <a:extLst>
              <a:ext uri="{FF2B5EF4-FFF2-40B4-BE49-F238E27FC236}">
                <a16:creationId xmlns:a16="http://schemas.microsoft.com/office/drawing/2014/main" id="{B052DA19-AD24-7D24-2AE9-51F8F5A7F5E0}"/>
              </a:ext>
            </a:extLst>
          </p:cNvPr>
          <p:cNvSpPr>
            <a:spLocks noGrp="1"/>
          </p:cNvSpPr>
          <p:nvPr>
            <p:ph type="sldNum" sz="quarter" idx="7"/>
          </p:nvPr>
        </p:nvSpPr>
        <p:spPr/>
        <p:txBody>
          <a:bodyPr/>
          <a:lstStyle/>
          <a:p>
            <a:fld id="{B6F15528-21DE-4FAA-801E-634DDDAF4B2B}" type="slidenum">
              <a:rPr lang="es-ES" smtClean="0"/>
              <a:t>14</a:t>
            </a:fld>
            <a:endParaRPr lang="es-E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3047</TotalTime>
  <Words>2063</Words>
  <Application>Microsoft Office PowerPoint</Application>
  <PresentationFormat>Panorámica</PresentationFormat>
  <Paragraphs>149</Paragraphs>
  <Slides>14</Slides>
  <Notes>11</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14</vt:i4>
      </vt:variant>
    </vt:vector>
  </HeadingPairs>
  <TitlesOfParts>
    <vt:vector size="21" baseType="lpstr">
      <vt:lpstr>Aptos</vt:lpstr>
      <vt:lpstr>Arial</vt:lpstr>
      <vt:lpstr>Calibri</vt:lpstr>
      <vt:lpstr>Lucida Sans</vt:lpstr>
      <vt:lpstr>Times New Roman</vt:lpstr>
      <vt:lpstr>Wingdings</vt:lpstr>
      <vt:lpstr>Office Theme</vt:lpstr>
      <vt:lpstr>Presentación de PowerPoint</vt:lpstr>
      <vt:lpstr>Instructions General</vt:lpstr>
      <vt:lpstr>Learning outcome #1.1 – Materials </vt:lpstr>
      <vt:lpstr>Learning outcome #1.2 – Cross - Section </vt:lpstr>
      <vt:lpstr>Learning outcome #1.3 – Simulations</vt:lpstr>
      <vt:lpstr>Learning outcome #2 – Wavelength behavior Wavelength 1.5-1.6 µm (step 0.01 µm) – width 1.2 µm</vt:lpstr>
      <vt:lpstr>Learning outcome #3 – Width dependence Width 0.6 - 1.6 µm (step 0.1 µm) – Wavelength 1.55 µm </vt:lpstr>
      <vt:lpstr>Learning outcome #4 – Waveguide compact model - Find the compact models of the following waveguides:  Deep waveguide, h=300nm, w=1.2um   - Shallow waveguide, core h=300nm, slab h=150 nm, w = 1.2um  </vt:lpstr>
      <vt:lpstr>Learning outcome #5 – Bend waveguide radius vs. loss – deep Find  neff_TE0 for wvl 1.55 µm, width 1.2 µm for R=25,50,75,100, 125,150 µm </vt:lpstr>
      <vt:lpstr># EXTRA.1 - Wavelength behavior Now, Simulate the Silicon-On-Insulator technology changing the core material to Silicon (Si). In this case, the dimensions will be 220 nm heigth and 500 nm width.  1. Repeat the LO.2. wavelength behavior simulations, considering the updated materials and dimensions.    </vt:lpstr>
      <vt:lpstr># EXTRA.2 - Width dependence 2. Repeat the LO.3. width dependence analysis, now sweeping in a 300nm - 1um range.    </vt:lpstr>
      <vt:lpstr># EXTRA.3 - Bend waveguide radius  3. Find the safe radius for this technology. Consider sweeping the radius in a 5um to 30um range.  </vt:lpstr>
      <vt:lpstr># EXTRA - Comparative 4. Compare the SiNx and SOI technologies </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Mª Ester Calataytud</dc:creator>
  <cp:lastModifiedBy>Javier Llacer Noha</cp:lastModifiedBy>
  <cp:revision>30</cp:revision>
  <dcterms:created xsi:type="dcterms:W3CDTF">2025-01-27T02:46:57Z</dcterms:created>
  <dcterms:modified xsi:type="dcterms:W3CDTF">2026-03-12T08:48:09Z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2024-09-16T00:00:00Z</vt:filetime>
  </property>
  <property fmtid="{D5CDD505-2E9C-101B-9397-08002B2CF9AE}" pid="3" name="Creator">
    <vt:lpwstr>Microsoft® PowerPoint® 2016</vt:lpwstr>
  </property>
  <property fmtid="{D5CDD505-2E9C-101B-9397-08002B2CF9AE}" pid="4" name="LastSaved">
    <vt:filetime>2025-01-27T00:00:00Z</vt:filetime>
  </property>
</Properties>
</file>
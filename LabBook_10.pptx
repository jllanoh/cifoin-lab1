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modernComment_123_DD460EA3.xml" ContentType="application/vnd.ms-powerpoint.comment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2"/>
    <p:sldId id="295" r:id="rId3"/>
    <p:sldId id="290" r:id="rId4"/>
    <p:sldId id="298" r:id="rId5"/>
    <p:sldId id="299" r:id="rId6"/>
    <p:sldId id="300" r:id="rId7"/>
    <p:sldId id="291" r:id="rId8"/>
    <p:sldId id="292" r:id="rId9"/>
    <p:sldId id="297" r:id="rId10"/>
    <p:sldId id="293" r:id="rId11"/>
    <p:sldId id="288" r:id="rId12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74DEC91-EE70-822B-0F23-319E662BA817}" name="Javier Llacer Noha" initials="JL" userId="S::JLLANOH@upv.edu.es::201d6fc8-240d-41eb-b5e8-7df2b4e8cdc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017" autoAdjust="0"/>
    <p:restoredTop sz="95033" autoAdjust="0"/>
  </p:normalViewPr>
  <p:slideViewPr>
    <p:cSldViewPr>
      <p:cViewPr>
        <p:scale>
          <a:sx n="75" d="100"/>
          <a:sy n="75" d="100"/>
        </p:scale>
        <p:origin x="436" y="2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comments/modernComment_123_DD460EA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4852C2D-86BB-4E1D-A8D0-A0DBC429D069}" authorId="{D74DEC91-EE70-822B-0F23-319E662BA817}" created="2026-03-02T17:57:21.107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712356003" sldId="291"/>
      <ac:spMk id="2" creationId="{CA5F0FDF-2A95-453B-4ECA-AEB637FF2694}"/>
      <ac:txMk cp="551" len="19">
        <ac:context len="597" hash="3347251781"/>
      </ac:txMk>
    </ac:txMkLst>
    <p188:pos x="1541092" y="1159933"/>
    <p188:txBody>
      <a:bodyPr/>
      <a:lstStyle/>
      <a:p>
        <a:r>
          <a:rPr lang="es-ES"/>
          <a:t>Creemos que está bien pero no lo tenemos claro.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02/03/2026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02/03/2026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9C5B3-0915-7A78-7FAC-C15D96CE1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CDAD810-8C16-5834-5A90-698B9E87F8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61CC14A-BDC0-B607-9DF0-6DD39DE695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972BBC2-8BCA-F6E7-CE66-D116438B1E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142408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2D980-1208-E4A8-CCA6-A3A30DB95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9B70B63-DB26-3C65-D2DC-37832B149D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5344385-6CA9-AAE1-82C4-4CA008C44D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F4093E9-54CF-5F22-CAFB-3FA67D4846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224860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49BFC-AC4D-984C-19F8-635271A11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85DDD09-3D26-A60C-41C3-EEBC7F4CA8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C956AC0-CE8C-CFA4-59D3-6C8108D90A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312FED4-2F26-2267-9C84-B1241D8F62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513775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5711-C157-AA5E-1EA1-9F4C3F40B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A117F6-F66D-FFD4-422F-EBD94B31F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B512FE-9F6C-4ABD-23FA-CA518B458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24E7A5-CBFC-658B-8E88-8AF8084D5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29614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9AA65-166B-474B-A6C9-9858D86A9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158223-A8BA-05F6-464C-EC03A9FB8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CB4DF-C329-8F47-9ECE-661B5B2BF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1B2276-A4E2-DFBF-0088-6997E86C9F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23159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173827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 WAVEGUIDES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3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23_DD460EA3.xml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4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3.png"/><Relationship Id="rId7" Type="http://schemas.openxmlformats.org/officeDocument/2006/relationships/image" Target="NUL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4" Type="http://schemas.openxmlformats.org/officeDocument/2006/relationships/image" Target="../media/image4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1.0. </a:t>
            </a:r>
            <a:r>
              <a:rPr lang="es-ES" sz="3200" b="1" dirty="0" err="1">
                <a:latin typeface="Lucida Sans"/>
                <a:cs typeface="Lucida Sans"/>
              </a:rPr>
              <a:t>Waveguides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57964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Javier </a:t>
            </a:r>
            <a:r>
              <a:rPr lang="es-ES" spc="165" dirty="0" err="1">
                <a:latin typeface="Arial"/>
                <a:cs typeface="Arial"/>
              </a:rPr>
              <a:t>Llàcer</a:t>
            </a:r>
            <a:r>
              <a:rPr lang="es-ES" spc="165" dirty="0">
                <a:latin typeface="Arial"/>
                <a:cs typeface="Arial"/>
              </a:rPr>
              <a:t> Noha &amp; Miguel Ángel Descalzo Cuevas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>
                <a:latin typeface="Arial"/>
                <a:cs typeface="Arial"/>
              </a:rPr>
              <a:t>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https://github.com/cccanvas-upv/cifoin-lab1.git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WAVEGUIDES_Student.ipynb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sz="2000" b="1" i="1" u="sng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902765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47061" y="3983757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091131" y="4210910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84805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504743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1984805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3983988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391400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473440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93378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473440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472623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391400" y="4690819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575910" y="3994221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233207" y="4689210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351994" y="4887127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8706378" y="3990085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306491" y="5257071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2969899" y="5257071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473922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Effective index of a waveguide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AA9E72FF-B948-6B7A-8909-97C6BE95D6FB}"/>
              </a:ext>
            </a:extLst>
          </p:cNvPr>
          <p:cNvSpPr txBox="1">
            <a:spLocks/>
          </p:cNvSpPr>
          <p:nvPr/>
        </p:nvSpPr>
        <p:spPr>
          <a:xfrm>
            <a:off x="608012" y="1295400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/>
              <a:t>INSTRUCTOR: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Present Python and </a:t>
            </a:r>
            <a:r>
              <a:rPr lang="en-US" sz="2000" dirty="0" err="1"/>
              <a:t>GDSFactory</a:t>
            </a:r>
            <a:r>
              <a:rPr lang="en-US" sz="2000" dirty="0"/>
              <a:t>: materials, output, results.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Explain how to run a simulation for a particular cross-section.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Showcase how to change between shallow and deep waveguide.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how to change the wavelength and width for the waveguide analysis.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the outputs.</a:t>
            </a:r>
          </a:p>
          <a:p>
            <a:pPr marL="0" indent="0" algn="just">
              <a:buNone/>
            </a:pPr>
            <a:r>
              <a:rPr lang="en-US" sz="2000" b="1" dirty="0"/>
              <a:t>ALL EXAMPLE #1: </a:t>
            </a:r>
            <a:r>
              <a:rPr lang="en-US" sz="2000" dirty="0"/>
              <a:t>waveguide width 1.2 µm, deep </a:t>
            </a:r>
            <a:r>
              <a:rPr lang="en-US" sz="2000" dirty="0" err="1"/>
              <a:t>wvg</a:t>
            </a:r>
            <a:r>
              <a:rPr lang="en-US" sz="2000" dirty="0"/>
              <a:t>, wavelength start and end same 1.55 µm </a:t>
            </a:r>
            <a:r>
              <a:rPr lang="en-US" sz="2000" dirty="0">
                <a:sym typeface="Wingdings" pitchFamily="2" charset="2"/>
              </a:rPr>
              <a:t> all ”Run”</a:t>
            </a:r>
            <a:endParaRPr lang="en-US" sz="2000" dirty="0"/>
          </a:p>
          <a:p>
            <a:pPr marL="0" indent="0" algn="just">
              <a:buNone/>
            </a:pPr>
            <a:r>
              <a:rPr lang="en-US" sz="2000" b="1" dirty="0"/>
              <a:t>ALL: </a:t>
            </a:r>
            <a:r>
              <a:rPr lang="en-US" sz="2000" dirty="0"/>
              <a:t>Follow</a:t>
            </a:r>
            <a:r>
              <a:rPr lang="en-US" sz="2000" b="1" dirty="0"/>
              <a:t> </a:t>
            </a:r>
            <a:r>
              <a:rPr lang="en-US" sz="2000" dirty="0"/>
              <a:t>instructor, that will show how to 1) plot mode, 2) explore the results (neff …)</a:t>
            </a:r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0F8CF3B-B920-DBFC-F825-0C87B51EADA7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Document all your results (neff, plot fields of different modes, comparison between different polarizations…)</a:t>
            </a: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Páginas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siguientes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5554B-67EA-B6F8-D48B-E89C530E7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895021D6-1F41-2F3A-9513-979856223E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#1.1 – Materials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0689FD67-3625-76E0-B7F7-D6256B8469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DF85D4F2-EF90-6BC0-8E40-FBA6EE764B3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C1B55A1-A9A5-C391-4071-7EA86EAF64C0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9BEDD745-C961-8871-5B7A-53C72BAFDA1D}"/>
              </a:ext>
            </a:extLst>
          </p:cNvPr>
          <p:cNvSpPr txBox="1"/>
          <p:nvPr/>
        </p:nvSpPr>
        <p:spPr>
          <a:xfrm>
            <a:off x="381000" y="3746858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Las gráficas muestran la variación del índice de refracción (n) en función de la longitud de onda para el silicio, el nitruro de silicio y el dióxido de silicio. En los tres materiales se observa una ligera disminución de n a medida que aumenta la longitud de onda que puede dar lugar a dispersión cromática. Asimismo, se aprecia que cada material presenta un valor de índice de refracción distinto, lo que influye en el confinamiento y la propagación en la guía.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Imagen 6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59ADF897-2A4F-7AAC-55FA-E5B2C77E80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926026"/>
            <a:ext cx="3460630" cy="2696210"/>
          </a:xfrm>
          <a:prstGeom prst="rect">
            <a:avLst/>
          </a:prstGeom>
        </p:spPr>
      </p:pic>
      <p:pic>
        <p:nvPicPr>
          <p:cNvPr id="9" name="Imagen 8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6664E989-F90C-4CE4-7096-A630A903C6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1000" y="926026"/>
            <a:ext cx="3584566" cy="2745753"/>
          </a:xfrm>
          <a:prstGeom prst="rect">
            <a:avLst/>
          </a:prstGeom>
        </p:spPr>
      </p:pic>
      <p:pic>
        <p:nvPicPr>
          <p:cNvPr id="11" name="Imagen 10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B1AA1D81-CF0C-4C1E-D83F-AA4C8C94DDB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6849" y="910632"/>
            <a:ext cx="3689351" cy="2788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1003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E8FC5-51A5-E519-FF3C-244192A6E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A08153FC-6804-7F8E-265B-A5B63827D0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#1.2 – Cross - Section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2BAB1CD2-5C6D-6871-F421-A2B3FCDCEC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E9F8AA0F-C575-D859-F0AD-B35A5C1F720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B57B873-899A-BCBB-27B7-94F0F808235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9358B08F-129E-A3BF-C711-7DFBD318626B}"/>
              </a:ext>
            </a:extLst>
          </p:cNvPr>
          <p:cNvSpPr txBox="1"/>
          <p:nvPr/>
        </p:nvSpPr>
        <p:spPr>
          <a:xfrm>
            <a:off x="381000" y="3746858"/>
            <a:ext cx="11199971" cy="1015663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En las imágenes se muestra la sección cruzada de las guías Deep y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Shallow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, respectivamente.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algn="just">
              <a:buFontTx/>
              <a:buChar char="-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Para la guía Deep las dimensiones son: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width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= 1.2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um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height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= 0.3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um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171450" indent="-171450" algn="just">
              <a:buFontTx/>
              <a:buChar char="-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Para la guía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Shallow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las dimensiones son: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width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= 1.2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um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height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= 0.3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um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slab_height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= 0.15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um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Imagen 3" descr="Gráfico&#10;&#10;El contenido generado por IA puede ser incorrecto.">
            <a:extLst>
              <a:ext uri="{FF2B5EF4-FFF2-40B4-BE49-F238E27FC236}">
                <a16:creationId xmlns:a16="http://schemas.microsoft.com/office/drawing/2014/main" id="{351B7EC1-D5A0-8397-E0E2-C0AC026453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5288" y="765509"/>
            <a:ext cx="4015023" cy="2935170"/>
          </a:xfrm>
          <a:prstGeom prst="rect">
            <a:avLst/>
          </a:prstGeom>
        </p:spPr>
      </p:pic>
      <p:pic>
        <p:nvPicPr>
          <p:cNvPr id="8" name="Imagen 7" descr="Gráfico&#10;&#10;El contenido generado por IA puede ser incorrecto.">
            <a:extLst>
              <a:ext uri="{FF2B5EF4-FFF2-40B4-BE49-F238E27FC236}">
                <a16:creationId xmlns:a16="http://schemas.microsoft.com/office/drawing/2014/main" id="{B69B693A-6AFD-210D-F467-AB7C00CE7C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0648" y="726690"/>
            <a:ext cx="4058289" cy="296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27625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CBC75-98C8-5092-E7A9-F3E53CF50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22CEE061-4B1B-A03F-2DAE-0F8E49FE71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#1.3 – Simulations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F0E5E6A2-5834-3066-5ABD-53F9C3BACE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6E29818-720B-4F4D-6653-64C8B4F263DE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6B52AF5-5352-3814-820A-67C2CB07F122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9FD84E3-2DC5-745A-C239-60F1257D78AC}"/>
              </a:ext>
            </a:extLst>
          </p:cNvPr>
          <p:cNvSpPr txBox="1"/>
          <p:nvPr/>
        </p:nvSpPr>
        <p:spPr>
          <a:xfrm>
            <a:off x="583019" y="3256134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En las imágenes se muestra la distribución del campo eléctrico a lo largo de la sección cruzada de una guía Deep para una longitud de onda de 1550 nm para los distintos modos que se propagan TE0, TM0, TE1 y TM1, respectivamente.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Se observa como el modo TE0 está confinado mayoritariamente en el núcleo al igual que el modo TM0, aunque este está menos confinado. Además, los modos TE1 y TM1 apenas se propagan por el núcleo.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65A65A2-C103-8A2F-6C83-8FF92A8661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3745" y="1052230"/>
            <a:ext cx="2814909" cy="1894462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87646738-C4D6-330B-5385-717DD58775C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05200" y="1052230"/>
            <a:ext cx="2814909" cy="1894462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62F9AE3D-8F9E-A4FB-5CE5-F94ADAFC2ED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94174" y="1018447"/>
            <a:ext cx="2956476" cy="2004391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7FFEB3A3-2CC6-A22D-9EF4-9CA22486E40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77354" y="1023402"/>
            <a:ext cx="2978817" cy="1963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15774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656EC-E197-239C-60DD-C11F7BA4B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431EA70-9578-8BF1-5A05-77CDC2678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Wavelength behavior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Wavelength 1.5-1.6 µm (step 0.01 µm) – width 1.2 µm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A02C28-9CC3-6E88-B695-04A48E5FDE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B7F118F-AD79-0ED0-CE53-A8EE4409B4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846C9D-3FE3-8524-3349-96E1AD1712B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A5F0FDF-2A95-453B-4ECA-AEB637FF2694}"/>
              </a:ext>
            </a:extLst>
          </p:cNvPr>
          <p:cNvSpPr txBox="1"/>
          <p:nvPr/>
        </p:nvSpPr>
        <p:spPr>
          <a:xfrm>
            <a:off x="609441" y="4800600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En ambas guías se observa que, a menor longitud de onda, mayor índice efectivo, por lo que el confinamiento de la energía en el núcleo es mayor. Por el contrario, a mayor longitud de onda, el índice efectivo disminuye, ya que el modo se extiende más hacia la cubierta y el índice efectivo se mantiene siempre entre ambos valores, siendo menor que el del núcleo y mayor que el de la cubierta. 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Además, la guía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Shallow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presenta un comportamiento multimodo, ya que permite la propagación de los modos 0, 1, 2 y 3, mientras que la guía Deep, debido a su menor confinamiento, soporta los modos 0 y 1.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8F19863-7091-B8CA-F848-DBEA5CEEA027}"/>
              </a:ext>
            </a:extLst>
          </p:cNvPr>
          <p:cNvSpPr/>
          <p:nvPr/>
        </p:nvSpPr>
        <p:spPr>
          <a:xfrm>
            <a:off x="609441" y="1418373"/>
            <a:ext cx="5332571" cy="3204427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1F754A5-65BC-14A3-5F55-75716FFA9027}"/>
              </a:ext>
            </a:extLst>
          </p:cNvPr>
          <p:cNvSpPr/>
          <p:nvPr/>
        </p:nvSpPr>
        <p:spPr>
          <a:xfrm>
            <a:off x="6476841" y="1418373"/>
            <a:ext cx="5332571" cy="3204427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A5FCE10-F85E-E45E-E752-D26F646E54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8364" y="1600200"/>
            <a:ext cx="4801846" cy="2801077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BABF327B-1BF1-588E-49A6-E98509B487B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5800" y="1600201"/>
            <a:ext cx="5186993" cy="2801076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96A4DBF1-CE9B-9558-4A6B-24174CFFE9B4}"/>
              </a:ext>
            </a:extLst>
          </p:cNvPr>
          <p:cNvSpPr txBox="1"/>
          <p:nvPr/>
        </p:nvSpPr>
        <p:spPr>
          <a:xfrm>
            <a:off x="680049" y="4269479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slab = 150nm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71235600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#3 – Width dependence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Width 0.6 - 1.6 µm (step 0.1 µm) – Wavelength 1.55 µm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860334"/>
            <a:ext cx="11199971" cy="1015663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observa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mayor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anchura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distintos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Destacando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mayor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confinamiento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TE,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debido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componente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principal del campo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eléctrico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eje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x (Ex),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extiende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lo ancho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EF5BFDA-8EC1-8C73-A932-F36C4DB93C73}"/>
              </a:ext>
            </a:extLst>
          </p:cNvPr>
          <p:cNvSpPr txBox="1"/>
          <p:nvPr/>
        </p:nvSpPr>
        <p:spPr>
          <a:xfrm>
            <a:off x="2286000" y="2671278"/>
            <a:ext cx="77185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  <p:pic>
        <p:nvPicPr>
          <p:cNvPr id="9" name="Imagen 8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84A2167B-2F20-7988-627B-52805E9CA6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5678" y="1472023"/>
            <a:ext cx="5520643" cy="3213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1174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A0F9-B230-D9FC-3CE7-03BD08CF5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394400B4-EE16-8E85-AB54-E82FE3B293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3978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Waveguide compact model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- Find the compact models of the following waveguides: </a:t>
            </a:r>
            <a:br>
              <a:rPr lang="en-US" b="0" dirty="0"/>
            </a:br>
            <a:r>
              <a:rPr lang="en-US" dirty="0"/>
              <a:t>Deep</a:t>
            </a:r>
            <a:r>
              <a:rPr lang="en-US" b="0" dirty="0"/>
              <a:t> waveguide, h=300nm, w=1.2um   - </a:t>
            </a:r>
            <a:r>
              <a:rPr lang="en-US" dirty="0"/>
              <a:t>Shallow</a:t>
            </a:r>
            <a:r>
              <a:rPr lang="en-US" b="0" dirty="0"/>
              <a:t> waveguide, core h=300nm, slab h=150 nm, w = 1.2um </a:t>
            </a:r>
            <a:br>
              <a:rPr lang="en-US" b="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4D53B68D-17ED-7EFB-F2B4-10DA7A772E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9AB8697-C1EE-6E9A-6550-ACA2C3AE663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9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70D4A6C-5B37-EDF5-6242-74B16127E96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/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Find the second-degree polynomial coefficients and relate them with the group index and the dispersion parameter.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2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sz="12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Comment on the results found for the TE0 and TM0 for both deep and shallow waveguides. 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 4">
            <a:extLst>
              <a:ext uri="{FF2B5EF4-FFF2-40B4-BE49-F238E27FC236}">
                <a16:creationId xmlns:a16="http://schemas.microsoft.com/office/drawing/2014/main" id="{A6B92C76-6772-2E00-346F-532321092C04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886628E-6E58-1F7E-B6C6-432B9A228397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/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blipFill>
                <a:blip r:embed="rId7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/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blipFill>
                <a:blip r:embed="rId8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0F38E924-A0E7-A039-C837-916BA77FE89B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0544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#5 – Bend waveguide radius vs. loss – deep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1.2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10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which is the safe radius?, consider safe means less than 0.1 dB/90º.</a:t>
            </a:r>
          </a:p>
          <a:p>
            <a:pPr algn="just"/>
            <a:endParaRPr lang="en-US" sz="12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B5FE8755-B0BF-14B7-64E6-4BBB2560B9A6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31EBD86-BA6C-68C9-2D38-FC8CFBA7ADC4}"/>
              </a:ext>
            </a:extLst>
          </p:cNvPr>
          <p:cNvSpPr txBox="1"/>
          <p:nvPr/>
        </p:nvSpPr>
        <p:spPr>
          <a:xfrm>
            <a:off x="2978141" y="2784355"/>
            <a:ext cx="62357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Total Loss (dB/90º) vs R &amp; neff_TE0 vs R</a:t>
            </a:r>
          </a:p>
        </p:txBody>
      </p:sp>
    </p:spTree>
    <p:extLst>
      <p:ext uri="{BB962C8B-B14F-4D97-AF65-F5344CB8AC3E}">
        <p14:creationId xmlns:p14="http://schemas.microsoft.com/office/powerpoint/2010/main" val="36604382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11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1205</TotalTime>
  <Words>951</Words>
  <Application>Microsoft Office PowerPoint</Application>
  <PresentationFormat>Panorámica</PresentationFormat>
  <Paragraphs>112</Paragraphs>
  <Slides>11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9" baseType="lpstr">
      <vt:lpstr>Aptos</vt:lpstr>
      <vt:lpstr>Arial</vt:lpstr>
      <vt:lpstr>Calibri</vt:lpstr>
      <vt:lpstr>Cambria Math</vt:lpstr>
      <vt:lpstr>Lucida Sans</vt:lpstr>
      <vt:lpstr>Times New Roman</vt:lpstr>
      <vt:lpstr>Wingdings</vt:lpstr>
      <vt:lpstr>Office Theme</vt:lpstr>
      <vt:lpstr>Presentación de PowerPoint</vt:lpstr>
      <vt:lpstr>Instructions General</vt:lpstr>
      <vt:lpstr>Learning outcome #1 – Effective index of a waveguide </vt:lpstr>
      <vt:lpstr>Learning outcome #1.1 – Materials </vt:lpstr>
      <vt:lpstr>Learning outcome #1.2 – Cross - Section </vt:lpstr>
      <vt:lpstr>Learning outcome #1.3 – Simulations</vt:lpstr>
      <vt:lpstr>Learning outcome #2 – Wavelength behavior Wavelength 1.5-1.6 µm (step 0.01 µm) – width 1.2 µm</vt:lpstr>
      <vt:lpstr>Learning outcome #3 – Width dependence Width 0.6 - 1.6 µm (step 0.1 µm) – Wavelength 1.55 µm </vt:lpstr>
      <vt:lpstr>Learning outcome #4 – Waveguide compact model - Find the compact models of the following waveguides:  Deep waveguide, h=300nm, w=1.2um   - Shallow waveguide, core h=300nm, slab h=150 nm, w = 1.2um  </vt:lpstr>
      <vt:lpstr>Learning outcome #5 – Bend waveguide radius vs. loss – deep Find  neff_TE0 for wvl 1.55 µm, width 1.2 µm for R=25,50,75,100, 125,150 µm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Javier Llacer Noha</cp:lastModifiedBy>
  <cp:revision>15</cp:revision>
  <dcterms:created xsi:type="dcterms:W3CDTF">2025-01-27T02:46:57Z</dcterms:created>
  <dcterms:modified xsi:type="dcterms:W3CDTF">2026-03-02T18:51:54Z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
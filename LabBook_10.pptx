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23_DD460EA3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95" r:id="rId3"/>
    <p:sldId id="290" r:id="rId4"/>
    <p:sldId id="298" r:id="rId5"/>
    <p:sldId id="299" r:id="rId6"/>
    <p:sldId id="300" r:id="rId7"/>
    <p:sldId id="291" r:id="rId8"/>
    <p:sldId id="292" r:id="rId9"/>
    <p:sldId id="297" r:id="rId10"/>
    <p:sldId id="293" r:id="rId11"/>
    <p:sldId id="288" r:id="rId12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74DEC91-EE70-822B-0F23-319E662BA817}" name="Javier Llacer Noha" initials="JL" userId="S::JLLANOH@upv.edu.es::201d6fc8-240d-41eb-b5e8-7df2b4e8cd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033" autoAdjust="0"/>
  </p:normalViewPr>
  <p:slideViewPr>
    <p:cSldViewPr>
      <p:cViewPr varScale="1">
        <p:scale>
          <a:sx n="74" d="100"/>
          <a:sy n="74" d="100"/>
        </p:scale>
        <p:origin x="376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omments/modernComment_123_DD460EA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4852C2D-86BB-4E1D-A8D0-A0DBC429D069}" authorId="{D74DEC91-EE70-822B-0F23-319E662BA817}" created="2026-03-02T17:57:21.10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712356003" sldId="291"/>
      <ac:spMk id="2" creationId="{CA5F0FDF-2A95-453B-4ECA-AEB637FF2694}"/>
      <ac:txMk cp="551" len="19">
        <ac:context len="794" hash="3334446828"/>
      </ac:txMk>
    </ac:txMkLst>
    <p188:pos x="1541092" y="1159933"/>
    <p188:txBody>
      <a:bodyPr/>
      <a:lstStyle/>
      <a:p>
        <a:r>
          <a:rPr lang="es-ES"/>
          <a:t>Creemos que está bien pero no lo tenemos claro.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07/03/2026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07/03/2026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9C5B3-0915-7A78-7FAC-C15D96CE1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CDAD810-8C16-5834-5A90-698B9E87F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61CC14A-BDC0-B607-9DF0-6DD39DE69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72BBC2-8BCA-F6E7-CE66-D116438B1E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14240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2D980-1208-E4A8-CCA6-A3A30DB95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9B70B63-DB26-3C65-D2DC-37832B149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5344385-6CA9-AAE1-82C4-4CA008C44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4093E9-54CF-5F22-CAFB-3FA67D484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2486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49BFC-AC4D-984C-19F8-635271A11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5DDD09-3D26-A60C-41C3-EEBC7F4CA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C956AC0-CE8C-CFA4-59D3-6C8108D90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312FED4-2F26-2267-9C84-B1241D8F6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1377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3_DD460EA3.xm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Javier </a:t>
            </a:r>
            <a:r>
              <a:rPr lang="es-ES" spc="165" dirty="0" err="1">
                <a:latin typeface="Arial"/>
                <a:cs typeface="Arial"/>
              </a:rPr>
              <a:t>Llàcer</a:t>
            </a:r>
            <a:r>
              <a:rPr lang="es-ES" spc="165" dirty="0">
                <a:latin typeface="Arial"/>
                <a:cs typeface="Arial"/>
              </a:rPr>
              <a:t> Noha &amp; Miguel Ángel Descalzo Cuevas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Páginas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5554B-67EA-B6F8-D48B-E89C530E7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895021D6-1F41-2F3A-9513-979856223E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#1.1 – Materials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689FD67-3625-76E0-B7F7-D6256B8469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F85D4F2-EF90-6BC0-8E40-FBA6EE764B3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C1B55A1-A9A5-C391-4071-7EA86EAF64C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BEDD745-C961-8871-5B7A-53C72BAFDA1D}"/>
              </a:ext>
            </a:extLst>
          </p:cNvPr>
          <p:cNvSpPr txBox="1"/>
          <p:nvPr/>
        </p:nvSpPr>
        <p:spPr>
          <a:xfrm>
            <a:off x="381000" y="3746858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Las gráficas muestran la variación del índice de refracción (n) en función de la longitud de onda para el silicio, el nitruro de silicio y el dióxido de silicio. En los tres materiales se observa una ligera disminución de n a medida que aumenta la longitud de onda que puede dar lugar a dispersión cromática. Asimismo, se aprecia que cada material presenta un valor de índice de refracción distinto, lo que influye en el confinamiento y la propagación en la guía.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COMENTAR QUE EL SIO2 ES CUBIERTA Y LOS OTROS DOS SON NUCLEO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59ADF897-2A4F-7AAC-55FA-E5B2C77E8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926026"/>
            <a:ext cx="3460630" cy="2696210"/>
          </a:xfrm>
          <a:prstGeom prst="rect">
            <a:avLst/>
          </a:prstGeom>
        </p:spPr>
      </p:pic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664E989-F90C-4CE4-7096-A630A903C6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0" y="926026"/>
            <a:ext cx="3584566" cy="2745753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B1AA1D81-CF0C-4C1E-D83F-AA4C8C94DD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6849" y="910632"/>
            <a:ext cx="3689351" cy="278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00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8FC5-51A5-E519-FF3C-244192A6E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A08153FC-6804-7F8E-265B-A5B63827D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#1.2 – Cross - Section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BAB1CD2-5C6D-6871-F421-A2B3FCDCEC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E9F8AA0F-C575-D859-F0AD-B35A5C1F720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57B873-899A-BCBB-27B7-94F0F808235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358B08F-129E-A3BF-C711-7DFBD318626B}"/>
              </a:ext>
            </a:extLst>
          </p:cNvPr>
          <p:cNvSpPr txBox="1"/>
          <p:nvPr/>
        </p:nvSpPr>
        <p:spPr>
          <a:xfrm>
            <a:off x="381000" y="3746858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las imágenes se muestra la sección cruzada de las guías Deep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respectivamente.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Tx/>
              <a:buChar char="-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la guía Deep las dimensiones son: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1.2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0.3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Tx/>
              <a:buChar char="-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la guía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las dimensiones son: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1.2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0.3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slab_height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0.15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351B7EC1-D5A0-8397-E0E2-C0AC026453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288" y="765509"/>
            <a:ext cx="4015023" cy="2935170"/>
          </a:xfrm>
          <a:prstGeom prst="rect">
            <a:avLst/>
          </a:prstGeom>
        </p:spPr>
      </p:pic>
      <p:pic>
        <p:nvPicPr>
          <p:cNvPr id="8" name="Imagen 7" descr="Gráfico&#10;&#10;El contenido generado por IA puede ser incorrecto.">
            <a:extLst>
              <a:ext uri="{FF2B5EF4-FFF2-40B4-BE49-F238E27FC236}">
                <a16:creationId xmlns:a16="http://schemas.microsoft.com/office/drawing/2014/main" id="{B69B693A-6AFD-210D-F467-AB7C00CE7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648" y="726690"/>
            <a:ext cx="4058289" cy="29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762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BC75-98C8-5092-E7A9-F3E53CF50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2CEE061-4B1B-A03F-2DAE-0F8E49FE71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#1.3 – Simulations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0E5E6A2-5834-3066-5ABD-53F9C3BACE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E29818-720B-4F4D-6653-64C8B4F263D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6B52AF5-5352-3814-820A-67C2CB07F12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9FD84E3-2DC5-745A-C239-60F1257D78AC}"/>
              </a:ext>
            </a:extLst>
          </p:cNvPr>
          <p:cNvSpPr txBox="1"/>
          <p:nvPr/>
        </p:nvSpPr>
        <p:spPr>
          <a:xfrm>
            <a:off x="583019" y="32561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las imágenes se muestra la distribución del campo eléctrico a lo largo de la sección cruzada de una guía Deep para una longitud de onda de 1550 nm para los distintos modos que se propagan TE0, TM0, TE1 y TM1, respectivamente.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Se observa como el modo TE0 está confinado mayoritariamente en el núcleo al igual que el modo TM0, aunque este está menos confinado. Además, los modos TE1 y TM1 apenas se propagan por el núcleo.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COMENTAR QUE EL MODO SE TE DISTRIBUYE EN HORIZONTAL Y EL TM EN VERTICAL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5A65A2-C103-8A2F-6C83-8FF92A8661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745" y="1052230"/>
            <a:ext cx="2814909" cy="189446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7646738-C4D6-330B-5385-717DD58775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05200" y="1052230"/>
            <a:ext cx="2814909" cy="189446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2F9AE3D-8F9E-A4FB-5CE5-F94ADAFC2E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94174" y="1018447"/>
            <a:ext cx="2956476" cy="200439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7FFEB3A3-2CC6-A22D-9EF4-9CA22486E4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77354" y="1023402"/>
            <a:ext cx="2978817" cy="196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577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00600"/>
            <a:ext cx="11199971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ambas guías se observa que, a menor longitud de onda, mayor índice efectivo, por lo que el confinamiento de la energía en el núcleo es mayor. Por el contrario, a mayor longitud de onda, el índice efectivo disminuye, ya que el modo se extiende más hacia la cubierta y el índice efectivo se mantiene siempre entre ambos valores, siendo menor que el del núcleo y mayor que el de la cubierta. 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Además, la guía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presenta un comportamiento multimodo, ya que permite la propagación de los modos 0, 1, 2 y 3, mientras que la guía Deep, debido a su menor confinamiento, soporta los modos 0 y 1.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COMENTAR QUE LA DEEP ES MONOMODO PQ SOLO SE PROPAGAN EL TE0 Y TM0, LA SHALLOW ES MULTIMODO.</a:t>
            </a:r>
          </a:p>
          <a:p>
            <a:pPr algn="just"/>
            <a:r>
              <a:rPr lang="es-E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ENCIMA DEL INDICE DE LA CUBIERTA ES UN MODO GUIADO, POR DEBAJO NO GUIADO PQ SE PROPAGA POR LA CUBIERTA.</a:t>
            </a:r>
            <a:endParaRPr 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2044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2044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A5FCE10-F85E-E45E-E752-D26F646E54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8364" y="1600200"/>
            <a:ext cx="4801846" cy="280107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ABF327B-1BF1-588E-49A6-E98509B487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800" y="1600201"/>
            <a:ext cx="5186993" cy="2801076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96A4DBF1-CE9B-9558-4A6B-24174CFFE9B4}"/>
              </a:ext>
            </a:extLst>
          </p:cNvPr>
          <p:cNvSpPr txBox="1"/>
          <p:nvPr/>
        </p:nvSpPr>
        <p:spPr>
          <a:xfrm>
            <a:off x="680049" y="4269479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1.0 WAVEGUIDES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distintos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Destacando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componente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principal del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eléctrico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x (Ex),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extiende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lo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COMENTAR: MONOMODO HASTA UN VALOR DE W Y LUEGO MULTIMODO.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4A2167B-2F20-7988-627B-52805E9CA6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5678" y="1472023"/>
            <a:ext cx="5520643" cy="3213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440F587-93A3-E474-C0B0-883BB9DAFD85}"/>
              </a:ext>
            </a:extLst>
          </p:cNvPr>
          <p:cNvSpPr txBox="1"/>
          <p:nvPr/>
        </p:nvSpPr>
        <p:spPr>
          <a:xfrm>
            <a:off x="609441" y="4419600"/>
            <a:ext cx="5562759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Deep </a:t>
            </a:r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waveguide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effective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1.6049166291026744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1.9399909008100613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-1006.6987866611223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/(km*nm)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effective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1.5271892343288158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1.772025347866792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-1590.6948234078707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/(km*nm)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29718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2966289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3B53A3E9-3AD7-5990-85BC-58F21A532B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4082" y="1476375"/>
            <a:ext cx="3690924" cy="2915574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37B6F8FA-9C3C-702C-F051-432029EC98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0712" y="1476434"/>
            <a:ext cx="3695781" cy="291941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C42190F-CE2B-55BE-B54C-B246857FD9A0}"/>
              </a:ext>
            </a:extLst>
          </p:cNvPr>
          <p:cNvSpPr txBox="1"/>
          <p:nvPr/>
        </p:nvSpPr>
        <p:spPr>
          <a:xfrm>
            <a:off x="6248400" y="4419600"/>
            <a:ext cx="5562759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waveguide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effective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1.6240906297465494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1.9157617116967773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-989.5411991927712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/(km*nm)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effective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1.5361017569770001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1.751028636956494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-1013.1548259425633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/(km*nm)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7368598-976A-BC09-D873-88BA744122EA}"/>
              </a:ext>
            </a:extLst>
          </p:cNvPr>
          <p:cNvSpPr txBox="1"/>
          <p:nvPr/>
        </p:nvSpPr>
        <p:spPr>
          <a:xfrm>
            <a:off x="609440" y="5843132"/>
            <a:ext cx="1119854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rgbClr val="FF0000"/>
                </a:solidFill>
              </a:rPr>
              <a:t>Comment on the results found for the TE0 and TM0 for both deep and shallow waveguides. </a:t>
            </a:r>
            <a:endParaRPr lang="es-E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8D6361A-60D6-D762-4EEC-7D6415611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0" y="1739453"/>
            <a:ext cx="3429000" cy="270867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06F18D7-4C12-4E46-4877-EE4E7B6B59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0725" y="1606918"/>
            <a:ext cx="3817274" cy="292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1352</TotalTime>
  <Words>1104</Words>
  <Application>Microsoft Office PowerPoint</Application>
  <PresentationFormat>Panorámica</PresentationFormat>
  <Paragraphs>124</Paragraphs>
  <Slides>11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#1.1 – Materials </vt:lpstr>
      <vt:lpstr>Learning outcome #1.2 – Cross - Section </vt:lpstr>
      <vt:lpstr>Learning outcome #1.3 – Simulations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Javier Llacer Noha</cp:lastModifiedBy>
  <cp:revision>19</cp:revision>
  <dcterms:created xsi:type="dcterms:W3CDTF">2025-01-27T02:46:57Z</dcterms:created>
  <dcterms:modified xsi:type="dcterms:W3CDTF">2026-03-07T08:46:46Z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
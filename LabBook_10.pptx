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0"/>
  </p:notesMasterIdLst>
  <p:handoutMasterIdLst>
    <p:handoutMasterId r:id="rId11"/>
  </p:handoutMasterIdLst>
  <p:sldIdLst>
    <p:sldId id="256" r:id="rId2"/>
    <p:sldId id="295" r:id="rId3"/>
    <p:sldId id="290" r:id="rId4"/>
    <p:sldId id="291" r:id="rId5"/>
    <p:sldId id="292" r:id="rId6"/>
    <p:sldId id="297" r:id="rId7"/>
    <p:sldId id="293" r:id="rId8"/>
    <p:sldId id="288" r:id="rId9"/>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p:scale>
          <a:sx n="75" d="100"/>
          <a:sy n="75" d="100"/>
        </p:scale>
        <p:origin x="680" y="1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17/02/2026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17/02/2026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3.png"/><Relationship Id="rId7" Type="http://schemas.openxmlformats.org/officeDocument/2006/relationships/image" Target="NUL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579646"/>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Javier </a:t>
            </a:r>
            <a:r>
              <a:rPr lang="es-ES" spc="165" dirty="0" err="1">
                <a:latin typeface="Arial"/>
                <a:cs typeface="Arial"/>
              </a:rPr>
              <a:t>Llàcer</a:t>
            </a:r>
            <a:r>
              <a:rPr lang="es-ES" spc="165" dirty="0">
                <a:latin typeface="Arial"/>
                <a:cs typeface="Arial"/>
              </a:rPr>
              <a:t> Noha &amp; Miguel Ángel Descalzo Cuevas</a:t>
            </a:r>
          </a:p>
          <a:p>
            <a:pPr marL="12700">
              <a:lnSpc>
                <a:spcPct val="100000"/>
              </a:lnSpc>
              <a:spcBef>
                <a:spcPts val="100"/>
              </a:spcBef>
            </a:pP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https://github.com/cccanvas-upv/cifoin-lab1.git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Effective index of a waveguide</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materials, output, results.</a:t>
            </a:r>
          </a:p>
          <a:p>
            <a:pPr marL="342900" indent="-342900" algn="just">
              <a:buFont typeface="Arial" panose="020B0604020202020204" pitchFamily="34" charset="0"/>
              <a:buChar char="•"/>
            </a:pPr>
            <a:r>
              <a:rPr lang="en-US" sz="2000" dirty="0"/>
              <a:t>Explain how to run a simulation for a particular cross-section. </a:t>
            </a:r>
          </a:p>
          <a:p>
            <a:pPr marL="342900" indent="-342900" algn="just">
              <a:buFont typeface="Arial" panose="020B0604020202020204" pitchFamily="34" charset="0"/>
              <a:buChar char="•"/>
            </a:pPr>
            <a:r>
              <a:rPr lang="en-US" sz="2000" dirty="0"/>
              <a:t>Showcase how to change between shallow and deep waveguide.</a:t>
            </a:r>
          </a:p>
          <a:p>
            <a:pPr marL="342900" indent="-342900" algn="just">
              <a:buFont typeface="Arial" panose="020B0604020202020204" pitchFamily="34" charset="0"/>
              <a:buChar char="•"/>
            </a:pPr>
            <a:r>
              <a:rPr lang="en-US" sz="2000" dirty="0"/>
              <a:t>Describe how to change the wavelength and width for the waveguide analysis.</a:t>
            </a:r>
          </a:p>
          <a:p>
            <a:pPr marL="342900" indent="-342900" algn="just">
              <a:buFont typeface="Arial" panose="020B0604020202020204" pitchFamily="34" charset="0"/>
              <a:buChar char="•"/>
            </a:pPr>
            <a:r>
              <a:rPr lang="en-US" sz="2000" dirty="0"/>
              <a:t>Describe the outputs.</a:t>
            </a:r>
          </a:p>
          <a:p>
            <a:pPr marL="0" indent="0" algn="just">
              <a:buNone/>
            </a:pPr>
            <a:r>
              <a:rPr lang="en-US" sz="2000" b="1" dirty="0"/>
              <a:t>ALL EXAMPLE #1: </a:t>
            </a:r>
            <a:r>
              <a:rPr lang="en-US" sz="2000" dirty="0"/>
              <a:t>waveguide width 1.2 µm, deep </a:t>
            </a:r>
            <a:r>
              <a:rPr lang="en-US" sz="2000" dirty="0" err="1"/>
              <a:t>wvg</a:t>
            </a:r>
            <a:r>
              <a:rPr lang="en-US" sz="2000" dirty="0"/>
              <a:t>, wavelength start and end same 1.55 µm </a:t>
            </a:r>
            <a:r>
              <a:rPr lang="en-US" sz="2000" dirty="0">
                <a:sym typeface="Wingdings" pitchFamily="2" charset="2"/>
              </a:rPr>
              <a:t> all ”Run”</a:t>
            </a:r>
            <a:endParaRPr lang="en-US" sz="2000" dirty="0"/>
          </a:p>
          <a:p>
            <a:pPr marL="0" indent="0" algn="just">
              <a:buNone/>
            </a:pPr>
            <a:r>
              <a:rPr lang="en-US" sz="2000" b="1" dirty="0"/>
              <a:t>ALL: </a:t>
            </a:r>
            <a:r>
              <a:rPr lang="en-US" sz="2000" dirty="0"/>
              <a:t>Follow</a:t>
            </a:r>
            <a:r>
              <a:rPr lang="en-US" sz="2000" b="1" dirty="0"/>
              <a:t> </a:t>
            </a:r>
            <a:r>
              <a:rPr lang="en-US" sz="2000" dirty="0"/>
              <a:t>instructor, that will show how to 1) plot mode, 2) explore the results (neff …)</a:t>
            </a:r>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(neff, plot fields </a:t>
            </a:r>
            <a:r>
              <a:rPr lang="en-US" sz="1200">
                <a:latin typeface="Arial" panose="020B0604020202020204" pitchFamily="34" charset="0"/>
                <a:cs typeface="Arial" panose="020B0604020202020204" pitchFamily="34" charset="0"/>
              </a:rPr>
              <a:t>of different modes, </a:t>
            </a:r>
            <a:r>
              <a:rPr lang="en-US" sz="1200" dirty="0">
                <a:latin typeface="Arial" panose="020B0604020202020204" pitchFamily="34" charset="0"/>
                <a:cs typeface="Arial" panose="020B0604020202020204" pitchFamily="34" charset="0"/>
              </a:rPr>
              <a:t>comparison between </a:t>
            </a:r>
            <a:r>
              <a:rPr lang="en-US" sz="1200">
                <a:latin typeface="Arial" panose="020B0604020202020204" pitchFamily="34" charset="0"/>
                <a:cs typeface="Arial" panose="020B0604020202020204" pitchFamily="34" charset="0"/>
              </a:rPr>
              <a:t>different polarizations…)</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a:t>
            </a:r>
            <a:br>
              <a:rPr lang="es-ES" sz="2500" spc="-5" dirty="0">
                <a:latin typeface="+mj-lt"/>
                <a:cs typeface="Lucida Sans"/>
              </a:rPr>
            </a:br>
            <a:r>
              <a:rPr lang="en-US" b="0" dirty="0"/>
              <a:t>Wavelength 1.5-1.6 µm (step 0.01 µm) – width 1.2 µm</a:t>
            </a: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(neff changes this way with wavelength, comparison between different waveguide cross-sections …</a:t>
            </a:r>
            <a:r>
              <a:rPr lang="en-US" sz="1200" dirty="0" err="1">
                <a:latin typeface="Arial" panose="020B0604020202020204" pitchFamily="34" charset="0"/>
                <a:cs typeface="Arial" panose="020B0604020202020204" pitchFamily="34" charset="0"/>
              </a:rPr>
              <a:t>etc</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ambas guías se observa que, a mayor frecuencia (es decir, a menor longitud de onda), el confinamiento de la energía en el núcleo es mayor, lo que se refleja en un incremento del índice efectivo. Por el contrario, al aumentar la longitud de onda, el índice efectivo disminuye. -&gt; relacionarlo con el índice efectivo del núcleo es mayor que el índice efectivo de la cubierta.</a:t>
            </a:r>
          </a:p>
          <a:p>
            <a:pPr algn="just"/>
            <a:endParaRPr lang="es-E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se observa la propagación de los modos 0, 1, 2 y 3 a través del núcleo, lo que indica un comportamiento multimodo. En cambio, en la guía Deep únicamente se propagan los modos 0 y 1, mostrando un menor número de modos soportados debido a su diferente sección transversal y mayor confinamiento.</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Imagen 3">
            <a:extLst>
              <a:ext uri="{FF2B5EF4-FFF2-40B4-BE49-F238E27FC236}">
                <a16:creationId xmlns:a16="http://schemas.microsoft.com/office/drawing/2014/main" id="{3A5FCE10-F85E-E45E-E752-D26F646E54A6}"/>
              </a:ext>
            </a:extLst>
          </p:cNvPr>
          <p:cNvPicPr>
            <a:picLocks noChangeAspect="1"/>
          </p:cNvPicPr>
          <p:nvPr/>
        </p:nvPicPr>
        <p:blipFill>
          <a:blip r:embed="rId5"/>
          <a:stretch>
            <a:fillRect/>
          </a:stretch>
        </p:blipFill>
        <p:spPr>
          <a:xfrm>
            <a:off x="6622061" y="1600200"/>
            <a:ext cx="5181600" cy="3022600"/>
          </a:xfrm>
          <a:prstGeom prst="rect">
            <a:avLst/>
          </a:prstGeom>
        </p:spPr>
      </p:pic>
      <p:pic>
        <p:nvPicPr>
          <p:cNvPr id="10" name="Imagen 9">
            <a:extLst>
              <a:ext uri="{FF2B5EF4-FFF2-40B4-BE49-F238E27FC236}">
                <a16:creationId xmlns:a16="http://schemas.microsoft.com/office/drawing/2014/main" id="{BABF327B-1BF1-588E-49A6-E98509B487BF}"/>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85800" y="1600200"/>
            <a:ext cx="5186993" cy="3025745"/>
          </a:xfrm>
          <a:prstGeom prst="rect">
            <a:avLst/>
          </a:prstGeom>
        </p:spPr>
      </p:pic>
      <p:sp>
        <p:nvSpPr>
          <p:cNvPr id="11" name="CuadroTexto 10">
            <a:extLst>
              <a:ext uri="{FF2B5EF4-FFF2-40B4-BE49-F238E27FC236}">
                <a16:creationId xmlns:a16="http://schemas.microsoft.com/office/drawing/2014/main" id="{96A4DBF1-CE9B-9558-4A6B-24174CFFE9B4}"/>
              </a:ext>
            </a:extLst>
          </p:cNvPr>
          <p:cNvSpPr txBox="1"/>
          <p:nvPr/>
        </p:nvSpPr>
        <p:spPr>
          <a:xfrm>
            <a:off x="642989" y="4402885"/>
            <a:ext cx="2269787" cy="369332"/>
          </a:xfrm>
          <a:prstGeom prst="rect">
            <a:avLst/>
          </a:prstGeom>
          <a:noFill/>
        </p:spPr>
        <p:txBody>
          <a:bodyPr wrap="square">
            <a:spAutoFit/>
          </a:bodyPr>
          <a:lstStyle/>
          <a:p>
            <a:r>
              <a:rPr lang="en-US" dirty="0"/>
              <a:t>slab = 150nm</a:t>
            </a:r>
            <a:endParaRPr lang="es-ES" dirty="0"/>
          </a:p>
        </p:txBody>
      </p:sp>
    </p:spTree>
    <p:extLst>
      <p:ext uri="{BB962C8B-B14F-4D97-AF65-F5344CB8AC3E}">
        <p14:creationId xmlns:p14="http://schemas.microsoft.com/office/powerpoint/2010/main" val="37123560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(neff changes this way with width, polarization behavior, </a:t>
            </a:r>
            <a:r>
              <a:rPr lang="en-US" sz="1200" dirty="0" err="1">
                <a:latin typeface="Arial" panose="020B0604020202020204" pitchFamily="34" charset="0"/>
                <a:cs typeface="Arial" panose="020B0604020202020204" pitchFamily="34" charset="0"/>
              </a:rPr>
              <a:t>etc</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plot here</a:t>
            </a:r>
          </a:p>
        </p:txBody>
      </p:sp>
    </p:spTree>
    <p:extLst>
      <p:ext uri="{BB962C8B-B14F-4D97-AF65-F5344CB8AC3E}">
        <p14:creationId xmlns:p14="http://schemas.microsoft.com/office/powerpoint/2010/main" val="2900117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   - </a:t>
            </a:r>
            <a:r>
              <a:rPr lang="en-US" dirty="0"/>
              <a:t>Shallow</a:t>
            </a:r>
            <a:r>
              <a:rPr lang="en-US" b="0" dirty="0"/>
              <a:t> waveguide, core h=300nm, slab h=150 nm, w = 1.2um </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440F587-93A3-E474-C0B0-883BB9DAFD85}"/>
                  </a:ext>
                </a:extLst>
              </p:cNvPr>
              <p:cNvSpPr txBox="1"/>
              <p:nvPr/>
            </p:nvSpPr>
            <p:spPr>
              <a:xfrm>
                <a:off x="609441" y="4860334"/>
                <a:ext cx="11198542" cy="1361911"/>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Find the second-degree polynomial coefficients and relate them with the group index and the dispersion parameter. </a:t>
                </a:r>
                <a14:m>
                  <m:oMath xmlns:m="http://schemas.openxmlformats.org/officeDocument/2006/math">
                    <m:d>
                      <m:dPr>
                        <m:begChr m:val="{"/>
                        <m:endChr m:val=""/>
                        <m:ctrlPr>
                          <a:rPr lang="es-ES" sz="1200" b="0" i="1" smtClean="0">
                            <a:latin typeface="Cambria Math" panose="02040503050406030204" pitchFamily="18" charset="0"/>
                            <a:cs typeface="Arial" panose="020B0604020202020204" pitchFamily="34" charset="0"/>
                          </a:rPr>
                        </m:ctrlPr>
                      </m:dPr>
                      <m:e>
                        <m:eqArr>
                          <m:eqArrPr>
                            <m:ctrlPr>
                              <a:rPr lang="es-ES" sz="1200" b="0" i="1" smtClean="0">
                                <a:latin typeface="Cambria Math" panose="02040503050406030204" pitchFamily="18" charset="0"/>
                                <a:cs typeface="Arial" panose="020B0604020202020204" pitchFamily="34" charset="0"/>
                              </a:rPr>
                            </m:ctrlPr>
                          </m:eqArrPr>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𝑒𝑓𝑓</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e>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𝑔</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2</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e>
                          <m:e>
                            <m:r>
                              <a:rPr lang="es-ES" sz="1200" b="0" i="1" smtClean="0">
                                <a:latin typeface="Cambria Math" panose="02040503050406030204" pitchFamily="18" charset="0"/>
                                <a:cs typeface="Arial" panose="020B0604020202020204" pitchFamily="34" charset="0"/>
                              </a:rPr>
                              <m:t>𝐷</m:t>
                            </m:r>
                            <m:r>
                              <a:rPr lang="es-ES" sz="1200" b="0" i="1" smtClean="0">
                                <a:latin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cs typeface="Arial" panose="020B0604020202020204" pitchFamily="34" charset="0"/>
                                  </a:rPr>
                                  <m:t>2</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3</m:t>
                                    </m:r>
                                  </m:sub>
                                </m:sSub>
                              </m:num>
                              <m:den>
                                <m:r>
                                  <a:rPr lang="es-ES" sz="1200" b="0" i="1" smtClean="0">
                                    <a:latin typeface="Cambria Math" panose="02040503050406030204" pitchFamily="18" charset="0"/>
                                    <a:cs typeface="Arial" panose="020B0604020202020204" pitchFamily="34" charset="0"/>
                                  </a:rPr>
                                  <m:t>𝑐</m:t>
                                </m:r>
                              </m:den>
                            </m:f>
                            <m:d>
                              <m:dPr>
                                <m:begChr m:val="["/>
                                <m:endChr m:val="]"/>
                                <m:ctrlPr>
                                  <a:rPr lang="es-ES" sz="1200" b="0" i="1" smtClean="0">
                                    <a:latin typeface="Cambria Math" panose="02040503050406030204" pitchFamily="18" charset="0"/>
                                    <a:cs typeface="Arial" panose="020B0604020202020204" pitchFamily="34" charset="0"/>
                                  </a:rPr>
                                </m:ctrlPr>
                              </m:dPr>
                              <m:e>
                                <m:f>
                                  <m:fPr>
                                    <m:ctrlPr>
                                      <a:rPr lang="es-ES" sz="1200" b="0" i="1" smtClean="0">
                                        <a:latin typeface="Cambria Math" panose="02040503050406030204" pitchFamily="18" charset="0"/>
                                        <a:cs typeface="Arial" panose="020B0604020202020204" pitchFamily="34" charset="0"/>
                                      </a:rPr>
                                    </m:ctrlPr>
                                  </m:fPr>
                                  <m:num>
                                    <m:sSup>
                                      <m:sSupPr>
                                        <m:ctrlPr>
                                          <a:rPr lang="es-ES" sz="1200" b="0" i="1" smtClean="0">
                                            <a:latin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cs typeface="Arial" panose="020B0604020202020204" pitchFamily="34" charset="0"/>
                                          </a:rPr>
                                          <m:t>𝑠</m:t>
                                        </m:r>
                                      </m:e>
                                      <m:sup>
                                        <m:r>
                                          <a:rPr lang="es-ES" sz="1200" b="0" i="1" smtClean="0">
                                            <a:latin typeface="Cambria Math" panose="02040503050406030204" pitchFamily="18" charset="0"/>
                                            <a:cs typeface="Arial" panose="020B0604020202020204" pitchFamily="34" charset="0"/>
                                          </a:rPr>
                                          <m:t>2</m:t>
                                        </m:r>
                                      </m:sup>
                                    </m:sSup>
                                  </m:num>
                                  <m:den>
                                    <m:r>
                                      <a:rPr lang="es-ES" sz="1200" b="0" i="1" smtClean="0">
                                        <a:latin typeface="Cambria Math" panose="02040503050406030204" pitchFamily="18" charset="0"/>
                                        <a:cs typeface="Arial" panose="020B0604020202020204" pitchFamily="34" charset="0"/>
                                      </a:rPr>
                                      <m:t>𝑚</m:t>
                                    </m:r>
                                  </m:den>
                                </m:f>
                              </m:e>
                            </m:d>
                          </m:e>
                        </m:eqArr>
                      </m:e>
                    </m:d>
                  </m:oMath>
                </a14:m>
                <a:endParaRPr lang="es-ES" sz="1200" b="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Comment on the results found for the TE0 and TM0 for both deep and shallow waveguides. </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440F587-93A3-E474-C0B0-883BB9DAFD85}"/>
                  </a:ext>
                </a:extLst>
              </p:cNvPr>
              <p:cNvSpPr txBox="1">
                <a:spLocks noRot="1" noChangeAspect="1" noMove="1" noResize="1" noEditPoints="1" noAdjustHandles="1" noChangeArrowheads="1" noChangeShapeType="1" noTextEdit="1"/>
              </p:cNvSpPr>
              <p:nvPr/>
            </p:nvSpPr>
            <p:spPr>
              <a:xfrm>
                <a:off x="609441" y="4860334"/>
                <a:ext cx="11198542" cy="1361911"/>
              </a:xfrm>
              <a:prstGeom prst="rect">
                <a:avLst/>
              </a:prstGeom>
              <a:blipFill>
                <a:blip r:embed="rId6"/>
                <a:stretch>
                  <a:fillRect/>
                </a:stretch>
              </a:blipFill>
              <a:ln w="28575">
                <a:solidFill>
                  <a:srgbClr val="E0700D"/>
                </a:solidFill>
              </a:ln>
            </p:spPr>
            <p:txBody>
              <a:bodyPr/>
              <a:lstStyle/>
              <a:p>
                <a:r>
                  <a:rPr lang="es-ES">
                    <a:noFill/>
                  </a:rPr>
                  <a:t> </a:t>
                </a:r>
              </a:p>
            </p:txBody>
          </p:sp>
        </mc:Fallback>
      </mc:AlternateContent>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59B6428-4395-242F-54D8-A9FC610F2D7A}"/>
                  </a:ext>
                </a:extLst>
              </p:cNvPr>
              <p:cNvSpPr txBox="1"/>
              <p:nvPr/>
            </p:nvSpPr>
            <p:spPr>
              <a:xfrm>
                <a:off x="609440" y="2709096"/>
                <a:ext cx="5486559" cy="1200329"/>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b="1" dirty="0"/>
                  <a:t>neff_TE0 vs </a:t>
                </a:r>
                <a14:m>
                  <m:oMath xmlns:m="http://schemas.openxmlformats.org/officeDocument/2006/math">
                    <m:r>
                      <a:rPr lang="es-ES" b="1" i="1" smtClean="0">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9" name="CuadroTexto 8">
                <a:extLst>
                  <a:ext uri="{FF2B5EF4-FFF2-40B4-BE49-F238E27FC236}">
                    <a16:creationId xmlns:a16="http://schemas.microsoft.com/office/drawing/2014/main" id="{C59B6428-4395-242F-54D8-A9FC610F2D7A}"/>
                  </a:ext>
                </a:extLst>
              </p:cNvPr>
              <p:cNvSpPr txBox="1">
                <a:spLocks noRot="1" noChangeAspect="1" noMove="1" noResize="1" noEditPoints="1" noAdjustHandles="1" noChangeArrowheads="1" noChangeShapeType="1" noTextEdit="1"/>
              </p:cNvSpPr>
              <p:nvPr/>
            </p:nvSpPr>
            <p:spPr>
              <a:xfrm>
                <a:off x="609440" y="2709096"/>
                <a:ext cx="5486559" cy="1200329"/>
              </a:xfrm>
              <a:prstGeom prst="rect">
                <a:avLst/>
              </a:prstGeom>
              <a:blipFill>
                <a:blip r:embed="rId7"/>
                <a:stretch>
                  <a:fillRect t="-2538" r="-556" b="-710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320AF78-1FC6-19F4-8E0B-8A414F20C6DE}"/>
                  </a:ext>
                </a:extLst>
              </p:cNvPr>
              <p:cNvSpPr txBox="1"/>
              <p:nvPr/>
            </p:nvSpPr>
            <p:spPr>
              <a:xfrm>
                <a:off x="6321421" y="2709096"/>
                <a:ext cx="5486559"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b="1" dirty="0"/>
                  <a:t>neff_TE0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10" name="CuadroTexto 9">
                <a:extLst>
                  <a:ext uri="{FF2B5EF4-FFF2-40B4-BE49-F238E27FC236}">
                    <a16:creationId xmlns:a16="http://schemas.microsoft.com/office/drawing/2014/main" id="{9320AF78-1FC6-19F4-8E0B-8A414F20C6DE}"/>
                  </a:ext>
                </a:extLst>
              </p:cNvPr>
              <p:cNvSpPr txBox="1">
                <a:spLocks noRot="1" noChangeAspect="1" noMove="1" noResize="1" noEditPoints="1" noAdjustHandles="1" noChangeArrowheads="1" noChangeShapeType="1" noTextEdit="1"/>
              </p:cNvSpPr>
              <p:nvPr/>
            </p:nvSpPr>
            <p:spPr>
              <a:xfrm>
                <a:off x="6321421" y="2709096"/>
                <a:ext cx="5486559" cy="1200329"/>
              </a:xfrm>
              <a:prstGeom prst="rect">
                <a:avLst/>
              </a:prstGeom>
              <a:blipFill>
                <a:blip r:embed="rId8"/>
                <a:stretch>
                  <a:fillRect t="-2538" r="-556" b="-7107"/>
                </a:stretch>
              </a:blipFill>
            </p:spPr>
            <p:txBody>
              <a:bodyPr/>
              <a:lstStyle/>
              <a:p>
                <a:r>
                  <a:rPr lang="es-ES">
                    <a:noFill/>
                  </a:rPr>
                  <a:t> </a:t>
                </a:r>
              </a:p>
            </p:txBody>
          </p:sp>
        </mc:Fallback>
      </mc:AlternateContent>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0544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#5 – Bend waveguide radius vs. loss – deep</a:t>
            </a:r>
            <a:br>
              <a:rPr lang="en-US" sz="2500" dirty="0"/>
            </a:br>
            <a:r>
              <a:rPr lang="en-US" b="0" dirty="0"/>
              <a:t>Find  neff_TE0 for </a:t>
            </a:r>
            <a:r>
              <a:rPr lang="en-US" b="0" dirty="0" err="1"/>
              <a:t>wvl</a:t>
            </a:r>
            <a:r>
              <a:rPr lang="en-US" b="0" dirty="0"/>
              <a:t> 1.55 µm, width 1.2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B5FE8755-B0BF-14B7-64E6-4BBB2560B9A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331EBD86-BA6C-68C9-2D38-FC8CFBA7ADC4}"/>
              </a:ext>
            </a:extLst>
          </p:cNvPr>
          <p:cNvSpPr txBox="1"/>
          <p:nvPr/>
        </p:nvSpPr>
        <p:spPr>
          <a:xfrm>
            <a:off x="2978141" y="2784355"/>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Total Loss (dB/90º) vs R &amp; neff_TE0 vs R</a:t>
            </a:r>
          </a:p>
        </p:txBody>
      </p:sp>
    </p:spTree>
    <p:extLst>
      <p:ext uri="{BB962C8B-B14F-4D97-AF65-F5344CB8AC3E}">
        <p14:creationId xmlns:p14="http://schemas.microsoft.com/office/powerpoint/2010/main" val="3660438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1063</TotalTime>
  <Words>669</Words>
  <Application>Microsoft Office PowerPoint</Application>
  <PresentationFormat>Panorámica</PresentationFormat>
  <Paragraphs>95</Paragraphs>
  <Slides>8</Slides>
  <Notes>5</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8</vt:i4>
      </vt:variant>
    </vt:vector>
  </HeadingPairs>
  <TitlesOfParts>
    <vt:vector size="16"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Learning outcome #1 – Effective index of a waveguide </vt:lpstr>
      <vt:lpstr>Learning outcome #2 – Wavelength behavior Wavelength 1.5-1.6 µm (step 0.01 µm) – width 1.2 µm</vt:lpstr>
      <vt:lpstr>Learning outcome #3 – Width dependence Width 0.6 - 1.6 µm (step 0.1 µm) – Wavelength 1.55 µm </vt:lpstr>
      <vt:lpstr>Learning outcome #4 – Waveguide compact model - Find the compact models of the following waveguides:  Deep waveguide, h=300nm, w=1.2um   - Shallow waveguide, core h=300nm, slab h=150 nm, w = 1.2um  </vt:lpstr>
      <vt:lpstr>Learning outcome #5 – Bend waveguide radius vs. loss – deep Find  neff_TE0 for wvl 1.55 µm, width 1.2 µm for R=25,50,75,100, 125,150 µm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Javier Llacer Noha</cp:lastModifiedBy>
  <cp:revision>12</cp:revision>
  <dcterms:created xsi:type="dcterms:W3CDTF">2025-01-27T02:46:57Z</dcterms:created>
  <dcterms:modified xsi:type="dcterms:W3CDTF">2026-02-17T13:05:05Z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
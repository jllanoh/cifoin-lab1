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23_DD460EA3.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7"/>
  </p:notesMasterIdLst>
  <p:handoutMasterIdLst>
    <p:handoutMasterId r:id="rId18"/>
  </p:handoutMasterIdLst>
  <p:sldIdLst>
    <p:sldId id="256" r:id="rId2"/>
    <p:sldId id="295" r:id="rId3"/>
    <p:sldId id="290" r:id="rId4"/>
    <p:sldId id="298" r:id="rId5"/>
    <p:sldId id="299" r:id="rId6"/>
    <p:sldId id="300" r:id="rId7"/>
    <p:sldId id="291" r:id="rId8"/>
    <p:sldId id="292" r:id="rId9"/>
    <p:sldId id="297" r:id="rId10"/>
    <p:sldId id="293" r:id="rId11"/>
    <p:sldId id="301" r:id="rId12"/>
    <p:sldId id="302" r:id="rId13"/>
    <p:sldId id="303" r:id="rId14"/>
    <p:sldId id="304" r:id="rId15"/>
    <p:sldId id="288" r:id="rId16"/>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74DEC91-EE70-822B-0F23-319E662BA817}" name="Javier Llacer Noha" initials="JL" userId="S::JLLANOH@upv.edu.es::201d6fc8-240d-41eb-b5e8-7df2b4e8cd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p:cViewPr varScale="1">
        <p:scale>
          <a:sx n="111" d="100"/>
          <a:sy n="111" d="100"/>
        </p:scale>
        <p:origin x="594" y="9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omments/modernComment_123_DD460EA3.xml><?xml version="1.0" encoding="utf-8"?>
<p188:cmLst xmlns:a="http://schemas.openxmlformats.org/drawingml/2006/main" xmlns:r="http://schemas.openxmlformats.org/officeDocument/2006/relationships" xmlns:p188="http://schemas.microsoft.com/office/powerpoint/2018/8/main">
  <p188:cm id="{94852C2D-86BB-4E1D-A8D0-A0DBC429D069}" authorId="{D74DEC91-EE70-822B-0F23-319E662BA817}" created="2026-03-02T17:57:21.107">
    <ac:txMkLst xmlns:ac="http://schemas.microsoft.com/office/drawing/2013/main/command">
      <pc:docMk xmlns:pc="http://schemas.microsoft.com/office/powerpoint/2013/main/command"/>
      <pc:sldMk xmlns:pc="http://schemas.microsoft.com/office/powerpoint/2013/main/command" cId="3712356003" sldId="291"/>
      <ac:spMk id="2" creationId="{CA5F0FDF-2A95-453B-4ECA-AEB637FF2694}"/>
      <ac:txMk cp="641">
        <ac:context len="1042" hash="1794452772"/>
      </ac:txMk>
    </ac:txMkLst>
    <p188:pos x="1541092" y="1159933"/>
    <p188:txBody>
      <a:bodyPr/>
      <a:lstStyle/>
      <a:p>
        <a:r>
          <a:rPr lang="es-ES"/>
          <a:t>Creemos que está bien pero no lo tenemos claro.</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07/03/2026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07/03/2026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C5B3-0915-7A78-7FAC-C15D96CE165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CDAD810-8C16-5834-5A90-698B9E87F8E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61CC14A-BDC0-B607-9DF0-6DD39DE6952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72BBC2-8BCA-F6E7-CE66-D116438B1EFC}"/>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6142408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D980-1208-E4A8-CCA6-A3A30DB952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B70B63-DB26-3C65-D2DC-37832B149D5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344385-6CA9-AAE1-82C4-4CA008C44D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F4093E9-54CF-5F22-CAFB-3FA67D4846B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8224860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49BFC-AC4D-984C-19F8-635271A11CA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5DDD09-3D26-A60C-41C3-EEBC7F4CA84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956AC0-CE8C-CFA4-59D3-6C8108D90A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312FED4-2F26-2267-9C84-B1241D8F624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4513775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372A6-6C95-E4D4-BF5C-B643A29942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CA5B3AE-FFEA-66C4-12E9-861082361B6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1FF9E9-532D-BE68-1E4F-4E86497D4B0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024E5AF-CFAF-AABF-8D97-2F2BE50E7C8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0066422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2C07F-E18C-9CA1-2FE6-7E5EB7B80A6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BA0930-6213-7538-A132-6A68027218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38A00DA-25FA-4704-3696-91386D80804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8998A66-5D98-A9ED-6975-5A39135A37B3}"/>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374306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2CC8-05DB-4691-975B-5CB4F6F7222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E0BA263-33B5-7053-6336-32E95591781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C1ACDD5-0C09-CF66-497D-1725738EE0D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9F05E02-6563-E17B-67B8-CBA0BE8A22D0}"/>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072001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F883C-2214-83DE-A46F-0B4499EEAD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44840D-1C40-39C0-A29B-92A9DEDB14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E00F841-88B5-28D2-B8AD-7572489A856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D20CB20-0871-B81E-C209-7CB477169152}"/>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9416259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microsoft.com/office/2018/10/relationships/comments" Target="../comments/modernComment_123_DD460EA3.xml"/><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Javier </a:t>
            </a:r>
            <a:r>
              <a:rPr lang="es-ES" spc="165" dirty="0" err="1">
                <a:latin typeface="Arial"/>
                <a:cs typeface="Arial"/>
              </a:rPr>
              <a:t>Llàcer</a:t>
            </a:r>
            <a:r>
              <a:rPr lang="es-ES" spc="165" dirty="0">
                <a:latin typeface="Arial"/>
                <a:cs typeface="Arial"/>
              </a:rPr>
              <a:t> Noha &amp; Miguel Ángel Descalzo Cuevas</a:t>
            </a:r>
          </a:p>
          <a:p>
            <a:pPr marL="12700">
              <a:lnSpc>
                <a:spcPct val="100000"/>
              </a:lnSpc>
              <a:spcBef>
                <a:spcPts val="100"/>
              </a:spcBef>
            </a:pP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r>
              <a:rPr lang="en-US" sz="1200" dirty="0" err="1">
                <a:latin typeface="Arial" panose="020B0604020202020204" pitchFamily="34" charset="0"/>
                <a:cs typeface="Arial" panose="020B0604020202020204" pitchFamily="34" charset="0"/>
              </a:rPr>
              <a:t>Páginas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5554B-67EA-B6F8-D48B-E89C530E7D1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95021D6-1F41-2F3A-9513-979856223ED9}"/>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#1.1 – Materials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689FD67-3625-76E0-B7F7-D6256B84693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85D4F2-EF90-6BC0-8E40-FBA6EE764B3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C1B55A1-A9A5-C391-4071-7EA86EAF64C0}"/>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BEDD745-C961-8871-5B7A-53C72BAFDA1D}"/>
              </a:ext>
            </a:extLst>
          </p:cNvPr>
          <p:cNvSpPr txBox="1"/>
          <p:nvPr/>
        </p:nvSpPr>
        <p:spPr>
          <a:xfrm>
            <a:off x="381000" y="3746858"/>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Las gráficas muestran la variación del índice de refracción (n) en función de la longitud de onda para el silicio (Si), el nitruro de silicio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y el dióxido de silicio (SiO2). En los tres materiales se observa una ligera disminución de n a medida que aumenta la longitud de onda que puede dar lugar a dispersión cromática. Asimismo, se aprecia que cada material presenta un valor de índice de refracción distinto, lo que influye en el confinamiento y la propagación en la guía.</a:t>
            </a:r>
          </a:p>
          <a:p>
            <a:pPr algn="just"/>
            <a:endParaRPr lang="es-ES" sz="1200" dirty="0">
              <a:latin typeface="Arial" panose="020B0604020202020204" pitchFamily="34" charset="0"/>
              <a:cs typeface="Arial" panose="020B0604020202020204" pitchFamily="34" charset="0"/>
            </a:endParaRPr>
          </a:p>
          <a:p>
            <a:pPr algn="just"/>
            <a:r>
              <a:rPr lang="es-ES" sz="1200" dirty="0">
                <a:highlight>
                  <a:srgbClr val="FFFF00"/>
                </a:highlight>
                <a:latin typeface="Arial" panose="020B0604020202020204" pitchFamily="34" charset="0"/>
                <a:cs typeface="Arial" panose="020B0604020202020204" pitchFamily="34" charset="0"/>
              </a:rPr>
              <a:t>En concreto, los materiales Si y </a:t>
            </a:r>
            <a:r>
              <a:rPr lang="es-ES" sz="1200" dirty="0" err="1">
                <a:highlight>
                  <a:srgbClr val="FFFF00"/>
                </a:highlight>
                <a:latin typeface="Arial" panose="020B0604020202020204" pitchFamily="34" charset="0"/>
                <a:cs typeface="Arial" panose="020B0604020202020204" pitchFamily="34" charset="0"/>
              </a:rPr>
              <a:t>SiNx</a:t>
            </a:r>
            <a:r>
              <a:rPr lang="es-ES" sz="1200" dirty="0">
                <a:highlight>
                  <a:srgbClr val="FFFF00"/>
                </a:highlight>
                <a:latin typeface="Arial" panose="020B0604020202020204" pitchFamily="34" charset="0"/>
                <a:cs typeface="Arial" panose="020B0604020202020204" pitchFamily="34" charset="0"/>
              </a:rPr>
              <a:t> se van a usar como núcleo y el SiO2 como cubierta en esta práctica.</a:t>
            </a:r>
          </a:p>
          <a:p>
            <a:pPr algn="just"/>
            <a:endParaRPr lang="es-ES" sz="1200" dirty="0">
              <a:latin typeface="Arial" panose="020B0604020202020204" pitchFamily="34" charset="0"/>
              <a:cs typeface="Arial" panose="020B0604020202020204" pitchFamily="34" charset="0"/>
            </a:endParaRPr>
          </a:p>
        </p:txBody>
      </p:sp>
      <p:pic>
        <p:nvPicPr>
          <p:cNvPr id="7" name="Imagen 6" descr="Gráfico, Gráfico de líneas&#10;&#10;El contenido generado por IA puede ser incorrecto.">
            <a:extLst>
              <a:ext uri="{FF2B5EF4-FFF2-40B4-BE49-F238E27FC236}">
                <a16:creationId xmlns:a16="http://schemas.microsoft.com/office/drawing/2014/main" id="{59ADF897-2A4F-7AAC-55FA-E5B2C77E8011}"/>
              </a:ext>
            </a:extLst>
          </p:cNvPr>
          <p:cNvPicPr>
            <a:picLocks noChangeAspect="1"/>
          </p:cNvPicPr>
          <p:nvPr/>
        </p:nvPicPr>
        <p:blipFill>
          <a:blip r:embed="rId5"/>
          <a:stretch>
            <a:fillRect/>
          </a:stretch>
        </p:blipFill>
        <p:spPr>
          <a:xfrm>
            <a:off x="685800" y="926026"/>
            <a:ext cx="3460630" cy="2696210"/>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6664E989-F90C-4CE4-7096-A630A903C6F0}"/>
              </a:ext>
            </a:extLst>
          </p:cNvPr>
          <p:cNvPicPr>
            <a:picLocks noChangeAspect="1"/>
          </p:cNvPicPr>
          <p:nvPr/>
        </p:nvPicPr>
        <p:blipFill>
          <a:blip r:embed="rId6"/>
          <a:stretch>
            <a:fillRect/>
          </a:stretch>
        </p:blipFill>
        <p:spPr>
          <a:xfrm>
            <a:off x="4191000" y="926026"/>
            <a:ext cx="3584566" cy="2745753"/>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B1AA1D81-CF0C-4C1E-D83F-AA4C8C94DDB7}"/>
              </a:ext>
            </a:extLst>
          </p:cNvPr>
          <p:cNvPicPr>
            <a:picLocks noChangeAspect="1"/>
          </p:cNvPicPr>
          <p:nvPr/>
        </p:nvPicPr>
        <p:blipFill>
          <a:blip r:embed="rId7"/>
          <a:stretch>
            <a:fillRect/>
          </a:stretch>
        </p:blipFill>
        <p:spPr>
          <a:xfrm>
            <a:off x="7816849" y="910632"/>
            <a:ext cx="3689351" cy="2788464"/>
          </a:xfrm>
          <a:prstGeom prst="rect">
            <a:avLst/>
          </a:prstGeom>
        </p:spPr>
      </p:pic>
    </p:spTree>
    <p:extLst>
      <p:ext uri="{BB962C8B-B14F-4D97-AF65-F5344CB8AC3E}">
        <p14:creationId xmlns:p14="http://schemas.microsoft.com/office/powerpoint/2010/main" val="1116100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E8FC5-51A5-E519-FF3C-244192A6E3C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08153FC-6804-7F8E-265B-A5B63827D06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#1.2 – Cross - Section</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BAB1CD2-5C6D-6871-F421-A2B3FCDCEC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9F8AA0F-C575-D859-F0AD-B35A5C1F720C}"/>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3B57B873-899A-BCBB-27B7-94F0F808235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358B08F-129E-A3BF-C711-7DFBD318626B}"/>
              </a:ext>
            </a:extLst>
          </p:cNvPr>
          <p:cNvSpPr txBox="1"/>
          <p:nvPr/>
        </p:nvSpPr>
        <p:spPr>
          <a:xfrm>
            <a:off x="381000" y="3746858"/>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sección cruzada de las guías Deep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respectivamente.</a:t>
            </a:r>
          </a:p>
          <a:p>
            <a:pPr algn="just"/>
            <a:endParaRPr lang="es-ES" sz="1200" dirty="0">
              <a:latin typeface="Arial" panose="020B0604020202020204" pitchFamily="34" charset="0"/>
              <a:cs typeface="Arial" panose="020B0604020202020204" pitchFamily="34" charset="0"/>
            </a:endParaRPr>
          </a:p>
          <a:p>
            <a:pPr marL="171450" indent="-171450" algn="just">
              <a:buFontTx/>
              <a:buChar char="-"/>
            </a:pPr>
            <a:r>
              <a:rPr lang="es-ES" sz="1200" dirty="0">
                <a:latin typeface="Arial" panose="020B0604020202020204" pitchFamily="34" charset="0"/>
                <a:cs typeface="Arial" panose="020B0604020202020204" pitchFamily="34" charset="0"/>
              </a:rPr>
              <a:t>Para la guía Deep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pPr marL="171450" indent="-171450" algn="just">
              <a:buFontTx/>
              <a:buChar char="-"/>
            </a:pPr>
            <a:r>
              <a:rPr lang="es-ES" sz="1200" dirty="0">
                <a:latin typeface="Arial" panose="020B0604020202020204" pitchFamily="34" charset="0"/>
                <a:cs typeface="Arial" panose="020B0604020202020204" pitchFamily="34" charset="0"/>
              </a:rPr>
              <a:t>Para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slab_height</a:t>
            </a:r>
            <a:r>
              <a:rPr lang="es-ES" sz="1200" dirty="0">
                <a:latin typeface="Arial" panose="020B0604020202020204" pitchFamily="34" charset="0"/>
                <a:cs typeface="Arial" panose="020B0604020202020204" pitchFamily="34" charset="0"/>
              </a:rPr>
              <a:t> = 0.15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p>
          <a:p>
            <a:pPr algn="just"/>
            <a:endParaRPr lang="es-ES" sz="1200" dirty="0">
              <a:latin typeface="Arial" panose="020B0604020202020204" pitchFamily="34" charset="0"/>
              <a:cs typeface="Arial" panose="020B0604020202020204" pitchFamily="34" charset="0"/>
            </a:endParaRPr>
          </a:p>
        </p:txBody>
      </p:sp>
      <p:pic>
        <p:nvPicPr>
          <p:cNvPr id="4" name="Imagen 3" descr="Gráfico&#10;&#10;El contenido generado por IA puede ser incorrecto.">
            <a:extLst>
              <a:ext uri="{FF2B5EF4-FFF2-40B4-BE49-F238E27FC236}">
                <a16:creationId xmlns:a16="http://schemas.microsoft.com/office/drawing/2014/main" id="{351B7EC1-D5A0-8397-E0E2-C0AC026453F8}"/>
              </a:ext>
            </a:extLst>
          </p:cNvPr>
          <p:cNvPicPr>
            <a:picLocks noChangeAspect="1"/>
          </p:cNvPicPr>
          <p:nvPr/>
        </p:nvPicPr>
        <p:blipFill>
          <a:blip r:embed="rId5"/>
          <a:stretch>
            <a:fillRect/>
          </a:stretch>
        </p:blipFill>
        <p:spPr>
          <a:xfrm>
            <a:off x="1345288" y="765509"/>
            <a:ext cx="4015023" cy="2935170"/>
          </a:xfrm>
          <a:prstGeom prst="rect">
            <a:avLst/>
          </a:prstGeom>
        </p:spPr>
      </p:pic>
      <p:pic>
        <p:nvPicPr>
          <p:cNvPr id="8" name="Imagen 7" descr="Gráfico&#10;&#10;El contenido generado por IA puede ser incorrecto.">
            <a:extLst>
              <a:ext uri="{FF2B5EF4-FFF2-40B4-BE49-F238E27FC236}">
                <a16:creationId xmlns:a16="http://schemas.microsoft.com/office/drawing/2014/main" id="{B69B693A-6AFD-210D-F467-AB7C00CE7CB9}"/>
              </a:ext>
            </a:extLst>
          </p:cNvPr>
          <p:cNvPicPr>
            <a:picLocks noChangeAspect="1"/>
          </p:cNvPicPr>
          <p:nvPr/>
        </p:nvPicPr>
        <p:blipFill>
          <a:blip r:embed="rId6"/>
          <a:stretch>
            <a:fillRect/>
          </a:stretch>
        </p:blipFill>
        <p:spPr>
          <a:xfrm>
            <a:off x="6220648" y="726690"/>
            <a:ext cx="4058289" cy="2966800"/>
          </a:xfrm>
          <a:prstGeom prst="rect">
            <a:avLst/>
          </a:prstGeom>
        </p:spPr>
      </p:pic>
    </p:spTree>
    <p:extLst>
      <p:ext uri="{BB962C8B-B14F-4D97-AF65-F5344CB8AC3E}">
        <p14:creationId xmlns:p14="http://schemas.microsoft.com/office/powerpoint/2010/main" val="632762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CBC75-98C8-5092-E7A9-F3E53CF502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2CEE061-4B1B-A03F-2DAE-0F8E49FE715B}"/>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#1.3 – Simulations</a:t>
            </a:r>
            <a:endParaRPr sz="2500" b="0" dirty="0">
              <a:latin typeface="+mj-lt"/>
              <a:cs typeface="Lucida Sans"/>
            </a:endParaRPr>
          </a:p>
        </p:txBody>
      </p:sp>
      <p:pic>
        <p:nvPicPr>
          <p:cNvPr id="83" name="Gráfico 82">
            <a:extLst>
              <a:ext uri="{FF2B5EF4-FFF2-40B4-BE49-F238E27FC236}">
                <a16:creationId xmlns:a16="http://schemas.microsoft.com/office/drawing/2014/main" id="{F0E5E6A2-5834-3066-5ABD-53F9C3BACE5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6E29818-720B-4F4D-6653-64C8B4F263DE}"/>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D6B52AF5-5352-3814-820A-67C2CB07F12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59FD84E3-2DC5-745A-C239-60F1257D78AC}"/>
              </a:ext>
            </a:extLst>
          </p:cNvPr>
          <p:cNvSpPr txBox="1"/>
          <p:nvPr/>
        </p:nvSpPr>
        <p:spPr>
          <a:xfrm>
            <a:off x="583019" y="32561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distribución del campo eléctrico a lo largo de la sección cruzada de una guía Deep para una longitud de onda de 1550 nm para los distintos modos que se propagan TE0, TM0, TE1 y TM1, respectivamente.</a:t>
            </a:r>
          </a:p>
          <a:p>
            <a:pPr algn="just"/>
            <a:endParaRPr lang="es-ES" sz="1200" dirty="0">
              <a:latin typeface="Arial" panose="020B0604020202020204" pitchFamily="34" charset="0"/>
              <a:cs typeface="Arial" panose="020B0604020202020204" pitchFamily="34" charset="0"/>
            </a:endParaRPr>
          </a:p>
          <a:p>
            <a:pPr algn="just"/>
            <a:r>
              <a:rPr lang="es-ES" sz="1200" dirty="0">
                <a:highlight>
                  <a:srgbClr val="FFFF00"/>
                </a:highlight>
                <a:latin typeface="Arial" panose="020B0604020202020204" pitchFamily="34" charset="0"/>
                <a:cs typeface="Arial" panose="020B0604020202020204" pitchFamily="34" charset="0"/>
              </a:rPr>
              <a:t>Se observa como, en general, los modos TE se distribuyen en horizontal y los TM en vertical.</a:t>
            </a:r>
            <a:r>
              <a:rPr lang="es-ES" sz="1200" dirty="0">
                <a:latin typeface="Arial" panose="020B0604020202020204" pitchFamily="34" charset="0"/>
                <a:cs typeface="Arial" panose="020B0604020202020204" pitchFamily="34" charset="0"/>
              </a:rPr>
              <a:t> De esta forma, el modo TE0 está confinado mayoritariamente en el núcleo, al igual que el modo TM0, aunque este está menos confinado. Además, los modos TE1 y TM1 apenas se propagan por el núcleo.</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highlight>
                  <a:srgbClr val="FFFF00"/>
                </a:highlight>
                <a:latin typeface="Arial" panose="020B0604020202020204" pitchFamily="34" charset="0"/>
                <a:cs typeface="Arial" panose="020B0604020202020204" pitchFamily="34" charset="0"/>
              </a:rPr>
              <a:t>COMENTAR QUE EL MODO SE TE DISTRIBUYE EN HORIZONTAL Y EL TM EN VERTICAL</a:t>
            </a:r>
          </a:p>
        </p:txBody>
      </p:sp>
      <p:pic>
        <p:nvPicPr>
          <p:cNvPr id="6" name="Imagen 5">
            <a:extLst>
              <a:ext uri="{FF2B5EF4-FFF2-40B4-BE49-F238E27FC236}">
                <a16:creationId xmlns:a16="http://schemas.microsoft.com/office/drawing/2014/main" id="{E65A65A2-C103-8A2F-6C83-8FF92A8661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73745" y="1052230"/>
            <a:ext cx="2814909" cy="1894462"/>
          </a:xfrm>
          <a:prstGeom prst="rect">
            <a:avLst/>
          </a:prstGeom>
        </p:spPr>
      </p:pic>
      <p:pic>
        <p:nvPicPr>
          <p:cNvPr id="9" name="Imagen 8">
            <a:extLst>
              <a:ext uri="{FF2B5EF4-FFF2-40B4-BE49-F238E27FC236}">
                <a16:creationId xmlns:a16="http://schemas.microsoft.com/office/drawing/2014/main" id="{87646738-C4D6-330B-5385-717DD58775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505200" y="1052230"/>
            <a:ext cx="2814909" cy="1894462"/>
          </a:xfrm>
          <a:prstGeom prst="rect">
            <a:avLst/>
          </a:prstGeom>
        </p:spPr>
      </p:pic>
      <p:pic>
        <p:nvPicPr>
          <p:cNvPr id="11" name="Imagen 10">
            <a:extLst>
              <a:ext uri="{FF2B5EF4-FFF2-40B4-BE49-F238E27FC236}">
                <a16:creationId xmlns:a16="http://schemas.microsoft.com/office/drawing/2014/main" id="{62F9AE3D-8F9E-A4FB-5CE5-F94ADAFC2ED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94174" y="1018447"/>
            <a:ext cx="2956476" cy="2004391"/>
          </a:xfrm>
          <a:prstGeom prst="rect">
            <a:avLst/>
          </a:prstGeom>
        </p:spPr>
      </p:pic>
      <p:pic>
        <p:nvPicPr>
          <p:cNvPr id="13" name="Imagen 12">
            <a:extLst>
              <a:ext uri="{FF2B5EF4-FFF2-40B4-BE49-F238E27FC236}">
                <a16:creationId xmlns:a16="http://schemas.microsoft.com/office/drawing/2014/main" id="{7FFEB3A3-2CC6-A22D-9EF4-9CA22486E404}"/>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977354" y="1023402"/>
            <a:ext cx="2978817" cy="1963999"/>
          </a:xfrm>
          <a:prstGeom prst="rect">
            <a:avLst/>
          </a:prstGeom>
        </p:spPr>
      </p:pic>
    </p:spTree>
    <p:extLst>
      <p:ext uri="{BB962C8B-B14F-4D97-AF65-F5344CB8AC3E}">
        <p14:creationId xmlns:p14="http://schemas.microsoft.com/office/powerpoint/2010/main" val="1701577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00600"/>
            <a:ext cx="11199971" cy="1938992"/>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ambas guías se observa que, a menor longitud de onda, mayor índice efectivo, por lo que el confinamiento de la energía en el núcleo es mayor. Por el contrario, a mayor longitud de onda, el índice efectivo disminuye, ya que el modo se extiende más hacia la cubierta y el índice efectivo se mantiene siempre entre ambos valores, siendo menor que el del núcleo y mayor que el de la cubierta. </a:t>
            </a:r>
          </a:p>
          <a:p>
            <a:pPr algn="just"/>
            <a:endParaRPr lang="es-ES" sz="1200" dirty="0">
              <a:latin typeface="Arial" panose="020B0604020202020204" pitchFamily="34" charset="0"/>
              <a:cs typeface="Arial" panose="020B0604020202020204" pitchFamily="34" charset="0"/>
            </a:endParaRPr>
          </a:p>
          <a:p>
            <a:pPr algn="just"/>
            <a:r>
              <a:rPr lang="es-ES" sz="1200" dirty="0">
                <a:highlight>
                  <a:srgbClr val="FFFF00"/>
                </a:highlight>
                <a:latin typeface="Arial" panose="020B0604020202020204" pitchFamily="34" charset="0"/>
                <a:cs typeface="Arial" panose="020B0604020202020204" pitchFamily="34" charset="0"/>
              </a:rPr>
              <a:t>Teniendo esto en cuenta, se observa como la guía </a:t>
            </a:r>
            <a:r>
              <a:rPr lang="es-ES" sz="1200" dirty="0" err="1">
                <a:highlight>
                  <a:srgbClr val="FFFF00"/>
                </a:highlight>
                <a:latin typeface="Arial" panose="020B0604020202020204" pitchFamily="34" charset="0"/>
                <a:cs typeface="Arial" panose="020B0604020202020204" pitchFamily="34" charset="0"/>
              </a:rPr>
              <a:t>Shallow</a:t>
            </a:r>
            <a:r>
              <a:rPr lang="es-ES" sz="1200" dirty="0">
                <a:highlight>
                  <a:srgbClr val="FFFF00"/>
                </a:highlight>
                <a:latin typeface="Arial" panose="020B0604020202020204" pitchFamily="34" charset="0"/>
                <a:cs typeface="Arial" panose="020B0604020202020204" pitchFamily="34" charset="0"/>
              </a:rPr>
              <a:t> presenta un comportamiento multimodo, ya que permite la propagación de los modos guiados 0, 1, 2 y 3, que corresponden a los TE0, TE1, TM0 y TE2, respectivamente. Mientras que la guía Deep, soporta la propagación de los modos guiados 0 y 1, que corresponden a los TE0 y TM0, lo que indica que se comporta como monomodo, ya que los modos 2 y 3 son no guiados porque se propagan por la cubierta.</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highlight>
                  <a:srgbClr val="FFFF00"/>
                </a:highlight>
                <a:latin typeface="Arial" panose="020B0604020202020204" pitchFamily="34" charset="0"/>
                <a:cs typeface="Arial" panose="020B0604020202020204" pitchFamily="34" charset="0"/>
              </a:rPr>
              <a:t>COMENTAR QUE LA DEEP ES MONOMODO PQ SOLO SE PROPAGAN EL TE0 Y TM0, LA SHALLOW ES MULTIMODO.</a:t>
            </a:r>
          </a:p>
          <a:p>
            <a:pPr algn="just"/>
            <a:r>
              <a:rPr lang="es-ES" sz="1200" dirty="0">
                <a:solidFill>
                  <a:srgbClr val="FF0000"/>
                </a:solidFill>
                <a:highlight>
                  <a:srgbClr val="FFFF00"/>
                </a:highlight>
                <a:latin typeface="Arial" panose="020B0604020202020204" pitchFamily="34" charset="0"/>
                <a:cs typeface="Arial" panose="020B0604020202020204" pitchFamily="34" charset="0"/>
              </a:rPr>
              <a:t>ENCIMA DEL INDICE DE LA CUBIERTA ES UN MODO GUIADO, POR DEBAJO NO GUIADO PQ SE PROPAGA POR LA CUBIERTA.</a:t>
            </a:r>
            <a:endParaRPr lang="en-US" sz="1200" dirty="0">
              <a:solidFill>
                <a:srgbClr val="FF0000"/>
              </a:solidFill>
              <a:highlight>
                <a:srgbClr val="FFFF00"/>
              </a:highlight>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a:extLst>
              <a:ext uri="{FF2B5EF4-FFF2-40B4-BE49-F238E27FC236}">
                <a16:creationId xmlns:a16="http://schemas.microsoft.com/office/drawing/2014/main" id="{3A5FCE10-F85E-E45E-E752-D26F646E54A6}"/>
              </a:ext>
            </a:extLst>
          </p:cNvPr>
          <p:cNvPicPr>
            <a:picLocks noChangeAspect="1"/>
          </p:cNvPicPr>
          <p:nvPr/>
        </p:nvPicPr>
        <p:blipFill>
          <a:blip r:embed="rId6"/>
          <a:stretch>
            <a:fillRect/>
          </a:stretch>
        </p:blipFill>
        <p:spPr>
          <a:xfrm>
            <a:off x="6878364" y="1600200"/>
            <a:ext cx="4801846" cy="2801077"/>
          </a:xfrm>
          <a:prstGeom prst="rect">
            <a:avLst/>
          </a:prstGeom>
        </p:spPr>
      </p:pic>
      <p:pic>
        <p:nvPicPr>
          <p:cNvPr id="10" name="Imagen 9">
            <a:extLst>
              <a:ext uri="{FF2B5EF4-FFF2-40B4-BE49-F238E27FC236}">
                <a16:creationId xmlns:a16="http://schemas.microsoft.com/office/drawing/2014/main" id="{BABF327B-1BF1-588E-49A6-E98509B487BF}"/>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85800" y="1600201"/>
            <a:ext cx="5186993" cy="2801076"/>
          </a:xfrm>
          <a:prstGeom prst="rect">
            <a:avLst/>
          </a:prstGeom>
        </p:spPr>
      </p:pic>
      <p:sp>
        <p:nvSpPr>
          <p:cNvPr id="11" name="CuadroTexto 10">
            <a:extLst>
              <a:ext uri="{FF2B5EF4-FFF2-40B4-BE49-F238E27FC236}">
                <a16:creationId xmlns:a16="http://schemas.microsoft.com/office/drawing/2014/main" id="{96A4DBF1-CE9B-9558-4A6B-24174CFFE9B4}"/>
              </a:ext>
            </a:extLst>
          </p:cNvPr>
          <p:cNvSpPr txBox="1"/>
          <p:nvPr/>
        </p:nvSpPr>
        <p:spPr>
          <a:xfrm>
            <a:off x="680049" y="4269479"/>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3712356003"/>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 mayor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Destacando</a:t>
            </a:r>
            <a:r>
              <a:rPr lang="en-US" sz="1200" dirty="0">
                <a:latin typeface="Arial" panose="020B0604020202020204" pitchFamily="34" charset="0"/>
                <a:cs typeface="Arial" panose="020B0604020202020204" pitchFamily="34" charset="0"/>
              </a:rPr>
              <a:t> un mayor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componente</a:t>
            </a:r>
            <a:r>
              <a:rPr lang="en-US" sz="1200" dirty="0">
                <a:latin typeface="Arial" panose="020B0604020202020204" pitchFamily="34" charset="0"/>
                <a:cs typeface="Arial" panose="020B0604020202020204" pitchFamily="34" charset="0"/>
              </a:rPr>
              <a:t> principal del campo </a:t>
            </a:r>
            <a:r>
              <a:rPr lang="en-US" sz="1200" dirty="0" err="1">
                <a:latin typeface="Arial" panose="020B0604020202020204" pitchFamily="34" charset="0"/>
                <a:cs typeface="Arial" panose="020B0604020202020204" pitchFamily="34" charset="0"/>
              </a:rPr>
              <a:t>eléctrico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x (Ex),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extiende</a:t>
            </a:r>
            <a:r>
              <a:rPr lang="en-US" sz="1200" dirty="0">
                <a:latin typeface="Arial" panose="020B0604020202020204" pitchFamily="34" charset="0"/>
                <a:cs typeface="Arial" panose="020B0604020202020204" pitchFamily="34" charset="0"/>
              </a:rPr>
              <a:t> a lo ancho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horizontal).</a:t>
            </a:r>
          </a:p>
          <a:p>
            <a:pPr algn="just"/>
            <a:endParaRPr lang="en-US" sz="1200" dirty="0">
              <a:latin typeface="Arial" panose="020B0604020202020204" pitchFamily="34" charset="0"/>
              <a:cs typeface="Arial" panose="020B0604020202020204" pitchFamily="34" charset="0"/>
            </a:endParaRPr>
          </a:p>
          <a:p>
            <a:pPr algn="just"/>
            <a:r>
              <a:rPr lang="en-US" sz="1200" dirty="0" err="1">
                <a:highlight>
                  <a:srgbClr val="FFFF00"/>
                </a:highlight>
                <a:latin typeface="Arial" panose="020B0604020202020204" pitchFamily="34" charset="0"/>
                <a:cs typeface="Arial" panose="020B0604020202020204" pitchFamily="34" charset="0"/>
              </a:rPr>
              <a:t>Debido</a:t>
            </a:r>
            <a:r>
              <a:rPr lang="en-US" sz="1200" dirty="0">
                <a:highlight>
                  <a:srgbClr val="FFFF00"/>
                </a:highlight>
                <a:latin typeface="Arial" panose="020B0604020202020204" pitchFamily="34" charset="0"/>
                <a:cs typeface="Arial" panose="020B0604020202020204" pitchFamily="34" charset="0"/>
              </a:rPr>
              <a:t> a </a:t>
            </a:r>
            <a:r>
              <a:rPr lang="en-US" sz="1200" dirty="0" err="1">
                <a:highlight>
                  <a:srgbClr val="FFFF00"/>
                </a:highlight>
                <a:latin typeface="Arial" panose="020B0604020202020204" pitchFamily="34" charset="0"/>
                <a:cs typeface="Arial" panose="020B0604020202020204" pitchFamily="34" charset="0"/>
              </a:rPr>
              <a:t>este</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aumento</a:t>
            </a:r>
            <a:r>
              <a:rPr lang="en-US" sz="1200" dirty="0">
                <a:highlight>
                  <a:srgbClr val="FFFF00"/>
                </a:highlight>
                <a:latin typeface="Arial" panose="020B0604020202020204" pitchFamily="34" charset="0"/>
                <a:cs typeface="Arial" panose="020B0604020202020204" pitchFamily="34" charset="0"/>
              </a:rPr>
              <a:t>, se produce un </a:t>
            </a:r>
            <a:r>
              <a:rPr lang="en-US" sz="1200" dirty="0" err="1">
                <a:highlight>
                  <a:srgbClr val="FFFF00"/>
                </a:highlight>
                <a:latin typeface="Arial" panose="020B0604020202020204" pitchFamily="34" charset="0"/>
                <a:cs typeface="Arial" panose="020B0604020202020204" pitchFamily="34" charset="0"/>
              </a:rPr>
              <a:t>cambio</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en</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el</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comportamiento</a:t>
            </a:r>
            <a:r>
              <a:rPr lang="en-US" sz="1200" dirty="0">
                <a:highlight>
                  <a:srgbClr val="FFFF00"/>
                </a:highlight>
                <a:latin typeface="Arial" panose="020B0604020202020204" pitchFamily="34" charset="0"/>
                <a:cs typeface="Arial" panose="020B0604020202020204" pitchFamily="34" charset="0"/>
              </a:rPr>
              <a:t> de la </a:t>
            </a:r>
            <a:r>
              <a:rPr lang="en-US" sz="1200" dirty="0" err="1">
                <a:highlight>
                  <a:srgbClr val="FFFF00"/>
                </a:highlight>
                <a:latin typeface="Arial" panose="020B0604020202020204" pitchFamily="34" charset="0"/>
                <a:cs typeface="Arial" panose="020B0604020202020204" pitchFamily="34" charset="0"/>
              </a:rPr>
              <a:t>guía</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aproximadamente</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en</a:t>
            </a:r>
            <a:r>
              <a:rPr lang="en-US" sz="1200" dirty="0">
                <a:highlight>
                  <a:srgbClr val="FFFF00"/>
                </a:highlight>
                <a:latin typeface="Arial" panose="020B0604020202020204" pitchFamily="34" charset="0"/>
                <a:cs typeface="Arial" panose="020B0604020202020204" pitchFamily="34" charset="0"/>
              </a:rPr>
              <a:t> un ancho de 1,27 um, a </a:t>
            </a:r>
            <a:r>
              <a:rPr lang="en-US" sz="1200" dirty="0" err="1">
                <a:highlight>
                  <a:srgbClr val="FFFF00"/>
                </a:highlight>
                <a:latin typeface="Arial" panose="020B0604020202020204" pitchFamily="34" charset="0"/>
                <a:cs typeface="Arial" panose="020B0604020202020204" pitchFamily="34" charset="0"/>
              </a:rPr>
              <a:t>partir</a:t>
            </a:r>
            <a:r>
              <a:rPr lang="en-US" sz="1200" dirty="0">
                <a:highlight>
                  <a:srgbClr val="FFFF00"/>
                </a:highlight>
                <a:latin typeface="Arial" panose="020B0604020202020204" pitchFamily="34" charset="0"/>
                <a:cs typeface="Arial" panose="020B0604020202020204" pitchFamily="34" charset="0"/>
              </a:rPr>
              <a:t> del </a:t>
            </a:r>
            <a:r>
              <a:rPr lang="en-US" sz="1200" dirty="0" err="1">
                <a:highlight>
                  <a:srgbClr val="FFFF00"/>
                </a:highlight>
                <a:latin typeface="Arial" panose="020B0604020202020204" pitchFamily="34" charset="0"/>
                <a:cs typeface="Arial" panose="020B0604020202020204" pitchFamily="34" charset="0"/>
              </a:rPr>
              <a:t>cual</a:t>
            </a:r>
            <a:r>
              <a:rPr lang="en-US" sz="1200" dirty="0">
                <a:highlight>
                  <a:srgbClr val="FFFF00"/>
                </a:highlight>
                <a:latin typeface="Arial" panose="020B0604020202020204" pitchFamily="34" charset="0"/>
                <a:cs typeface="Arial" panose="020B0604020202020204" pitchFamily="34" charset="0"/>
              </a:rPr>
              <a:t>, para </a:t>
            </a:r>
            <a:r>
              <a:rPr lang="en-US" sz="1200" dirty="0" err="1">
                <a:highlight>
                  <a:srgbClr val="FFFF00"/>
                </a:highlight>
                <a:latin typeface="Arial" panose="020B0604020202020204" pitchFamily="34" charset="0"/>
                <a:cs typeface="Arial" panose="020B0604020202020204" pitchFamily="34" charset="0"/>
              </a:rPr>
              <a:t>anchos</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mayores</a:t>
            </a:r>
            <a:r>
              <a:rPr lang="en-US" sz="1200" dirty="0">
                <a:highlight>
                  <a:srgbClr val="FFFF00"/>
                </a:highlight>
                <a:latin typeface="Arial" panose="020B0604020202020204" pitchFamily="34" charset="0"/>
                <a:cs typeface="Arial" panose="020B0604020202020204" pitchFamily="34" charset="0"/>
              </a:rPr>
              <a:t> es </a:t>
            </a:r>
            <a:r>
              <a:rPr lang="en-US" sz="1200" dirty="0" err="1">
                <a:highlight>
                  <a:srgbClr val="FFFF00"/>
                </a:highlight>
                <a:latin typeface="Arial" panose="020B0604020202020204" pitchFamily="34" charset="0"/>
                <a:cs typeface="Arial" panose="020B0604020202020204" pitchFamily="34" charset="0"/>
              </a:rPr>
              <a:t>multimodo</a:t>
            </a:r>
            <a:r>
              <a:rPr lang="en-US" sz="1200" dirty="0">
                <a:highlight>
                  <a:srgbClr val="FFFF00"/>
                </a:highlight>
                <a:latin typeface="Arial" panose="020B0604020202020204" pitchFamily="34" charset="0"/>
                <a:cs typeface="Arial" panose="020B0604020202020204" pitchFamily="34" charset="0"/>
              </a:rPr>
              <a:t> (se </a:t>
            </a:r>
            <a:r>
              <a:rPr lang="en-US" sz="1200" dirty="0" err="1">
                <a:highlight>
                  <a:srgbClr val="FFFF00"/>
                </a:highlight>
                <a:latin typeface="Arial" panose="020B0604020202020204" pitchFamily="34" charset="0"/>
                <a:cs typeface="Arial" panose="020B0604020202020204" pitchFamily="34" charset="0"/>
              </a:rPr>
              <a:t>propagan</a:t>
            </a:r>
            <a:r>
              <a:rPr lang="en-US" sz="1200" dirty="0">
                <a:highlight>
                  <a:srgbClr val="FFFF00"/>
                </a:highlight>
                <a:latin typeface="Arial" panose="020B0604020202020204" pitchFamily="34" charset="0"/>
                <a:cs typeface="Arial" panose="020B0604020202020204" pitchFamily="34" charset="0"/>
              </a:rPr>
              <a:t> TE0 y TM0) y para </a:t>
            </a:r>
            <a:r>
              <a:rPr lang="en-US" sz="1200" dirty="0" err="1">
                <a:highlight>
                  <a:srgbClr val="FFFF00"/>
                </a:highlight>
                <a:latin typeface="Arial" panose="020B0604020202020204" pitchFamily="34" charset="0"/>
                <a:cs typeface="Arial" panose="020B0604020202020204" pitchFamily="34" charset="0"/>
              </a:rPr>
              <a:t>menores</a:t>
            </a:r>
            <a:r>
              <a:rPr lang="en-US" sz="1200" dirty="0">
                <a:highlight>
                  <a:srgbClr val="FFFF00"/>
                </a:highlight>
                <a:latin typeface="Arial" panose="020B0604020202020204" pitchFamily="34" charset="0"/>
                <a:cs typeface="Arial" panose="020B0604020202020204" pitchFamily="34" charset="0"/>
              </a:rPr>
              <a:t>, </a:t>
            </a:r>
            <a:r>
              <a:rPr lang="en-US" sz="1200" dirty="0" err="1">
                <a:highlight>
                  <a:srgbClr val="FFFF00"/>
                </a:highlight>
                <a:latin typeface="Arial" panose="020B0604020202020204" pitchFamily="34" charset="0"/>
                <a:cs typeface="Arial" panose="020B0604020202020204" pitchFamily="34" charset="0"/>
              </a:rPr>
              <a:t>monomodo</a:t>
            </a:r>
            <a:r>
              <a:rPr lang="en-US" sz="1200" dirty="0">
                <a:highlight>
                  <a:srgbClr val="FFFF00"/>
                </a:highlight>
                <a:latin typeface="Arial" panose="020B0604020202020204" pitchFamily="34" charset="0"/>
                <a:cs typeface="Arial" panose="020B0604020202020204" pitchFamily="34" charset="0"/>
              </a:rPr>
              <a:t> (se </a:t>
            </a:r>
            <a:r>
              <a:rPr lang="en-US" sz="1200" dirty="0" err="1">
                <a:highlight>
                  <a:srgbClr val="FFFF00"/>
                </a:highlight>
                <a:latin typeface="Arial" panose="020B0604020202020204" pitchFamily="34" charset="0"/>
                <a:cs typeface="Arial" panose="020B0604020202020204" pitchFamily="34" charset="0"/>
              </a:rPr>
              <a:t>propagan</a:t>
            </a:r>
            <a:r>
              <a:rPr lang="en-US" sz="1200" dirty="0">
                <a:highlight>
                  <a:srgbClr val="FFFF00"/>
                </a:highlight>
                <a:latin typeface="Arial" panose="020B0604020202020204" pitchFamily="34" charset="0"/>
                <a:cs typeface="Arial" panose="020B0604020202020204" pitchFamily="34" charset="0"/>
              </a:rPr>
              <a:t> TE0, TM0 y TE1).</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highlight>
                  <a:srgbClr val="FFFF00"/>
                </a:highlight>
                <a:latin typeface="Arial" panose="020B0604020202020204" pitchFamily="34" charset="0"/>
                <a:cs typeface="Arial" panose="020B0604020202020204" pitchFamily="34" charset="0"/>
              </a:rPr>
              <a:t>COMENTAR: MONOMODO HASTA UN VALOR DE W Y LUEGO MULTIMODO.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descr="Gráfico, Gráfico de líneas&#10;&#10;El contenido generado por IA puede ser incorrecto.">
            <a:extLst>
              <a:ext uri="{FF2B5EF4-FFF2-40B4-BE49-F238E27FC236}">
                <a16:creationId xmlns:a16="http://schemas.microsoft.com/office/drawing/2014/main" id="{84A2167B-2F20-7988-627B-52805E9CA6AA}"/>
              </a:ext>
            </a:extLst>
          </p:cNvPr>
          <p:cNvPicPr>
            <a:picLocks noChangeAspect="1"/>
          </p:cNvPicPr>
          <p:nvPr/>
        </p:nvPicPr>
        <p:blipFill>
          <a:blip r:embed="rId5"/>
          <a:stretch>
            <a:fillRect/>
          </a:stretch>
        </p:blipFill>
        <p:spPr>
          <a:xfrm>
            <a:off x="3380321" y="1516121"/>
            <a:ext cx="5431357" cy="3161826"/>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440F587-93A3-E474-C0B0-883BB9DAFD85}"/>
              </a:ext>
            </a:extLst>
          </p:cNvPr>
          <p:cNvSpPr txBox="1"/>
          <p:nvPr/>
        </p:nvSpPr>
        <p:spPr>
          <a:xfrm>
            <a:off x="609441" y="4419600"/>
            <a:ext cx="5261137" cy="1169551"/>
          </a:xfrm>
          <a:prstGeom prst="rect">
            <a:avLst/>
          </a:prstGeom>
          <a:solidFill>
            <a:schemeClr val="bg1">
              <a:lumMod val="95000"/>
            </a:schemeClr>
          </a:solidFill>
          <a:ln w="28575">
            <a:solidFill>
              <a:srgbClr val="E0700D"/>
            </a:solidFill>
          </a:ln>
        </p:spPr>
        <p:txBody>
          <a:bodyPr wrap="square" rtlCol="0">
            <a:spAutoFit/>
          </a:bodyPr>
          <a:lstStyle/>
          <a:p>
            <a:pPr algn="just"/>
            <a:r>
              <a:rPr lang="es-ES" sz="1000" b="1" dirty="0">
                <a:latin typeface="Arial" panose="020B0604020202020204" pitchFamily="34" charset="0"/>
                <a:cs typeface="Arial" panose="020B0604020202020204" pitchFamily="34" charset="0"/>
              </a:rPr>
              <a:t>Deep </a:t>
            </a:r>
            <a:r>
              <a:rPr lang="es-ES" sz="1000" b="1" dirty="0" err="1">
                <a:latin typeface="Arial" panose="020B0604020202020204" pitchFamily="34" charset="0"/>
                <a:cs typeface="Arial" panose="020B0604020202020204" pitchFamily="34" charset="0"/>
              </a:rPr>
              <a:t>waveguide</a:t>
            </a:r>
            <a:r>
              <a:rPr lang="es-ES" sz="1000" b="1" dirty="0">
                <a:latin typeface="Arial" panose="020B0604020202020204" pitchFamily="34" charset="0"/>
                <a:cs typeface="Arial" panose="020B0604020202020204" pitchFamily="34" charset="0"/>
              </a:rPr>
              <a:t>:</a:t>
            </a:r>
          </a:p>
          <a:p>
            <a:pPr algn="just"/>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1.6049166291026744</a:t>
            </a:r>
          </a:p>
          <a:p>
            <a:pPr algn="just"/>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1.9399909008100613</a:t>
            </a:r>
          </a:p>
          <a:p>
            <a:pPr algn="just"/>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-1006.6987866611223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p>
          <a:p>
            <a:pPr algn="just"/>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1.5271892343288158</a:t>
            </a:r>
          </a:p>
          <a:p>
            <a:pPr algn="just"/>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1.772025347866792</a:t>
            </a:r>
          </a:p>
          <a:p>
            <a:pPr algn="just"/>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-1590.6948234078707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endParaRPr lang="en-US" sz="10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A6B92C76-6772-2E00-346F-532321092C04}"/>
              </a:ext>
            </a:extLst>
          </p:cNvPr>
          <p:cNvSpPr/>
          <p:nvPr/>
        </p:nvSpPr>
        <p:spPr>
          <a:xfrm>
            <a:off x="609442" y="1447800"/>
            <a:ext cx="5261136" cy="29718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245224" y="1447800"/>
            <a:ext cx="5209357" cy="2966289"/>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n 6" descr="Gráfico, Gráfico de líneas&#10;&#10;El contenido generado por IA puede ser incorrecto.">
            <a:extLst>
              <a:ext uri="{FF2B5EF4-FFF2-40B4-BE49-F238E27FC236}">
                <a16:creationId xmlns:a16="http://schemas.microsoft.com/office/drawing/2014/main" id="{3B53A3E9-3AD7-5990-85BC-58F21A532BA3}"/>
              </a:ext>
            </a:extLst>
          </p:cNvPr>
          <p:cNvPicPr>
            <a:picLocks noChangeAspect="1"/>
          </p:cNvPicPr>
          <p:nvPr/>
        </p:nvPicPr>
        <p:blipFill>
          <a:blip r:embed="rId5"/>
          <a:stretch>
            <a:fillRect/>
          </a:stretch>
        </p:blipFill>
        <p:spPr>
          <a:xfrm>
            <a:off x="1354082" y="1476375"/>
            <a:ext cx="3690924" cy="2915574"/>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37B6F8FA-9C3C-702C-F051-432029EC98F0}"/>
              </a:ext>
            </a:extLst>
          </p:cNvPr>
          <p:cNvPicPr>
            <a:picLocks noChangeAspect="1"/>
          </p:cNvPicPr>
          <p:nvPr/>
        </p:nvPicPr>
        <p:blipFill>
          <a:blip r:embed="rId6"/>
          <a:stretch>
            <a:fillRect/>
          </a:stretch>
        </p:blipFill>
        <p:spPr>
          <a:xfrm>
            <a:off x="7002011" y="1489249"/>
            <a:ext cx="3695781" cy="2919410"/>
          </a:xfrm>
          <a:prstGeom prst="rect">
            <a:avLst/>
          </a:prstGeom>
        </p:spPr>
      </p:pic>
      <p:sp>
        <p:nvSpPr>
          <p:cNvPr id="13" name="CuadroTexto 12">
            <a:extLst>
              <a:ext uri="{FF2B5EF4-FFF2-40B4-BE49-F238E27FC236}">
                <a16:creationId xmlns:a16="http://schemas.microsoft.com/office/drawing/2014/main" id="{CC42190F-CE2B-55BE-B54C-B246857FD9A0}"/>
              </a:ext>
            </a:extLst>
          </p:cNvPr>
          <p:cNvSpPr txBox="1"/>
          <p:nvPr/>
        </p:nvSpPr>
        <p:spPr>
          <a:xfrm>
            <a:off x="6248400" y="4419600"/>
            <a:ext cx="5206181" cy="1169551"/>
          </a:xfrm>
          <a:prstGeom prst="rect">
            <a:avLst/>
          </a:prstGeom>
          <a:solidFill>
            <a:schemeClr val="bg1">
              <a:lumMod val="95000"/>
            </a:schemeClr>
          </a:solidFill>
          <a:ln w="28575">
            <a:solidFill>
              <a:srgbClr val="E0700D"/>
            </a:solidFill>
          </a:ln>
        </p:spPr>
        <p:txBody>
          <a:bodyPr wrap="square" rtlCol="0">
            <a:spAutoFit/>
          </a:bodyPr>
          <a:lstStyle/>
          <a:p>
            <a:r>
              <a:rPr lang="es-ES" sz="1000" b="1" dirty="0" err="1">
                <a:latin typeface="Arial" panose="020B0604020202020204" pitchFamily="34" charset="0"/>
                <a:cs typeface="Arial" panose="020B0604020202020204" pitchFamily="34" charset="0"/>
              </a:rPr>
              <a:t>Shallow</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waveguide</a:t>
            </a:r>
            <a:r>
              <a:rPr lang="es-ES" sz="1000" b="1" dirty="0">
                <a:latin typeface="Arial" panose="020B0604020202020204" pitchFamily="34" charset="0"/>
                <a:cs typeface="Arial" panose="020B0604020202020204" pitchFamily="34" charset="0"/>
              </a:rPr>
              <a:t>:</a:t>
            </a:r>
            <a:endParaRPr lang="es-ES" sz="1000" dirty="0">
              <a:latin typeface="Arial" panose="020B0604020202020204" pitchFamily="34" charset="0"/>
              <a:cs typeface="Arial" panose="020B0604020202020204" pitchFamily="34" charset="0"/>
            </a:endParaRPr>
          </a:p>
          <a:p>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1.6240906297465494</a:t>
            </a:r>
          </a:p>
          <a:p>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1.9157617116967773</a:t>
            </a:r>
          </a:p>
          <a:p>
            <a:r>
              <a:rPr lang="es-ES" sz="1000" dirty="0">
                <a:latin typeface="Arial" panose="020B0604020202020204" pitchFamily="34" charset="0"/>
                <a:cs typeface="Arial" panose="020B0604020202020204" pitchFamily="34" charset="0"/>
              </a:rPr>
              <a:t>TE0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-989.5411991927712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p>
          <a:p>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effective</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1.5361017569770001</a:t>
            </a:r>
          </a:p>
          <a:p>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group</a:t>
            </a:r>
            <a:r>
              <a:rPr lang="es-ES" sz="1000" b="1" dirty="0">
                <a:latin typeface="Arial" panose="020B0604020202020204" pitchFamily="34" charset="0"/>
                <a:cs typeface="Arial" panose="020B0604020202020204" pitchFamily="34" charset="0"/>
              </a:rPr>
              <a:t> </a:t>
            </a:r>
            <a:r>
              <a:rPr lang="es-ES" sz="1000" b="1" dirty="0" err="1">
                <a:latin typeface="Arial" panose="020B0604020202020204" pitchFamily="34" charset="0"/>
                <a:cs typeface="Arial" panose="020B0604020202020204" pitchFamily="34" charset="0"/>
              </a:rPr>
              <a:t>index</a:t>
            </a:r>
            <a:r>
              <a:rPr lang="es-ES" sz="1000" b="1"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1.751028636956494</a:t>
            </a:r>
          </a:p>
          <a:p>
            <a:r>
              <a:rPr lang="es-ES" sz="1000" dirty="0">
                <a:latin typeface="Arial" panose="020B0604020202020204" pitchFamily="34" charset="0"/>
                <a:cs typeface="Arial" panose="020B0604020202020204" pitchFamily="34" charset="0"/>
              </a:rPr>
              <a:t>TM0 (</a:t>
            </a:r>
            <a:r>
              <a:rPr lang="es-ES" sz="1000" dirty="0" err="1">
                <a:latin typeface="Arial" panose="020B0604020202020204" pitchFamily="34" charset="0"/>
                <a:cs typeface="Arial" panose="020B0604020202020204" pitchFamily="34" charset="0"/>
              </a:rPr>
              <a:t>wl</a:t>
            </a:r>
            <a:r>
              <a:rPr lang="es-ES" sz="1000" dirty="0">
                <a:latin typeface="Arial" panose="020B0604020202020204" pitchFamily="34" charset="0"/>
                <a:cs typeface="Arial" panose="020B0604020202020204" pitchFamily="34" charset="0"/>
              </a:rPr>
              <a:t>=1550um) </a:t>
            </a:r>
            <a:r>
              <a:rPr lang="es-ES" sz="1000" b="1" dirty="0" err="1">
                <a:latin typeface="Arial" panose="020B0604020202020204" pitchFamily="34" charset="0"/>
                <a:cs typeface="Arial" panose="020B0604020202020204" pitchFamily="34" charset="0"/>
              </a:rPr>
              <a:t>dispersion</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polyfit</a:t>
            </a:r>
            <a:r>
              <a:rPr lang="es-ES" sz="1000" dirty="0">
                <a:latin typeface="Arial" panose="020B0604020202020204" pitchFamily="34" charset="0"/>
                <a:cs typeface="Arial" panose="020B0604020202020204" pitchFamily="34" charset="0"/>
              </a:rPr>
              <a:t>): -1013.1548259425633 </a:t>
            </a:r>
            <a:r>
              <a:rPr lang="es-ES" sz="1000" dirty="0" err="1">
                <a:latin typeface="Arial" panose="020B0604020202020204" pitchFamily="34" charset="0"/>
                <a:cs typeface="Arial" panose="020B0604020202020204" pitchFamily="34" charset="0"/>
              </a:rPr>
              <a:t>ps</a:t>
            </a:r>
            <a:r>
              <a:rPr lang="es-ES" sz="1000" dirty="0">
                <a:latin typeface="Arial" panose="020B0604020202020204" pitchFamily="34" charset="0"/>
                <a:cs typeface="Arial" panose="020B0604020202020204" pitchFamily="34" charset="0"/>
              </a:rPr>
              <a:t>/(km*nm)</a:t>
            </a:r>
            <a:endParaRPr lang="en-US" sz="1000" dirty="0">
              <a:latin typeface="Arial" panose="020B0604020202020204" pitchFamily="34" charset="0"/>
              <a:cs typeface="Arial" panose="020B0604020202020204" pitchFamily="34" charset="0"/>
            </a:endParaRPr>
          </a:p>
        </p:txBody>
      </p:sp>
      <p:sp>
        <p:nvSpPr>
          <p:cNvPr id="14" name="CuadroTexto 13">
            <a:extLst>
              <a:ext uri="{FF2B5EF4-FFF2-40B4-BE49-F238E27FC236}">
                <a16:creationId xmlns:a16="http://schemas.microsoft.com/office/drawing/2014/main" id="{E7368598-976A-BC09-D873-88BA744122EA}"/>
              </a:ext>
            </a:extLst>
          </p:cNvPr>
          <p:cNvSpPr txBox="1"/>
          <p:nvPr/>
        </p:nvSpPr>
        <p:spPr>
          <a:xfrm>
            <a:off x="609440" y="5588903"/>
            <a:ext cx="10845141" cy="76944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solidFill>
                  <a:srgbClr val="FF0000"/>
                </a:solidFill>
              </a:rPr>
              <a:t>Se ha </a:t>
            </a:r>
            <a:r>
              <a:rPr lang="en-US" sz="1200" dirty="0" err="1">
                <a:solidFill>
                  <a:srgbClr val="FF0000"/>
                </a:solidFill>
              </a:rPr>
              <a:t>conseguido</a:t>
            </a:r>
            <a:r>
              <a:rPr lang="en-US" sz="1200" dirty="0">
                <a:solidFill>
                  <a:srgbClr val="FF0000"/>
                </a:solidFill>
              </a:rPr>
              <a:t> </a:t>
            </a:r>
            <a:r>
              <a:rPr lang="en-US" sz="1200" dirty="0" err="1">
                <a:solidFill>
                  <a:srgbClr val="FF0000"/>
                </a:solidFill>
              </a:rPr>
              <a:t>ajustar</a:t>
            </a:r>
            <a:r>
              <a:rPr lang="en-US" sz="1200" dirty="0">
                <a:solidFill>
                  <a:srgbClr val="FF0000"/>
                </a:solidFill>
              </a:rPr>
              <a:t> un </a:t>
            </a:r>
            <a:r>
              <a:rPr lang="en-US" sz="1200" dirty="0" err="1">
                <a:solidFill>
                  <a:srgbClr val="FF0000"/>
                </a:solidFill>
              </a:rPr>
              <a:t>polinomio</a:t>
            </a:r>
            <a:r>
              <a:rPr lang="en-US" sz="1200" dirty="0">
                <a:solidFill>
                  <a:srgbClr val="FF0000"/>
                </a:solidFill>
              </a:rPr>
              <a:t> de </a:t>
            </a:r>
            <a:r>
              <a:rPr lang="en-US" sz="1200" dirty="0" err="1">
                <a:solidFill>
                  <a:srgbClr val="FF0000"/>
                </a:solidFill>
              </a:rPr>
              <a:t>segundo</a:t>
            </a:r>
            <a:r>
              <a:rPr lang="en-US" sz="1200" dirty="0">
                <a:solidFill>
                  <a:srgbClr val="FF0000"/>
                </a:solidFill>
              </a:rPr>
              <a:t> </a:t>
            </a:r>
            <a:r>
              <a:rPr lang="en-US" sz="1200" dirty="0" err="1">
                <a:solidFill>
                  <a:srgbClr val="FF0000"/>
                </a:solidFill>
              </a:rPr>
              <a:t>grado</a:t>
            </a:r>
            <a:r>
              <a:rPr lang="en-US" sz="1200" dirty="0">
                <a:solidFill>
                  <a:srgbClr val="FF0000"/>
                </a:solidFill>
              </a:rPr>
              <a:t> para </a:t>
            </a:r>
            <a:r>
              <a:rPr lang="en-US" sz="1200" dirty="0" err="1">
                <a:solidFill>
                  <a:srgbClr val="FF0000"/>
                </a:solidFill>
              </a:rPr>
              <a:t>modelar</a:t>
            </a:r>
            <a:r>
              <a:rPr lang="en-US" sz="1200" dirty="0">
                <a:solidFill>
                  <a:srgbClr val="FF0000"/>
                </a:solidFill>
              </a:rPr>
              <a:t> la </a:t>
            </a:r>
            <a:r>
              <a:rPr lang="en-US" sz="1200" dirty="0" err="1">
                <a:solidFill>
                  <a:srgbClr val="FF0000"/>
                </a:solidFill>
              </a:rPr>
              <a:t>respuesta</a:t>
            </a:r>
            <a:r>
              <a:rPr lang="en-US" sz="1200" dirty="0">
                <a:solidFill>
                  <a:srgbClr val="FF0000"/>
                </a:solidFill>
              </a:rPr>
              <a:t> del </a:t>
            </a:r>
            <a:r>
              <a:rPr lang="en-US" sz="1200" dirty="0" err="1">
                <a:solidFill>
                  <a:srgbClr val="FF0000"/>
                </a:solidFill>
              </a:rPr>
              <a:t>índice</a:t>
            </a:r>
            <a:r>
              <a:rPr lang="en-US" sz="1200" dirty="0">
                <a:solidFill>
                  <a:srgbClr val="FF0000"/>
                </a:solidFill>
              </a:rPr>
              <a:t> </a:t>
            </a:r>
            <a:r>
              <a:rPr lang="en-US" sz="1200" dirty="0" err="1">
                <a:solidFill>
                  <a:srgbClr val="FF0000"/>
                </a:solidFill>
              </a:rPr>
              <a:t>efectivo</a:t>
            </a:r>
            <a:r>
              <a:rPr lang="en-US" sz="1200" dirty="0">
                <a:solidFill>
                  <a:srgbClr val="FF0000"/>
                </a:solidFill>
              </a:rPr>
              <a:t> y </a:t>
            </a:r>
            <a:r>
              <a:rPr lang="en-US" sz="1200" dirty="0" err="1">
                <a:solidFill>
                  <a:srgbClr val="FF0000"/>
                </a:solidFill>
              </a:rPr>
              <a:t>así</a:t>
            </a:r>
            <a:r>
              <a:rPr lang="en-US" sz="1200" dirty="0">
                <a:solidFill>
                  <a:srgbClr val="FF0000"/>
                </a:solidFill>
              </a:rPr>
              <a:t> </a:t>
            </a:r>
            <a:r>
              <a:rPr lang="en-US" sz="1200" dirty="0" err="1">
                <a:solidFill>
                  <a:srgbClr val="FF0000"/>
                </a:solidFill>
              </a:rPr>
              <a:t>conseguir</a:t>
            </a:r>
            <a:r>
              <a:rPr lang="en-US" sz="1200" dirty="0">
                <a:solidFill>
                  <a:srgbClr val="FF0000"/>
                </a:solidFill>
              </a:rPr>
              <a:t> </a:t>
            </a:r>
            <a:r>
              <a:rPr lang="en-US" sz="1200" dirty="0" err="1">
                <a:solidFill>
                  <a:srgbClr val="FF0000"/>
                </a:solidFill>
              </a:rPr>
              <a:t>calcular</a:t>
            </a:r>
            <a:r>
              <a:rPr lang="en-US" sz="1200" dirty="0">
                <a:solidFill>
                  <a:srgbClr val="FF0000"/>
                </a:solidFill>
              </a:rPr>
              <a:t> </a:t>
            </a:r>
            <a:r>
              <a:rPr lang="en-US" sz="1200" dirty="0" err="1">
                <a:solidFill>
                  <a:srgbClr val="FF0000"/>
                </a:solidFill>
              </a:rPr>
              <a:t>los</a:t>
            </a:r>
            <a:r>
              <a:rPr lang="en-US" sz="1200" dirty="0">
                <a:solidFill>
                  <a:srgbClr val="FF0000"/>
                </a:solidFill>
              </a:rPr>
              <a:t> </a:t>
            </a:r>
            <a:r>
              <a:rPr lang="en-US" sz="1200" dirty="0" err="1">
                <a:solidFill>
                  <a:srgbClr val="FF0000"/>
                </a:solidFill>
              </a:rPr>
              <a:t>parámetros</a:t>
            </a:r>
            <a:r>
              <a:rPr lang="en-US" sz="1200" dirty="0">
                <a:solidFill>
                  <a:srgbClr val="FF0000"/>
                </a:solidFill>
              </a:rPr>
              <a:t> de dispersion e </a:t>
            </a:r>
            <a:r>
              <a:rPr lang="en-US" sz="1200" dirty="0" err="1">
                <a:solidFill>
                  <a:srgbClr val="FF0000"/>
                </a:solidFill>
              </a:rPr>
              <a:t>índice</a:t>
            </a:r>
            <a:r>
              <a:rPr lang="en-US" sz="1200" dirty="0">
                <a:solidFill>
                  <a:srgbClr val="FF0000"/>
                </a:solidFill>
              </a:rPr>
              <a:t> de </a:t>
            </a:r>
            <a:r>
              <a:rPr lang="en-US" sz="1200" dirty="0" err="1">
                <a:solidFill>
                  <a:srgbClr val="FF0000"/>
                </a:solidFill>
              </a:rPr>
              <a:t>grupo</a:t>
            </a:r>
            <a:r>
              <a:rPr lang="en-US" sz="1200" dirty="0">
                <a:solidFill>
                  <a:srgbClr val="FF0000"/>
                </a:solidFill>
              </a:rPr>
              <a:t> </a:t>
            </a:r>
            <a:r>
              <a:rPr lang="en-US" sz="1200" dirty="0" err="1">
                <a:solidFill>
                  <a:srgbClr val="FF0000"/>
                </a:solidFill>
              </a:rPr>
              <a:t>en</a:t>
            </a:r>
            <a:r>
              <a:rPr lang="en-US" sz="1200" dirty="0">
                <a:solidFill>
                  <a:srgbClr val="FF0000"/>
                </a:solidFill>
              </a:rPr>
              <a:t> </a:t>
            </a:r>
            <a:r>
              <a:rPr lang="en-US" sz="1200" dirty="0" err="1">
                <a:solidFill>
                  <a:srgbClr val="FF0000"/>
                </a:solidFill>
              </a:rPr>
              <a:t>cada</a:t>
            </a:r>
            <a:r>
              <a:rPr lang="en-US" sz="1200" dirty="0">
                <a:solidFill>
                  <a:srgbClr val="FF0000"/>
                </a:solidFill>
              </a:rPr>
              <a:t> </a:t>
            </a:r>
            <a:r>
              <a:rPr lang="en-US" sz="1200" dirty="0" err="1">
                <a:solidFill>
                  <a:srgbClr val="FF0000"/>
                </a:solidFill>
              </a:rPr>
              <a:t>guía</a:t>
            </a:r>
            <a:r>
              <a:rPr lang="en-US" sz="1200" dirty="0">
                <a:solidFill>
                  <a:srgbClr val="FF0000"/>
                </a:solidFill>
              </a:rPr>
              <a:t>.</a:t>
            </a:r>
          </a:p>
          <a:p>
            <a:pPr marL="171450" indent="-171450" algn="just">
              <a:buFontTx/>
              <a:buChar char="-"/>
            </a:pPr>
            <a:r>
              <a:rPr lang="es-ES" sz="1000" dirty="0">
                <a:solidFill>
                  <a:srgbClr val="FF0000"/>
                </a:solidFill>
              </a:rPr>
              <a:t>Verificar q </a:t>
            </a:r>
            <a:r>
              <a:rPr lang="es-ES" sz="1000" dirty="0" err="1">
                <a:solidFill>
                  <a:srgbClr val="FF0000"/>
                </a:solidFill>
              </a:rPr>
              <a:t>nef</a:t>
            </a:r>
            <a:r>
              <a:rPr lang="es-ES" sz="1000" dirty="0">
                <a:solidFill>
                  <a:srgbClr val="FF0000"/>
                </a:solidFill>
              </a:rPr>
              <a:t> coincide a lambda con el esperado.</a:t>
            </a:r>
          </a:p>
          <a:p>
            <a:pPr marL="171450" indent="-171450" algn="just">
              <a:buFontTx/>
              <a:buChar char="-"/>
            </a:pPr>
            <a:endParaRPr lang="es-ES" sz="1000" dirty="0">
              <a:solidFill>
                <a:srgbClr val="FF0000"/>
              </a:solidFill>
            </a:endParaRPr>
          </a:p>
        </p:txBody>
      </p:sp>
    </p:spTree>
    <p:extLst>
      <p:ext uri="{BB962C8B-B14F-4D97-AF65-F5344CB8AC3E}">
        <p14:creationId xmlns:p14="http://schemas.microsoft.com/office/powerpoint/2010/main" val="236054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F8D6361A-60D6-D762-4EEC-7D641561139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70647" y="1538730"/>
            <a:ext cx="3962400" cy="3130020"/>
          </a:xfrm>
          <a:prstGeom prst="rect">
            <a:avLst/>
          </a:prstGeom>
        </p:spPr>
      </p:pic>
      <p:pic>
        <p:nvPicPr>
          <p:cNvPr id="11" name="Imagen 10">
            <a:extLst>
              <a:ext uri="{FF2B5EF4-FFF2-40B4-BE49-F238E27FC236}">
                <a16:creationId xmlns:a16="http://schemas.microsoft.com/office/drawing/2014/main" id="{E06F18D7-4C12-4E46-4877-EE4E7B6B5983}"/>
              </a:ext>
            </a:extLst>
          </p:cNvPr>
          <p:cNvPicPr>
            <a:picLocks noChangeAspect="1"/>
          </p:cNvPicPr>
          <p:nvPr/>
        </p:nvPicPr>
        <p:blipFill>
          <a:blip r:embed="rId6"/>
          <a:stretch>
            <a:fillRect/>
          </a:stretch>
        </p:blipFill>
        <p:spPr>
          <a:xfrm>
            <a:off x="7084512" y="1582601"/>
            <a:ext cx="3964990" cy="3042277"/>
          </a:xfrm>
          <a:prstGeom prst="rect">
            <a:avLst/>
          </a:prstGeom>
        </p:spPr>
      </p:pic>
      <p:sp>
        <p:nvSpPr>
          <p:cNvPr id="6" name="Rectángulo 5">
            <a:extLst>
              <a:ext uri="{FF2B5EF4-FFF2-40B4-BE49-F238E27FC236}">
                <a16:creationId xmlns:a16="http://schemas.microsoft.com/office/drawing/2014/main" id="{3648DE4D-6003-93D7-5F17-295114C242BF}"/>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BBC3-5145-4705-5F65-216325E77B3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C15E1E5-7A56-2995-4D67-273F419F1269}"/>
              </a:ext>
            </a:extLst>
          </p:cNvPr>
          <p:cNvSpPr txBox="1">
            <a:spLocks noGrp="1"/>
          </p:cNvSpPr>
          <p:nvPr>
            <p:ph type="title"/>
          </p:nvPr>
        </p:nvSpPr>
        <p:spPr>
          <a:xfrm>
            <a:off x="685800" y="408883"/>
            <a:ext cx="10994410" cy="2398092"/>
          </a:xfrm>
          <a:prstGeom prst="rect">
            <a:avLst/>
          </a:prstGeom>
        </p:spPr>
        <p:txBody>
          <a:bodyPr vert="horz" wrap="square" lIns="0" tIns="12700" rIns="0" bIns="0" rtlCol="0">
            <a:spAutoFit/>
          </a:bodyPr>
          <a:lstStyle/>
          <a:p>
            <a:pPr marL="12700">
              <a:spcBef>
                <a:spcPts val="100"/>
              </a:spcBef>
            </a:pPr>
            <a:r>
              <a:rPr lang="en-US" sz="2500" dirty="0"/>
              <a:t># EXTRA.1 - Wavelength behavior</a:t>
            </a:r>
            <a:br>
              <a:rPr lang="en-US" sz="2500" dirty="0"/>
            </a:br>
            <a:r>
              <a:rPr lang="en-US" b="0" dirty="0"/>
              <a:t>Now, Simulate the Silicon-On-Insulator technology changing the core material to Silicon (Si). In this case, the dimensions will be 220 nm </a:t>
            </a:r>
            <a:r>
              <a:rPr lang="en-US" b="0" dirty="0" err="1"/>
              <a:t>heigth</a:t>
            </a:r>
            <a:r>
              <a:rPr lang="en-US" b="0" dirty="0"/>
              <a:t> and 500 nm width. </a:t>
            </a:r>
            <a:br>
              <a:rPr lang="en-US" b="0" dirty="0"/>
            </a:br>
            <a:r>
              <a:rPr lang="en-US" dirty="0"/>
              <a:t>1. </a:t>
            </a:r>
            <a:r>
              <a:rPr lang="en-US" b="0" dirty="0"/>
              <a:t>Repeat the LO.2. wavelength behavior simulations, considering the updated materials and dimensions.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402F5B0-BE89-6EC8-DE18-8C9902A625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BED5594-721A-740B-E9D0-284907D21043}"/>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E2C3C16A-8F1C-075F-485A-4A291213F56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F885DF2-D695-6C6F-F4F1-913A39EAE30C}"/>
              </a:ext>
            </a:extLst>
          </p:cNvPr>
          <p:cNvSpPr txBox="1"/>
          <p:nvPr/>
        </p:nvSpPr>
        <p:spPr>
          <a:xfrm>
            <a:off x="609441" y="4860334"/>
            <a:ext cx="11199971" cy="646331"/>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2993ADF6-D21D-2668-6DDA-58105166CF68}"/>
              </a:ext>
            </a:extLst>
          </p:cNvPr>
          <p:cNvSpPr/>
          <p:nvPr/>
        </p:nvSpPr>
        <p:spPr>
          <a:xfrm>
            <a:off x="6094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BEF898AD-9255-52C1-491D-0B1979BEB031}"/>
              </a:ext>
            </a:extLst>
          </p:cNvPr>
          <p:cNvSpPr/>
          <p:nvPr/>
        </p:nvSpPr>
        <p:spPr>
          <a:xfrm>
            <a:off x="64768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Imagen 13">
            <a:extLst>
              <a:ext uri="{FF2B5EF4-FFF2-40B4-BE49-F238E27FC236}">
                <a16:creationId xmlns:a16="http://schemas.microsoft.com/office/drawing/2014/main" id="{EC53BC5F-BC37-D980-85A8-6605193EB660}"/>
              </a:ext>
            </a:extLst>
          </p:cNvPr>
          <p:cNvPicPr>
            <a:picLocks noChangeAspect="1"/>
          </p:cNvPicPr>
          <p:nvPr/>
        </p:nvPicPr>
        <p:blipFill>
          <a:blip r:embed="rId5"/>
          <a:stretch>
            <a:fillRect/>
          </a:stretch>
        </p:blipFill>
        <p:spPr>
          <a:xfrm>
            <a:off x="1213329" y="1846948"/>
            <a:ext cx="4659415" cy="2717992"/>
          </a:xfrm>
          <a:prstGeom prst="rect">
            <a:avLst/>
          </a:prstGeom>
        </p:spPr>
      </p:pic>
      <p:sp>
        <p:nvSpPr>
          <p:cNvPr id="12" name="CuadroTexto 11">
            <a:extLst>
              <a:ext uri="{FF2B5EF4-FFF2-40B4-BE49-F238E27FC236}">
                <a16:creationId xmlns:a16="http://schemas.microsoft.com/office/drawing/2014/main" id="{7CFC0A78-BE03-5EC6-463D-56F6288FB880}"/>
              </a:ext>
            </a:extLst>
          </p:cNvPr>
          <p:cNvSpPr txBox="1"/>
          <p:nvPr/>
        </p:nvSpPr>
        <p:spPr>
          <a:xfrm>
            <a:off x="665927" y="4277043"/>
            <a:ext cx="2269787" cy="338554"/>
          </a:xfrm>
          <a:prstGeom prst="rect">
            <a:avLst/>
          </a:prstGeom>
          <a:noFill/>
        </p:spPr>
        <p:txBody>
          <a:bodyPr wrap="square">
            <a:spAutoFit/>
          </a:bodyPr>
          <a:lstStyle/>
          <a:p>
            <a:r>
              <a:rPr lang="en-US" sz="1600" dirty="0"/>
              <a:t>slab = 150nm</a:t>
            </a:r>
            <a:endParaRPr lang="es-ES" sz="1600" dirty="0"/>
          </a:p>
        </p:txBody>
      </p:sp>
      <p:pic>
        <p:nvPicPr>
          <p:cNvPr id="17" name="Imagen 16">
            <a:extLst>
              <a:ext uri="{FF2B5EF4-FFF2-40B4-BE49-F238E27FC236}">
                <a16:creationId xmlns:a16="http://schemas.microsoft.com/office/drawing/2014/main" id="{7FAAAA22-83B2-4C31-47B6-D917F1DCDBB2}"/>
              </a:ext>
            </a:extLst>
          </p:cNvPr>
          <p:cNvPicPr>
            <a:picLocks noChangeAspect="1"/>
          </p:cNvPicPr>
          <p:nvPr/>
        </p:nvPicPr>
        <p:blipFill>
          <a:blip r:embed="rId6"/>
          <a:stretch>
            <a:fillRect/>
          </a:stretch>
        </p:blipFill>
        <p:spPr>
          <a:xfrm>
            <a:off x="6882881" y="1846948"/>
            <a:ext cx="4520490" cy="2636952"/>
          </a:xfrm>
          <a:prstGeom prst="rect">
            <a:avLst/>
          </a:prstGeom>
        </p:spPr>
      </p:pic>
    </p:spTree>
    <p:extLst>
      <p:ext uri="{BB962C8B-B14F-4D97-AF65-F5344CB8AC3E}">
        <p14:creationId xmlns:p14="http://schemas.microsoft.com/office/powerpoint/2010/main" val="3626364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43A31-2DA9-8AED-9052-D527F9CE58F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F8C5194-75E5-7874-4FFE-C6C0FC4070AC}"/>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n-US" sz="2500" dirty="0"/>
              <a:t># EXTRA.2 - Width dependence</a:t>
            </a:r>
            <a:br>
              <a:rPr lang="en-US" sz="2500" dirty="0"/>
            </a:br>
            <a:r>
              <a:rPr lang="en-US" dirty="0"/>
              <a:t>2.</a:t>
            </a:r>
            <a:r>
              <a:rPr lang="en-US" b="0" dirty="0"/>
              <a:t> Repeat the LO.3. width dependence analysis, now sweeping in a 300nm - 1um range.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7174BD2-88A1-56BC-6299-366D2C911E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CA7CA9E-67A5-1004-15C0-E24A5FCE8CD4}"/>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3BB2435A-FA03-213C-050A-106A34FB237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A2291EA-A955-D9A9-3AA1-672467A8E21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99C7BC53-FCEA-315B-8AAF-9470C09E243B}"/>
              </a:ext>
            </a:extLst>
          </p:cNvPr>
          <p:cNvSpPr/>
          <p:nvPr/>
        </p:nvSpPr>
        <p:spPr>
          <a:xfrm>
            <a:off x="609441" y="1219200"/>
            <a:ext cx="11199971" cy="3403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61B0329E-6D40-5235-A888-35A3376E9B5D}"/>
              </a:ext>
            </a:extLst>
          </p:cNvPr>
          <p:cNvPicPr>
            <a:picLocks noChangeAspect="1"/>
          </p:cNvPicPr>
          <p:nvPr/>
        </p:nvPicPr>
        <p:blipFill>
          <a:blip r:embed="rId5"/>
          <a:stretch>
            <a:fillRect/>
          </a:stretch>
        </p:blipFill>
        <p:spPr>
          <a:xfrm>
            <a:off x="3372871" y="1271374"/>
            <a:ext cx="5667428" cy="3299252"/>
          </a:xfrm>
          <a:prstGeom prst="rect">
            <a:avLst/>
          </a:prstGeom>
        </p:spPr>
      </p:pic>
    </p:spTree>
    <p:extLst>
      <p:ext uri="{BB962C8B-B14F-4D97-AF65-F5344CB8AC3E}">
        <p14:creationId xmlns:p14="http://schemas.microsoft.com/office/powerpoint/2010/main" val="894238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B253-D366-6AC7-6EC6-3467BBA4AC5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EACF51-6C0D-AAF0-97A2-1D61E1878E7C}"/>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EXTRA.3 - Bend waveguide radius </a:t>
            </a:r>
            <a:br>
              <a:rPr lang="en-US" sz="2500" dirty="0"/>
            </a:br>
            <a:r>
              <a:rPr lang="en-US" dirty="0"/>
              <a:t>3. </a:t>
            </a:r>
            <a:r>
              <a:rPr lang="en-US" b="0" dirty="0"/>
              <a:t>Find the safe radius for this technology. Consider sweeping the radius in a 5um to 30um range. </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4F58A6F-E893-C84B-50ED-50E27C4DC6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6D0AC85-066A-E825-DB4B-6104E5DCF634}"/>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C5A2601-310F-D2C2-25AE-E7A5F5E9E55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02DCB6B3-3A3C-1858-E0E7-10CB3195D67C}"/>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C9D037FD-73B4-43A9-F104-658A35532598}"/>
              </a:ext>
            </a:extLst>
          </p:cNvPr>
          <p:cNvPicPr>
            <a:picLocks noChangeAspect="1"/>
          </p:cNvPicPr>
          <p:nvPr/>
        </p:nvPicPr>
        <p:blipFill>
          <a:blip r:embed="rId5"/>
          <a:stretch>
            <a:fillRect/>
          </a:stretch>
        </p:blipFill>
        <p:spPr>
          <a:xfrm>
            <a:off x="1389697" y="1571670"/>
            <a:ext cx="3924300" cy="3057460"/>
          </a:xfrm>
          <a:prstGeom prst="rect">
            <a:avLst/>
          </a:prstGeom>
        </p:spPr>
      </p:pic>
      <p:pic>
        <p:nvPicPr>
          <p:cNvPr id="8" name="Imagen 7">
            <a:extLst>
              <a:ext uri="{FF2B5EF4-FFF2-40B4-BE49-F238E27FC236}">
                <a16:creationId xmlns:a16="http://schemas.microsoft.com/office/drawing/2014/main" id="{12023A00-8315-8679-AF53-7F0834878E82}"/>
              </a:ext>
            </a:extLst>
          </p:cNvPr>
          <p:cNvPicPr>
            <a:picLocks noChangeAspect="1"/>
          </p:cNvPicPr>
          <p:nvPr/>
        </p:nvPicPr>
        <p:blipFill>
          <a:blip r:embed="rId6"/>
          <a:stretch>
            <a:fillRect/>
          </a:stretch>
        </p:blipFill>
        <p:spPr>
          <a:xfrm>
            <a:off x="6969447" y="1520808"/>
            <a:ext cx="4195120" cy="3218852"/>
          </a:xfrm>
          <a:prstGeom prst="rect">
            <a:avLst/>
          </a:prstGeom>
        </p:spPr>
      </p:pic>
      <p:sp>
        <p:nvSpPr>
          <p:cNvPr id="9" name="Rectángulo 8">
            <a:extLst>
              <a:ext uri="{FF2B5EF4-FFF2-40B4-BE49-F238E27FC236}">
                <a16:creationId xmlns:a16="http://schemas.microsoft.com/office/drawing/2014/main" id="{BF1B392D-339F-B2E5-3746-0D3EC9259B0D}"/>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ángulo 9">
            <a:extLst>
              <a:ext uri="{FF2B5EF4-FFF2-40B4-BE49-F238E27FC236}">
                <a16:creationId xmlns:a16="http://schemas.microsoft.com/office/drawing/2014/main" id="{23BA1AB5-759C-50A0-873A-DF0F65647685}"/>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90498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93372-9B7F-3F8B-66BA-A27873B241D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5E49F78-BF77-6C19-547B-D0618B73E68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 - Comparative</a:t>
            </a:r>
            <a:br>
              <a:rPr lang="en-US" sz="2500" dirty="0"/>
            </a:br>
            <a:r>
              <a:rPr lang="es-ES" dirty="0"/>
              <a:t>4. </a:t>
            </a:r>
            <a:r>
              <a:rPr lang="es-ES" b="0" dirty="0"/>
              <a:t>Compare </a:t>
            </a:r>
            <a:r>
              <a:rPr lang="es-ES" b="0" dirty="0" err="1"/>
              <a:t>the</a:t>
            </a:r>
            <a:r>
              <a:rPr lang="es-ES" b="0" dirty="0"/>
              <a:t> </a:t>
            </a:r>
            <a:r>
              <a:rPr lang="es-ES" b="0" dirty="0" err="1"/>
              <a:t>SiNx</a:t>
            </a:r>
            <a:r>
              <a:rPr lang="es-ES" b="0" dirty="0"/>
              <a:t> and SOI </a:t>
            </a:r>
            <a:r>
              <a:rPr lang="es-ES" b="0" dirty="0" err="1"/>
              <a:t>technologies</a:t>
            </a:r>
            <a:br>
              <a:rPr lang="es-E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BF27F03-405A-B058-6A48-6D09BA87FA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C77210-3168-5AE1-488E-E190BB6C0E52}"/>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9BAA289B-80F5-66DC-E4D9-D509FB485D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1E77402-20CB-B5B9-6221-36355FD8F67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u="sng" dirty="0">
                <a:latin typeface="Arial" panose="020B0604020202020204" pitchFamily="34" charset="0"/>
                <a:cs typeface="Arial" panose="020B0604020202020204" pitchFamily="34" charset="0"/>
              </a:rPr>
              <a:t>aa</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E31592D-03C8-77E9-9305-A5B7EBAC285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45613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15</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2783</TotalTime>
  <Words>1455</Words>
  <Application>Microsoft Office PowerPoint</Application>
  <PresentationFormat>Panorámica</PresentationFormat>
  <Paragraphs>147</Paragraphs>
  <Slides>15</Slides>
  <Notes>12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15</vt:i4>
      </vt:variant>
    </vt:vector>
  </HeadingPairs>
  <TitlesOfParts>
    <vt:vector size="22" baseType="lpstr">
      <vt:lpstr>Aptos</vt:lpstr>
      <vt:lpstr>Arial</vt:lpstr>
      <vt:lpstr>Calibri</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#1.1 – Materials </vt:lpstr>
      <vt:lpstr>Learning outcome #1.2 – Cross - Section </vt:lpstr>
      <vt:lpstr>Learning outcome #1.3 – Simulations</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 EXTRA.1 - Wavelength behavior Now, Simulate the Silicon-On-Insulator technology changing the core material to Silicon (Si). In this case, the dimensions will be 220 nm heigth and 500 nm width.  1. Repeat the LO.2. wavelength behavior simulations, considering the updated materials and dimensions.    </vt:lpstr>
      <vt:lpstr># EXTRA.2 - Width dependence 2. Repeat the LO.3. width dependence analysis, now sweeping in a 300nm - 1um range.    </vt:lpstr>
      <vt:lpstr># EXTRA.3 - Bend waveguide radius  3. Find the safe radius for this technology. Consider sweeping the radius in a 5um to 30um range.  </vt:lpstr>
      <vt:lpstr># EXTRA - Comparative 4. Compare the SiNx and SOI technologies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Miguel Angel Descalzo Cuevas</cp:lastModifiedBy>
  <cp:revision>25</cp:revision>
  <dcterms:created xsi:type="dcterms:W3CDTF">2025-01-27T02:46:57Z</dcterms:created>
  <dcterms:modified xsi:type="dcterms:W3CDTF">2026-03-08T14:10:21Z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